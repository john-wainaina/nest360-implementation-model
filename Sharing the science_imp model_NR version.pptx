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7"/>
  </p:notesMasterIdLst>
  <p:sldIdLst>
    <p:sldId id="2147470258" r:id="rId2"/>
    <p:sldId id="2147470301" r:id="rId3"/>
    <p:sldId id="262" r:id="rId4"/>
    <p:sldId id="268" r:id="rId5"/>
    <p:sldId id="265" r:id="rId6"/>
    <p:sldId id="292" r:id="rId7"/>
    <p:sldId id="2147470298" r:id="rId8"/>
    <p:sldId id="2147470292" r:id="rId9"/>
    <p:sldId id="2147470256" r:id="rId10"/>
    <p:sldId id="2147470277" r:id="rId11"/>
    <p:sldId id="2147470279" r:id="rId12"/>
    <p:sldId id="2147470280" r:id="rId13"/>
    <p:sldId id="2147470281" r:id="rId14"/>
    <p:sldId id="2147470257" r:id="rId15"/>
    <p:sldId id="2147470267" r:id="rId16"/>
    <p:sldId id="2147470283" r:id="rId17"/>
    <p:sldId id="2147470262" r:id="rId18"/>
    <p:sldId id="2147470265" r:id="rId19"/>
    <p:sldId id="2147470264" r:id="rId20"/>
    <p:sldId id="2147470266" r:id="rId21"/>
    <p:sldId id="2147470263" r:id="rId22"/>
    <p:sldId id="2147470276" r:id="rId23"/>
    <p:sldId id="2147470284" r:id="rId24"/>
    <p:sldId id="2147470285" r:id="rId25"/>
    <p:sldId id="2147470286" r:id="rId26"/>
    <p:sldId id="2147470270" r:id="rId27"/>
    <p:sldId id="2147470302" r:id="rId28"/>
    <p:sldId id="2147470303" r:id="rId29"/>
    <p:sldId id="2147470282" r:id="rId30"/>
    <p:sldId id="2147470297" r:id="rId31"/>
    <p:sldId id="2147470287" r:id="rId32"/>
    <p:sldId id="2147470275" r:id="rId33"/>
    <p:sldId id="271" r:id="rId34"/>
    <p:sldId id="274" r:id="rId35"/>
    <p:sldId id="214747030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7CFEAAB-941F-8B45-B4E7-E2871CD8173E}">
          <p14:sldIdLst>
            <p14:sldId id="2147470258"/>
            <p14:sldId id="2147470301"/>
            <p14:sldId id="262"/>
            <p14:sldId id="268"/>
            <p14:sldId id="265"/>
            <p14:sldId id="292"/>
            <p14:sldId id="2147470298"/>
            <p14:sldId id="2147470292"/>
            <p14:sldId id="2147470256"/>
          </p14:sldIdLst>
        </p14:section>
        <p14:section name="Getting into the details" id="{D30B7E0E-15A8-FC40-A687-84E859644EC1}">
          <p14:sldIdLst>
            <p14:sldId id="2147470277"/>
            <p14:sldId id="2147470279"/>
            <p14:sldId id="2147470280"/>
            <p14:sldId id="2147470281"/>
            <p14:sldId id="2147470257"/>
            <p14:sldId id="2147470267"/>
            <p14:sldId id="2147470283"/>
            <p14:sldId id="2147470262"/>
            <p14:sldId id="2147470265"/>
            <p14:sldId id="2147470264"/>
            <p14:sldId id="2147470266"/>
            <p14:sldId id="2147470263"/>
            <p14:sldId id="2147470276"/>
            <p14:sldId id="2147470284"/>
            <p14:sldId id="2147470285"/>
            <p14:sldId id="2147470286"/>
            <p14:sldId id="2147470270"/>
            <p14:sldId id="2147470302"/>
            <p14:sldId id="2147470303"/>
            <p14:sldId id="2147470282"/>
            <p14:sldId id="2147470297"/>
            <p14:sldId id="2147470287"/>
            <p14:sldId id="2147470275"/>
            <p14:sldId id="271"/>
            <p14:sldId id="274"/>
            <p14:sldId id="214747030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51B98C8-5F61-0586-4B29-AF4AA8CA4588}" name="Kylie Kelleher Dougherty" initials="KKD" userId="S::gqv6480@ads.northwestern.edu::efa1c3b6-e585-4ee9-8809-fcdb4a70a5df"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360AC0-35E3-C94A-9362-5681DA08A3E3}" v="7" dt="2025-11-13T09:23:38.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430"/>
    <p:restoredTop sz="77010"/>
  </p:normalViewPr>
  <p:slideViewPr>
    <p:cSldViewPr snapToGrid="0">
      <p:cViewPr varScale="1">
        <p:scale>
          <a:sx n="70" d="100"/>
          <a:sy n="70" d="100"/>
        </p:scale>
        <p:origin x="208"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F00CF7-B1C1-2C4C-A81D-A94C75AE91A1}" type="datetimeFigureOut">
              <a:rPr lang="en-US" smtClean="0"/>
              <a:t>11/13/25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8A45A1-C87A-6D48-AB76-275A61B5466C}" type="slidenum">
              <a:rPr lang="en-US" smtClean="0"/>
              <a:t>‹#›</a:t>
            </a:fld>
            <a:endParaRPr lang="en-US"/>
          </a:p>
        </p:txBody>
      </p:sp>
    </p:spTree>
    <p:extLst>
      <p:ext uri="{BB962C8B-B14F-4D97-AF65-F5344CB8AC3E}">
        <p14:creationId xmlns:p14="http://schemas.microsoft.com/office/powerpoint/2010/main" val="1418929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Funders (Maria, Aba, Nahya, </a:t>
            </a:r>
            <a:r>
              <a:rPr lang="en-US" dirty="0" err="1"/>
              <a:t>Esalee</a:t>
            </a:r>
            <a:r>
              <a:rPr lang="en-US" dirty="0"/>
              <a:t>)</a:t>
            </a:r>
          </a:p>
          <a:p>
            <a:r>
              <a:rPr lang="en-US" dirty="0"/>
              <a:t>Leadership (Cate, George, Mariam) </a:t>
            </a:r>
          </a:p>
          <a:p>
            <a:r>
              <a:rPr lang="en-US" dirty="0"/>
              <a:t>End-users (at the hospital level) (Danica, Natasha, Cathy-MW) </a:t>
            </a:r>
          </a:p>
          <a:p>
            <a:endParaRPr lang="en-US" dirty="0"/>
          </a:p>
          <a:p>
            <a:pPr marL="228600" indent="-228600">
              <a:buAutoNum type="arabicPeriod"/>
            </a:pPr>
            <a:r>
              <a:rPr lang="en-US" dirty="0"/>
              <a:t>Can we create a working group for this with all the audiences q 2 weeks </a:t>
            </a:r>
          </a:p>
          <a:p>
            <a:pPr marL="228600" indent="-228600">
              <a:buAutoNum type="arabicPeriod"/>
            </a:pPr>
            <a:endParaRPr lang="en-US" dirty="0"/>
          </a:p>
          <a:p>
            <a:pPr marL="228600" indent="-228600">
              <a:buAutoNum type="arabicPeriod"/>
            </a:pPr>
            <a:r>
              <a:rPr lang="en-US" dirty="0"/>
              <a:t>Better to quickly write to particular audiences</a:t>
            </a:r>
          </a:p>
          <a:p>
            <a:pPr marL="228600" indent="-228600">
              <a:buAutoNum type="arabicPeriod"/>
            </a:pPr>
            <a:r>
              <a:rPr lang="en-US" dirty="0"/>
              <a:t>Can work fasters/smarter to get all the information </a:t>
            </a:r>
          </a:p>
          <a:p>
            <a:pPr marL="228600" indent="-228600">
              <a:buAutoNum type="arabicPeriod"/>
            </a:pPr>
            <a:r>
              <a:rPr lang="en-US" dirty="0"/>
              <a:t>Do you suggest anyone else? TAT in each level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2101B-EB7B-0448-A9F1-342902AC15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85463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8A45A1-C87A-6D48-AB76-275A61B5466C}" type="slidenum">
              <a:rPr lang="en-US" smtClean="0"/>
              <a:t>3</a:t>
            </a:fld>
            <a:endParaRPr lang="en-US"/>
          </a:p>
        </p:txBody>
      </p:sp>
    </p:spTree>
    <p:extLst>
      <p:ext uri="{BB962C8B-B14F-4D97-AF65-F5344CB8AC3E}">
        <p14:creationId xmlns:p14="http://schemas.microsoft.com/office/powerpoint/2010/main" val="2388536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Intervention</a:t>
            </a:r>
          </a:p>
          <a:p>
            <a:pPr lvl="1"/>
            <a:r>
              <a:rPr lang="en-US" dirty="0"/>
              <a:t>The "thing" we want to get into our communities  (NEST360 model or SSNC Level 2+ care)</a:t>
            </a:r>
          </a:p>
          <a:p>
            <a:pPr lvl="1"/>
            <a:r>
              <a:rPr lang="en-US" dirty="0"/>
              <a:t>For NEST360 this is evidence-based SSNC in level 2+ neonatal units </a:t>
            </a:r>
          </a:p>
          <a:p>
            <a:endParaRPr lang="en-US" dirty="0"/>
          </a:p>
        </p:txBody>
      </p:sp>
      <p:sp>
        <p:nvSpPr>
          <p:cNvPr id="4" name="Slide Number Placeholder 3"/>
          <p:cNvSpPr>
            <a:spLocks noGrp="1"/>
          </p:cNvSpPr>
          <p:nvPr>
            <p:ph type="sldNum" sz="quarter" idx="5"/>
          </p:nvPr>
        </p:nvSpPr>
        <p:spPr/>
        <p:txBody>
          <a:bodyPr/>
          <a:lstStyle/>
          <a:p>
            <a:fld id="{AB8A45A1-C87A-6D48-AB76-275A61B5466C}" type="slidenum">
              <a:rPr lang="en-US" smtClean="0"/>
              <a:t>4</a:t>
            </a:fld>
            <a:endParaRPr lang="en-US"/>
          </a:p>
        </p:txBody>
      </p:sp>
    </p:spTree>
    <p:extLst>
      <p:ext uri="{BB962C8B-B14F-4D97-AF65-F5344CB8AC3E}">
        <p14:creationId xmlns:p14="http://schemas.microsoft.com/office/powerpoint/2010/main" val="2805965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2E3397-024F-FE49-9C6A-0A599E1DC321}" type="slidenum">
              <a:rPr lang="en-US" smtClean="0"/>
              <a:t>5</a:t>
            </a:fld>
            <a:endParaRPr lang="en-US"/>
          </a:p>
        </p:txBody>
      </p:sp>
    </p:spTree>
    <p:extLst>
      <p:ext uri="{BB962C8B-B14F-4D97-AF65-F5344CB8AC3E}">
        <p14:creationId xmlns:p14="http://schemas.microsoft.com/office/powerpoint/2010/main" val="1132312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Pre-existing frameworks (IRLM, SSNC implementation toolkit)</a:t>
            </a:r>
          </a:p>
          <a:p>
            <a:r>
              <a:rPr lang="en-US" dirty="0"/>
              <a:t>NEST360 roadmap from phase 1</a:t>
            </a:r>
          </a:p>
          <a:p>
            <a:r>
              <a:rPr lang="en-US" dirty="0"/>
              <a:t>Program documents (QI documentation) </a:t>
            </a:r>
          </a:p>
          <a:p>
            <a:r>
              <a:rPr lang="en-US" dirty="0"/>
              <a:t>Routinely collected programmatic data (NID, NEST-IT, context tracker) </a:t>
            </a:r>
          </a:p>
          <a:p>
            <a:r>
              <a:rPr lang="en-US" dirty="0"/>
              <a:t>Publications </a:t>
            </a:r>
          </a:p>
          <a:p>
            <a:r>
              <a:rPr lang="en-US" dirty="0"/>
              <a:t>Team input </a:t>
            </a:r>
          </a:p>
          <a:p>
            <a:endParaRPr lang="en-US" dirty="0"/>
          </a:p>
        </p:txBody>
      </p:sp>
      <p:sp>
        <p:nvSpPr>
          <p:cNvPr id="4" name="Slide Number Placeholder 3"/>
          <p:cNvSpPr>
            <a:spLocks noGrp="1"/>
          </p:cNvSpPr>
          <p:nvPr>
            <p:ph type="sldNum" sz="quarter" idx="5"/>
          </p:nvPr>
        </p:nvSpPr>
        <p:spPr/>
        <p:txBody>
          <a:bodyPr/>
          <a:lstStyle/>
          <a:p>
            <a:fld id="{3E2E3397-024F-FE49-9C6A-0A599E1DC321}" type="slidenum">
              <a:rPr lang="en-US" smtClean="0"/>
              <a:t>6</a:t>
            </a:fld>
            <a:endParaRPr lang="en-US"/>
          </a:p>
        </p:txBody>
      </p:sp>
    </p:spTree>
    <p:extLst>
      <p:ext uri="{BB962C8B-B14F-4D97-AF65-F5344CB8AC3E}">
        <p14:creationId xmlns:p14="http://schemas.microsoft.com/office/powerpoint/2010/main" val="1934128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This model has 3 tiers with different levels of details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graphic that can be added to grant proposals or shared with funders and stakeholders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Full detailed version (with links to resources) of the implementation factors NEST encountered, the specific activities that were implemented, the reason why those activities were chosen, and the results that we found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AB8A45A1-C87A-6D48-AB76-275A61B5466C}" type="slidenum">
              <a:rPr lang="en-US" smtClean="0"/>
              <a:t>8</a:t>
            </a:fld>
            <a:endParaRPr lang="en-US"/>
          </a:p>
        </p:txBody>
      </p:sp>
    </p:spTree>
    <p:extLst>
      <p:ext uri="{BB962C8B-B14F-4D97-AF65-F5344CB8AC3E}">
        <p14:creationId xmlns:p14="http://schemas.microsoft.com/office/powerpoint/2010/main" val="3753090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Colors will carry throughout the model to all tiers</a:t>
            </a:r>
          </a:p>
          <a:p>
            <a:endParaRPr lang="en-US" dirty="0"/>
          </a:p>
        </p:txBody>
      </p:sp>
      <p:sp>
        <p:nvSpPr>
          <p:cNvPr id="4" name="Slide Number Placeholder 3"/>
          <p:cNvSpPr>
            <a:spLocks noGrp="1"/>
          </p:cNvSpPr>
          <p:nvPr>
            <p:ph type="sldNum" sz="quarter" idx="5"/>
          </p:nvPr>
        </p:nvSpPr>
        <p:spPr/>
        <p:txBody>
          <a:bodyPr/>
          <a:lstStyle/>
          <a:p>
            <a:fld id="{AB8A45A1-C87A-6D48-AB76-275A61B5466C}" type="slidenum">
              <a:rPr lang="en-US" smtClean="0"/>
              <a:t>9</a:t>
            </a:fld>
            <a:endParaRPr lang="en-US"/>
          </a:p>
        </p:txBody>
      </p:sp>
    </p:spTree>
    <p:extLst>
      <p:ext uri="{BB962C8B-B14F-4D97-AF65-F5344CB8AC3E}">
        <p14:creationId xmlns:p14="http://schemas.microsoft.com/office/powerpoint/2010/main" val="432551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Provides general information that other implementers should consider if they'd like to implement a "NEST-like model" </a:t>
            </a:r>
          </a:p>
          <a:p>
            <a:endParaRPr lang="en-US" dirty="0"/>
          </a:p>
        </p:txBody>
      </p:sp>
      <p:sp>
        <p:nvSpPr>
          <p:cNvPr id="4" name="Slide Number Placeholder 3"/>
          <p:cNvSpPr>
            <a:spLocks noGrp="1"/>
          </p:cNvSpPr>
          <p:nvPr>
            <p:ph type="sldNum" sz="quarter" idx="5"/>
          </p:nvPr>
        </p:nvSpPr>
        <p:spPr/>
        <p:txBody>
          <a:bodyPr/>
          <a:lstStyle/>
          <a:p>
            <a:fld id="{CC82101B-EB7B-0448-A9F1-342902AC150A}" type="slidenum">
              <a:rPr lang="en-US" smtClean="0"/>
              <a:t>10</a:t>
            </a:fld>
            <a:endParaRPr lang="en-US"/>
          </a:p>
        </p:txBody>
      </p:sp>
    </p:spTree>
    <p:extLst>
      <p:ext uri="{BB962C8B-B14F-4D97-AF65-F5344CB8AC3E}">
        <p14:creationId xmlns:p14="http://schemas.microsoft.com/office/powerpoint/2010/main" val="37891279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BC251-B29F-A949-75FF-697F279B69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858740-639A-CF49-A5F8-BF5242939D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92E93-3787-03A1-B3DF-0AE092EE23FF}"/>
              </a:ext>
            </a:extLst>
          </p:cNvPr>
          <p:cNvSpPr>
            <a:spLocks noGrp="1"/>
          </p:cNvSpPr>
          <p:nvPr>
            <p:ph type="body" idx="1"/>
          </p:nvPr>
        </p:nvSpPr>
        <p:spPr/>
        <p:txBody>
          <a:bodyPr/>
          <a:lstStyle/>
          <a:p>
            <a:r>
              <a:rPr lang="en-US" dirty="0"/>
              <a:t>General strategy categories </a:t>
            </a:r>
          </a:p>
          <a:p>
            <a:endParaRPr lang="en-US" dirty="0"/>
          </a:p>
          <a:p>
            <a:r>
              <a:rPr lang="en-US" dirty="0"/>
              <a:t>We provide more details later on </a:t>
            </a:r>
          </a:p>
        </p:txBody>
      </p:sp>
      <p:sp>
        <p:nvSpPr>
          <p:cNvPr id="4" name="Slide Number Placeholder 3">
            <a:extLst>
              <a:ext uri="{FF2B5EF4-FFF2-40B4-BE49-F238E27FC236}">
                <a16:creationId xmlns:a16="http://schemas.microsoft.com/office/drawing/2014/main" id="{A73BDDED-1375-3097-DD9F-FF377B5BD397}"/>
              </a:ext>
            </a:extLst>
          </p:cNvPr>
          <p:cNvSpPr>
            <a:spLocks noGrp="1"/>
          </p:cNvSpPr>
          <p:nvPr>
            <p:ph type="sldNum" sz="quarter" idx="5"/>
          </p:nvPr>
        </p:nvSpPr>
        <p:spPr/>
        <p:txBody>
          <a:bodyPr/>
          <a:lstStyle/>
          <a:p>
            <a:fld id="{AB8A45A1-C87A-6D48-AB76-275A61B5466C}" type="slidenum">
              <a:rPr lang="en-US" smtClean="0"/>
              <a:t>16</a:t>
            </a:fld>
            <a:endParaRPr lang="en-US"/>
          </a:p>
        </p:txBody>
      </p:sp>
    </p:spTree>
    <p:extLst>
      <p:ext uri="{BB962C8B-B14F-4D97-AF65-F5344CB8AC3E}">
        <p14:creationId xmlns:p14="http://schemas.microsoft.com/office/powerpoint/2010/main" val="2579744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Full detailed version (with links to resources) of the implementation factors NEST encountered, the specific activities that were implemented, the reason why those activities were chosen, and the results that we found</a:t>
            </a:r>
          </a:p>
          <a:p>
            <a:pPr lvl="1"/>
            <a:endParaRPr lang="en-US" dirty="0"/>
          </a:p>
          <a:p>
            <a:pPr lvl="1"/>
            <a:r>
              <a:rPr lang="en-US" dirty="0"/>
              <a:t>This tier provides all the details that one could need to gain a comprehensive understanding of how NEST360 implemented our package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2101B-EB7B-0448-A9F1-342902AC15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5016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Leadership &amp; Governance</a:t>
            </a:r>
          </a:p>
          <a:p>
            <a:pPr lvl="1"/>
            <a:r>
              <a:rPr lang="en-US" sz="1000" dirty="0">
                <a:solidFill>
                  <a:srgbClr val="067429"/>
                </a:solidFill>
                <a:effectLst/>
              </a:rPr>
              <a:t>Absence of national plans and policies for SSNC ↓ (1,4)</a:t>
            </a:r>
            <a:endParaRPr lang="en-US" sz="1000" dirty="0"/>
          </a:p>
          <a:p>
            <a:pPr lvl="1"/>
            <a:r>
              <a:rPr lang="en-US" sz="1000" dirty="0">
                <a:solidFill>
                  <a:srgbClr val="067429"/>
                </a:solidFill>
                <a:effectLst/>
              </a:rPr>
              <a:t> Inconsistent facility level guidelines and protocols for SSNC ↓ (1,4,13)</a:t>
            </a:r>
            <a:endParaRPr lang="en-US" sz="1000" dirty="0"/>
          </a:p>
          <a:p>
            <a:pPr lvl="1"/>
            <a:r>
              <a:rPr lang="en-US" sz="1000" dirty="0">
                <a:solidFill>
                  <a:srgbClr val="067429"/>
                </a:solidFill>
                <a:effectLst/>
              </a:rPr>
              <a:t>Engagement with MOH ↑ (1,6) </a:t>
            </a:r>
            <a:endParaRPr lang="en-US" sz="1000" dirty="0"/>
          </a:p>
          <a:p>
            <a:pPr lvl="1"/>
            <a:r>
              <a:rPr lang="en-US" sz="1000" dirty="0">
                <a:solidFill>
                  <a:srgbClr val="067429"/>
                </a:solidFill>
                <a:effectLst/>
              </a:rPr>
              <a:t>Engagement with facility-level leadership ↑ (1,6,13)</a:t>
            </a:r>
            <a:endParaRPr lang="en-US" sz="1000" dirty="0"/>
          </a:p>
          <a:p>
            <a:pPr lvl="1"/>
            <a:r>
              <a:rPr lang="en-US" sz="1000" dirty="0">
                <a:solidFill>
                  <a:srgbClr val="067429"/>
                </a:solidFill>
                <a:effectLst/>
              </a:rPr>
              <a:t>Inadequate facility champions ↓ (2,5,6,7)</a:t>
            </a:r>
            <a:endParaRPr lang="en-US" sz="1000" dirty="0"/>
          </a:p>
          <a:p>
            <a:pPr lvl="1"/>
            <a:r>
              <a:rPr lang="en-US" sz="1000" dirty="0">
                <a:solidFill>
                  <a:srgbClr val="305BAB"/>
                </a:solidFill>
                <a:effectLst/>
              </a:rPr>
              <a:t>Global and national focus on SSNC and NMR ↑ (1) </a:t>
            </a:r>
            <a:endParaRPr lang="en-US" sz="1000" dirty="0"/>
          </a:p>
          <a:p>
            <a:pPr lvl="1"/>
            <a:r>
              <a:rPr lang="en-US" sz="1000" dirty="0">
                <a:solidFill>
                  <a:srgbClr val="305BAB"/>
                </a:solidFill>
                <a:effectLst/>
              </a:rPr>
              <a:t>Poor integration of SSNC into current policy &amp; funding ↓ (1,6)</a:t>
            </a:r>
            <a:endParaRPr lang="en-US" sz="1000"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2101B-EB7B-0448-A9F1-342902AC15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3541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C6195-9B26-BEC9-8062-0BC4A2D5A4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620730-FDAD-8C30-F0AC-45B4D75532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886CCE-5597-1C87-DE46-7A5994381A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Developing and maintaining platforms to visualize SSNC outcomes and facility data </a:t>
            </a:r>
            <a:r>
              <a:rPr lang="en-US" sz="1200" b="1" dirty="0"/>
              <a:t>fosters routine data use, </a:t>
            </a:r>
            <a:r>
              <a:rPr lang="en-US" sz="1200" dirty="0"/>
              <a:t>enhances SSNC and QI </a:t>
            </a:r>
            <a:r>
              <a:rPr lang="en-US" sz="1200" b="1" dirty="0"/>
              <a:t>feasibility, </a:t>
            </a:r>
            <a:r>
              <a:rPr lang="en-US" sz="1200" dirty="0"/>
              <a:t>and support </a:t>
            </a:r>
            <a:r>
              <a:rPr lang="en-US" sz="1200" b="1" dirty="0"/>
              <a:t>SSNC sustainability</a:t>
            </a:r>
            <a:endParaRPr lang="en-US" sz="1200"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Link to outcomes guide: Presents numerators, denominators, frequency, rationale</a:t>
            </a:r>
          </a:p>
          <a:p>
            <a:endParaRPr lang="en-US" dirty="0"/>
          </a:p>
        </p:txBody>
      </p:sp>
      <p:sp>
        <p:nvSpPr>
          <p:cNvPr id="4" name="Slide Number Placeholder 3">
            <a:extLst>
              <a:ext uri="{FF2B5EF4-FFF2-40B4-BE49-F238E27FC236}">
                <a16:creationId xmlns:a16="http://schemas.microsoft.com/office/drawing/2014/main" id="{6D3AAA03-0576-3263-C71E-6E84E6C1B072}"/>
              </a:ext>
            </a:extLst>
          </p:cNvPr>
          <p:cNvSpPr>
            <a:spLocks noGrp="1"/>
          </p:cNvSpPr>
          <p:nvPr>
            <p:ph type="sldNum" sz="quarter" idx="5"/>
          </p:nvPr>
        </p:nvSpPr>
        <p:spPr/>
        <p:txBody>
          <a:bodyPr/>
          <a:lstStyle/>
          <a:p>
            <a:fld id="{3E2E3397-024F-FE49-9C6A-0A599E1DC321}" type="slidenum">
              <a:rPr lang="en-US" smtClean="0"/>
              <a:t>33</a:t>
            </a:fld>
            <a:endParaRPr lang="en-US"/>
          </a:p>
        </p:txBody>
      </p:sp>
    </p:spTree>
    <p:extLst>
      <p:ext uri="{BB962C8B-B14F-4D97-AF65-F5344CB8AC3E}">
        <p14:creationId xmlns:p14="http://schemas.microsoft.com/office/powerpoint/2010/main" val="36531195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1BB09-34C3-574A-8AF7-6B25CDD9C847}"/>
              </a:ext>
            </a:extLst>
          </p:cNvPr>
          <p:cNvSpPr>
            <a:spLocks noGrp="1"/>
          </p:cNvSpPr>
          <p:nvPr>
            <p:ph type="ctrTitle" hasCustomPrompt="1"/>
          </p:nvPr>
        </p:nvSpPr>
        <p:spPr>
          <a:xfrm>
            <a:off x="3103807" y="2498010"/>
            <a:ext cx="8737279" cy="2408128"/>
          </a:xfrm>
          <a:prstGeom prst="rect">
            <a:avLst/>
          </a:prstGeom>
        </p:spPr>
        <p:txBody>
          <a:bodyPr anchor="b"/>
          <a:lstStyle>
            <a:lvl1pPr algn="l">
              <a:defRPr sz="6000" baseline="0">
                <a:solidFill>
                  <a:schemeClr val="accent1"/>
                </a:solidFill>
              </a:defRPr>
            </a:lvl1pPr>
          </a:lstStyle>
          <a:p>
            <a:r>
              <a:rPr lang="en" sz="6000" dirty="0"/>
              <a:t>Title</a:t>
            </a:r>
            <a:endParaRPr lang="en-US" dirty="0"/>
          </a:p>
        </p:txBody>
      </p:sp>
      <p:sp>
        <p:nvSpPr>
          <p:cNvPr id="3" name="Subtitle 2">
            <a:extLst>
              <a:ext uri="{FF2B5EF4-FFF2-40B4-BE49-F238E27FC236}">
                <a16:creationId xmlns:a16="http://schemas.microsoft.com/office/drawing/2014/main" id="{663F8828-07F9-D84F-9C2F-4900C783ABAF}"/>
              </a:ext>
            </a:extLst>
          </p:cNvPr>
          <p:cNvSpPr>
            <a:spLocks noGrp="1"/>
          </p:cNvSpPr>
          <p:nvPr>
            <p:ph type="subTitle" idx="1" hasCustomPrompt="1"/>
          </p:nvPr>
        </p:nvSpPr>
        <p:spPr>
          <a:xfrm>
            <a:off x="3103806" y="4885610"/>
            <a:ext cx="8737279" cy="1669998"/>
          </a:xfrm>
        </p:spPr>
        <p:txBody>
          <a:bodyPr>
            <a:normAutofit/>
          </a:bodyPr>
          <a:lstStyle>
            <a:lvl1pPr marL="0" indent="0" algn="l">
              <a:buNone/>
              <a:defRPr sz="32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z="2400" b="1" dirty="0"/>
              <a:t>Subtitle</a:t>
            </a:r>
            <a:endParaRPr lang="en-US" sz="2400" dirty="0">
              <a:latin typeface="+mn-lt"/>
            </a:endParaRPr>
          </a:p>
        </p:txBody>
      </p:sp>
      <p:pic>
        <p:nvPicPr>
          <p:cNvPr id="7" name="Picture 6">
            <a:extLst>
              <a:ext uri="{FF2B5EF4-FFF2-40B4-BE49-F238E27FC236}">
                <a16:creationId xmlns:a16="http://schemas.microsoft.com/office/drawing/2014/main" id="{E55D5AD3-610C-8248-9BE2-0DE654B2EB58}"/>
              </a:ext>
            </a:extLst>
          </p:cNvPr>
          <p:cNvPicPr>
            <a:picLocks noChangeAspect="1"/>
          </p:cNvPicPr>
          <p:nvPr userDrawn="1"/>
        </p:nvPicPr>
        <p:blipFill>
          <a:blip r:embed="rId2" cstate="screen">
            <a:alphaModFix amt="40000"/>
            <a:extLst>
              <a:ext uri="{28A0092B-C50C-407E-A947-70E740481C1C}">
                <a14:useLocalDpi xmlns:a14="http://schemas.microsoft.com/office/drawing/2010/main"/>
              </a:ext>
            </a:extLst>
          </a:blip>
          <a:stretch>
            <a:fillRect/>
          </a:stretch>
        </p:blipFill>
        <p:spPr>
          <a:xfrm>
            <a:off x="-4727778" y="223235"/>
            <a:ext cx="7989962" cy="8268681"/>
          </a:xfrm>
          <a:prstGeom prst="rect">
            <a:avLst/>
          </a:prstGeom>
        </p:spPr>
      </p:pic>
    </p:spTree>
    <p:extLst>
      <p:ext uri="{BB962C8B-B14F-4D97-AF65-F5344CB8AC3E}">
        <p14:creationId xmlns:p14="http://schemas.microsoft.com/office/powerpoint/2010/main" val="3438911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FF163-EC8A-EA4A-A31F-4424527F14BB}"/>
              </a:ext>
            </a:extLst>
          </p:cNvPr>
          <p:cNvSpPr>
            <a:spLocks noGrp="1"/>
          </p:cNvSpPr>
          <p:nvPr>
            <p:ph type="title"/>
          </p:nvPr>
        </p:nvSpPr>
        <p:spPr>
          <a:xfrm>
            <a:off x="838200" y="365125"/>
            <a:ext cx="10515600" cy="1325563"/>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B7F9BBF-C708-8043-9F90-C2001E9D50F7}"/>
              </a:ext>
            </a:extLst>
          </p:cNvPr>
          <p:cNvSpPr>
            <a:spLocks noGrp="1"/>
          </p:cNvSpPr>
          <p:nvPr>
            <p:ph idx="1"/>
          </p:nvPr>
        </p:nvSpPr>
        <p:spPr/>
        <p:txBody>
          <a:bodyPr/>
          <a:lstStyle>
            <a:lvl1pPr marL="228600" indent="-228600">
              <a:lnSpc>
                <a:spcPct val="100000"/>
              </a:lnSpc>
              <a:spcBef>
                <a:spcPts val="200"/>
              </a:spcBef>
              <a:spcAft>
                <a:spcPts val="200"/>
              </a:spcAft>
              <a:buSzPct val="125000"/>
              <a:buFont typeface="Arial" panose="020B0604020202020204" pitchFamily="34" charset="0"/>
              <a:buChar char="•"/>
              <a:defRPr sz="2600"/>
            </a:lvl1pPr>
            <a:lvl2pPr marL="685800" indent="-228600">
              <a:lnSpc>
                <a:spcPct val="100000"/>
              </a:lnSpc>
              <a:spcBef>
                <a:spcPts val="200"/>
              </a:spcBef>
              <a:spcAft>
                <a:spcPts val="200"/>
              </a:spcAft>
              <a:buSzPct val="100000"/>
              <a:buFont typeface="Courier New" panose="02070309020205020404" pitchFamily="49" charset="0"/>
              <a:buChar char="o"/>
              <a:defRPr/>
            </a:lvl2pPr>
            <a:lvl3pPr marL="1143000" indent="-228600">
              <a:lnSpc>
                <a:spcPct val="100000"/>
              </a:lnSpc>
              <a:spcBef>
                <a:spcPts val="200"/>
              </a:spcBef>
              <a:spcAft>
                <a:spcPts val="200"/>
              </a:spcAft>
              <a:buFont typeface="Wingdings" pitchFamily="2" charset="2"/>
              <a:buChar char="§"/>
              <a:defRPr/>
            </a:lvl3pPr>
            <a:lvl4pPr marL="1600200" indent="-228600">
              <a:lnSpc>
                <a:spcPct val="100000"/>
              </a:lnSpc>
              <a:spcBef>
                <a:spcPts val="200"/>
              </a:spcBef>
              <a:spcAft>
                <a:spcPts val="200"/>
              </a:spcAft>
              <a:buSzPct val="115000"/>
              <a:buFont typeface="Arial" panose="020B0604020202020204" pitchFamily="34" charset="0"/>
              <a:buChar char="•"/>
              <a:defRPr/>
            </a:lvl4pPr>
            <a:lvl5pPr marL="2057400" indent="-228600">
              <a:lnSpc>
                <a:spcPct val="100000"/>
              </a:lnSpc>
              <a:spcBef>
                <a:spcPts val="200"/>
              </a:spcBef>
              <a:spcAft>
                <a:spcPts val="200"/>
              </a:spcAft>
              <a:buFont typeface="Courier New" panose="02070309020205020404" pitchFamily="49" charset="0"/>
              <a:buChar char="o"/>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72856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FF163-EC8A-EA4A-A31F-4424527F14B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4" name="Content Placeholder 2">
            <a:extLst>
              <a:ext uri="{FF2B5EF4-FFF2-40B4-BE49-F238E27FC236}">
                <a16:creationId xmlns:a16="http://schemas.microsoft.com/office/drawing/2014/main" id="{21185099-765F-6742-B506-054DBFE79CC6}"/>
              </a:ext>
            </a:extLst>
          </p:cNvPr>
          <p:cNvSpPr>
            <a:spLocks noGrp="1"/>
          </p:cNvSpPr>
          <p:nvPr>
            <p:ph idx="1"/>
          </p:nvPr>
        </p:nvSpPr>
        <p:spPr>
          <a:xfrm>
            <a:off x="838200" y="1825625"/>
            <a:ext cx="10515600" cy="4351338"/>
          </a:xfrm>
        </p:spPr>
        <p:txBody>
          <a:bodyPr/>
          <a:lstStyle>
            <a:lvl1pPr marL="228600" indent="-228600">
              <a:lnSpc>
                <a:spcPct val="100000"/>
              </a:lnSpc>
              <a:spcBef>
                <a:spcPts val="200"/>
              </a:spcBef>
              <a:spcAft>
                <a:spcPts val="200"/>
              </a:spcAft>
              <a:buSzPct val="125000"/>
              <a:buFont typeface="Arial" panose="020B0604020202020204" pitchFamily="34" charset="0"/>
              <a:buChar char="•"/>
              <a:defRPr sz="2600"/>
            </a:lvl1pPr>
            <a:lvl2pPr marL="685800" indent="-228600">
              <a:lnSpc>
                <a:spcPct val="100000"/>
              </a:lnSpc>
              <a:spcBef>
                <a:spcPts val="200"/>
              </a:spcBef>
              <a:spcAft>
                <a:spcPts val="200"/>
              </a:spcAft>
              <a:buSzPct val="100000"/>
              <a:buFont typeface="Courier New" panose="02070309020205020404" pitchFamily="49" charset="0"/>
              <a:buChar char="o"/>
              <a:defRPr/>
            </a:lvl2pPr>
            <a:lvl3pPr marL="1143000" indent="-228600">
              <a:lnSpc>
                <a:spcPct val="100000"/>
              </a:lnSpc>
              <a:spcBef>
                <a:spcPts val="200"/>
              </a:spcBef>
              <a:spcAft>
                <a:spcPts val="200"/>
              </a:spcAft>
              <a:buFont typeface="Wingdings" pitchFamily="2" charset="2"/>
              <a:buChar char="§"/>
              <a:defRPr/>
            </a:lvl3pPr>
            <a:lvl4pPr marL="1600200" indent="-228600">
              <a:lnSpc>
                <a:spcPct val="100000"/>
              </a:lnSpc>
              <a:spcBef>
                <a:spcPts val="200"/>
              </a:spcBef>
              <a:spcAft>
                <a:spcPts val="200"/>
              </a:spcAft>
              <a:buSzPct val="115000"/>
              <a:buFont typeface="Arial" panose="020B0604020202020204" pitchFamily="34" charset="0"/>
              <a:buChar char="•"/>
              <a:defRPr/>
            </a:lvl4pPr>
            <a:lvl5pPr marL="2057400" indent="-228600">
              <a:lnSpc>
                <a:spcPct val="100000"/>
              </a:lnSpc>
              <a:spcBef>
                <a:spcPts val="200"/>
              </a:spcBef>
              <a:spcAft>
                <a:spcPts val="200"/>
              </a:spcAft>
              <a:buFont typeface="Courier New" panose="02070309020205020404" pitchFamily="49" charset="0"/>
              <a:buChar char="o"/>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90232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008B1-1B0B-5646-8E61-E0A2DE7B7AFF}"/>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389425-E6A6-124F-BD20-12FFD0D2152C}"/>
              </a:ext>
            </a:extLst>
          </p:cNvPr>
          <p:cNvSpPr>
            <a:spLocks noGrp="1"/>
          </p:cNvSpPr>
          <p:nvPr>
            <p:ph type="body" idx="1"/>
          </p:nvPr>
        </p:nvSpPr>
        <p:spPr>
          <a:xfrm>
            <a:off x="831850" y="4589463"/>
            <a:ext cx="10515600" cy="1500187"/>
          </a:xfrm>
        </p:spPr>
        <p:txBody>
          <a:bodyPr/>
          <a:lstStyle>
            <a:lvl1pPr marL="0" indent="0">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654062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AFD5EB-3117-014C-A7A8-C96AA248C4B8}"/>
              </a:ext>
            </a:extLst>
          </p:cNvPr>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987939" y="-639708"/>
            <a:ext cx="8216122" cy="8502730"/>
          </a:xfrm>
          <a:prstGeom prst="rect">
            <a:avLst/>
          </a:prstGeom>
        </p:spPr>
      </p:pic>
      <p:sp>
        <p:nvSpPr>
          <p:cNvPr id="8" name="Google Shape;23;p4">
            <a:extLst>
              <a:ext uri="{FF2B5EF4-FFF2-40B4-BE49-F238E27FC236}">
                <a16:creationId xmlns:a16="http://schemas.microsoft.com/office/drawing/2014/main" id="{257BE721-CCED-344E-BB2C-B6A00598C667}"/>
              </a:ext>
            </a:extLst>
          </p:cNvPr>
          <p:cNvSpPr/>
          <p:nvPr userDrawn="1"/>
        </p:nvSpPr>
        <p:spPr>
          <a:xfrm>
            <a:off x="5886140" y="1780512"/>
            <a:ext cx="418075" cy="342950"/>
          </a:xfrm>
          <a:prstGeom prst="rect">
            <a:avLst/>
          </a:prstGeom>
          <a:ln>
            <a:noFill/>
          </a:ln>
        </p:spPr>
        <p:txBody>
          <a:bodyPr>
            <a:prstTxWarp prst="textPlain">
              <a:avLst/>
            </a:prstTxWarp>
          </a:bodyPr>
          <a:lstStyle/>
          <a:p>
            <a:pPr lvl="0" algn="ctr"/>
            <a:r>
              <a:rPr b="1" i="0" dirty="0">
                <a:ln w="9525" cap="flat" cmpd="sng">
                  <a:solidFill>
                    <a:schemeClr val="tx1">
                      <a:lumMod val="85000"/>
                    </a:schemeClr>
                  </a:solidFill>
                  <a:prstDash val="solid"/>
                  <a:round/>
                  <a:headEnd type="none" w="sm" len="sm"/>
                  <a:tailEnd type="none" w="sm" len="sm"/>
                </a:ln>
                <a:noFill/>
                <a:latin typeface="Encode Sans Semi Condensed"/>
              </a:rPr>
              <a:t>“</a:t>
            </a:r>
          </a:p>
        </p:txBody>
      </p:sp>
      <p:sp>
        <p:nvSpPr>
          <p:cNvPr id="2" name="Title 1">
            <a:extLst>
              <a:ext uri="{FF2B5EF4-FFF2-40B4-BE49-F238E27FC236}">
                <a16:creationId xmlns:a16="http://schemas.microsoft.com/office/drawing/2014/main" id="{7F1CFB91-66EE-F249-AC0B-9C1EF4E31928}"/>
              </a:ext>
            </a:extLst>
          </p:cNvPr>
          <p:cNvSpPr>
            <a:spLocks noGrp="1"/>
          </p:cNvSpPr>
          <p:nvPr>
            <p:ph type="title" hasCustomPrompt="1"/>
          </p:nvPr>
        </p:nvSpPr>
        <p:spPr>
          <a:xfrm>
            <a:off x="1746324" y="2268638"/>
            <a:ext cx="8699353" cy="1990809"/>
          </a:xfrm>
          <a:prstGeom prst="rect">
            <a:avLst/>
          </a:prstGeom>
        </p:spPr>
        <p:txBody>
          <a:bodyPr>
            <a:normAutofit/>
          </a:bodyPr>
          <a:lstStyle>
            <a:lvl1pPr algn="ctr">
              <a:lnSpc>
                <a:spcPct val="100000"/>
              </a:lnSpc>
              <a:defRPr sz="3200" b="0" i="1" baseline="0">
                <a:solidFill>
                  <a:schemeClr val="bg1"/>
                </a:solidFill>
                <a:latin typeface="+mn-lt"/>
              </a:defRPr>
            </a:lvl1pPr>
          </a:lstStyle>
          <a:p>
            <a:r>
              <a:rPr lang="en-US" dirty="0"/>
              <a:t>Quotation</a:t>
            </a:r>
          </a:p>
        </p:txBody>
      </p:sp>
    </p:spTree>
    <p:extLst>
      <p:ext uri="{BB962C8B-B14F-4D97-AF65-F5344CB8AC3E}">
        <p14:creationId xmlns:p14="http://schemas.microsoft.com/office/powerpoint/2010/main" val="924193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CE843-D865-1B4F-A03F-22F3B5A6AA6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1BD6FDB-9C89-F64D-9E60-E437DE05B698}"/>
              </a:ext>
            </a:extLst>
          </p:cNvPr>
          <p:cNvSpPr>
            <a:spLocks noGrp="1"/>
          </p:cNvSpPr>
          <p:nvPr>
            <p:ph sz="half" idx="1"/>
          </p:nvPr>
        </p:nvSpPr>
        <p:spPr>
          <a:xfrm>
            <a:off x="838200" y="1825625"/>
            <a:ext cx="5181600" cy="4351338"/>
          </a:xfrm>
        </p:spPr>
        <p:txBody>
          <a:bodyPr/>
          <a:lstStyle>
            <a:lvl1pPr marL="228600" indent="-228600">
              <a:buSzPct val="125000"/>
              <a:buFont typeface="Wingdings" pitchFamily="2" charset="2"/>
              <a:buChar char="§"/>
              <a:defRPr>
                <a:solidFill>
                  <a:srgbClr val="333333"/>
                </a:solidFill>
              </a:defRPr>
            </a:lvl1pPr>
            <a:lvl2pPr marL="685800" indent="-228600">
              <a:buSzPct val="125000"/>
              <a:buFont typeface="Arial" panose="020B0604020202020204" pitchFamily="34" charset="0"/>
              <a:buChar char="•"/>
              <a:defRPr>
                <a:solidFill>
                  <a:srgbClr val="333333"/>
                </a:solidFill>
              </a:defRPr>
            </a:lvl2pPr>
            <a:lvl3pPr marL="1143000" indent="-228600">
              <a:buFont typeface="Courier New" panose="02070309020205020404" pitchFamily="49" charset="0"/>
              <a:buChar char="o"/>
              <a:defRPr>
                <a:solidFill>
                  <a:srgbClr val="333333"/>
                </a:solidFill>
              </a:defRPr>
            </a:lvl3pPr>
            <a:lvl4pPr marL="1600200" indent="-228600">
              <a:buFont typeface="Wingdings" pitchFamily="2" charset="2"/>
              <a:buChar char="§"/>
              <a:defRPr>
                <a:solidFill>
                  <a:srgbClr val="333333"/>
                </a:solidFill>
              </a:defRPr>
            </a:lvl4pPr>
            <a:lvl5pPr>
              <a:defRPr>
                <a:solidFill>
                  <a:srgbClr val="33333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9388EE1-2BAA-A447-8678-B0EFC6170D4A}"/>
              </a:ext>
            </a:extLst>
          </p:cNvPr>
          <p:cNvSpPr>
            <a:spLocks noGrp="1"/>
          </p:cNvSpPr>
          <p:nvPr>
            <p:ph sz="half" idx="2"/>
          </p:nvPr>
        </p:nvSpPr>
        <p:spPr>
          <a:xfrm>
            <a:off x="6172200" y="1825625"/>
            <a:ext cx="5181600" cy="4351338"/>
          </a:xfrm>
        </p:spPr>
        <p:txBody>
          <a:bodyPr/>
          <a:lstStyle>
            <a:lvl1pPr marL="228600" indent="-228600">
              <a:buSzPct val="125000"/>
              <a:buFont typeface="Wingdings" pitchFamily="2" charset="2"/>
              <a:buChar char="§"/>
              <a:defRPr lang="en-US" sz="2800" kern="1200" dirty="0" smtClean="0">
                <a:solidFill>
                  <a:schemeClr val="bg1"/>
                </a:solidFill>
                <a:latin typeface="+mn-lt"/>
                <a:ea typeface="+mn-ea"/>
                <a:cs typeface="+mn-cs"/>
              </a:defRPr>
            </a:lvl1pPr>
            <a:lvl2pPr>
              <a:buSzPct val="125000"/>
              <a:defRPr lang="en-US" sz="2400" kern="1200" dirty="0" smtClean="0">
                <a:solidFill>
                  <a:schemeClr val="bg1"/>
                </a:solidFill>
                <a:latin typeface="+mn-lt"/>
                <a:ea typeface="+mn-ea"/>
                <a:cs typeface="+mn-cs"/>
              </a:defRPr>
            </a:lvl2pPr>
            <a:lvl3pPr marL="1143000" indent="-228600">
              <a:buFont typeface="Courier New" panose="02070309020205020404" pitchFamily="49" charset="0"/>
              <a:buChar char="o"/>
              <a:defRPr lang="en-US" sz="2000" kern="1200" dirty="0" smtClean="0">
                <a:solidFill>
                  <a:schemeClr val="bg1"/>
                </a:solidFill>
                <a:latin typeface="+mn-lt"/>
                <a:ea typeface="+mn-ea"/>
                <a:cs typeface="+mn-cs"/>
              </a:defRPr>
            </a:lvl3pPr>
            <a:lvl4pPr marL="1600200" indent="-228600">
              <a:buFont typeface="Wingdings" pitchFamily="2" charset="2"/>
              <a:buChar cha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30844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A224D-7BF6-2B48-BB9A-F91B621FC2B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56890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7683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28A2C-D91E-3144-887F-BD9B5FF8F12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6A1F2E-DE22-434F-9FAA-44516FDA37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59E0F55-9274-6042-ACA3-E5476FA14A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573789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9776C-9116-F84E-BF92-8EAEBAF54B9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108F0-4CCB-8E44-94FF-792C4730F9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4A4761-8CCE-8E48-ADBC-4EF4553284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01899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7F50E-78D0-1F47-8AE9-07D7A4A2B68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CF2870-F0A6-4E49-8A46-94F5BD3157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D76523-4BF9-C649-A718-103714AC5FC1}"/>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04CA6933-065C-484A-81ED-18DA6777E3BD}"/>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4762253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2D1007-C72D-2C43-9098-76720DE52D99}"/>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B22EE89-4DBE-134E-81CF-683049FFC3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14F62D-AA46-B648-BFAE-A566AFCA22A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154B6F0-593E-2C43-988F-A7D9ACE7FD59}"/>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295035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CC9E031-8767-DB47-8684-887218F11872}"/>
              </a:ext>
            </a:extLst>
          </p:cNvPr>
          <p:cNvSpPr txBox="1">
            <a:spLocks/>
          </p:cNvSpPr>
          <p:nvPr userDrawn="1"/>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baseline="0">
                <a:solidFill>
                  <a:srgbClr val="6CCAD0"/>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mj-lt"/>
                <a:ea typeface="+mj-ea"/>
                <a:cs typeface="+mj-cs"/>
              </a:rPr>
              <a:t>Click to edit Master title style</a:t>
            </a:r>
          </a:p>
        </p:txBody>
      </p:sp>
      <p:sp>
        <p:nvSpPr>
          <p:cNvPr id="10" name="Content Placeholder 2">
            <a:extLst>
              <a:ext uri="{FF2B5EF4-FFF2-40B4-BE49-F238E27FC236}">
                <a16:creationId xmlns:a16="http://schemas.microsoft.com/office/drawing/2014/main" id="{CC9A2C49-BF8F-F44A-BB86-BA9F175AE7D9}"/>
              </a:ext>
            </a:extLst>
          </p:cNvPr>
          <p:cNvSpPr txBox="1">
            <a:spLocks/>
          </p:cNvSpPr>
          <p:nvPr userDrawn="1"/>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SzPct val="125000"/>
              <a:buFont typeface="Wingdings"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SzPct val="125000"/>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Pct val="125000"/>
              <a:buFont typeface="Wingdings" pitchFamily="2" charset="2"/>
              <a:buChar char="§"/>
              <a:tabLst/>
              <a:defRPr/>
            </a:pPr>
            <a:r>
              <a:rPr kumimoji="0" lang="en-US" sz="2800" b="0" i="0" u="none" strike="noStrike" kern="1200" cap="none" spc="0" normalizeH="0" baseline="0" noProof="0">
                <a:ln>
                  <a:noFill/>
                </a:ln>
                <a:solidFill>
                  <a:srgbClr val="FFFFFF"/>
                </a:solidFill>
                <a:effectLst/>
                <a:uLnTx/>
                <a:uFillTx/>
                <a:latin typeface="Arial" panose="020B060402020202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Pct val="125000"/>
              <a:buFont typeface="Arial" panose="020B0604020202020204" pitchFamily="34" charset="0"/>
              <a:buChar char="•"/>
              <a:tabLst/>
              <a:defRPr/>
            </a:pPr>
            <a:r>
              <a:rPr kumimoji="0" lang="en-US" sz="2400" b="0" i="0" u="none" strike="noStrike" kern="1200" cap="none" spc="0" normalizeH="0" baseline="0" noProof="0">
                <a:ln>
                  <a:noFill/>
                </a:ln>
                <a:solidFill>
                  <a:srgbClr val="FFFFFF"/>
                </a:solidFill>
                <a:effectLst/>
                <a:uLnTx/>
                <a:uFillTx/>
                <a:latin typeface="Arial" panose="020B060402020202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Courier New" panose="02070309020205020404" pitchFamily="49" charset="0"/>
              <a:buChar char="o"/>
              <a:tabLst/>
              <a:defRPr/>
            </a:pPr>
            <a:r>
              <a:rPr kumimoji="0" lang="en-US" sz="2000" b="0" i="0" u="none" strike="noStrike" kern="1200" cap="none" spc="0" normalizeH="0" baseline="0" noProof="0">
                <a:ln>
                  <a:noFill/>
                </a:ln>
                <a:solidFill>
                  <a:srgbClr val="FFFFFF"/>
                </a:solidFill>
                <a:effectLst/>
                <a:uLnTx/>
                <a:uFillTx/>
                <a:latin typeface="Arial" panose="020B060402020202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Wingdings" pitchFamily="2" charset="2"/>
              <a:buChar char="§"/>
              <a:tabLst/>
              <a:defRPr/>
            </a:pPr>
            <a:r>
              <a:rPr kumimoji="0" lang="en-US" sz="1800" b="0" i="0" u="none" strike="noStrike" kern="1200" cap="none" spc="0" normalizeH="0" baseline="0" noProof="0">
                <a:ln>
                  <a:noFill/>
                </a:ln>
                <a:solidFill>
                  <a:srgbClr val="FFFFFF"/>
                </a:solidFill>
                <a:effectLst/>
                <a:uLnTx/>
                <a:uFillTx/>
                <a:latin typeface="Arial" panose="020B060402020202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Arial" panose="020B0604020202020204"/>
                <a:ea typeface="+mn-ea"/>
                <a:cs typeface="+mn-cs"/>
              </a:rPr>
              <a:t>Fifth level</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5545572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AFD5EB-3117-014C-A7A8-C96AA248C4B8}"/>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a:off x="1987939" y="-639708"/>
            <a:ext cx="8216122" cy="8502730"/>
          </a:xfrm>
          <a:prstGeom prst="rect">
            <a:avLst/>
          </a:prstGeom>
        </p:spPr>
      </p:pic>
      <p:sp>
        <p:nvSpPr>
          <p:cNvPr id="8" name="Google Shape;23;p4">
            <a:extLst>
              <a:ext uri="{FF2B5EF4-FFF2-40B4-BE49-F238E27FC236}">
                <a16:creationId xmlns:a16="http://schemas.microsoft.com/office/drawing/2014/main" id="{257BE721-CCED-344E-BB2C-B6A00598C667}"/>
              </a:ext>
            </a:extLst>
          </p:cNvPr>
          <p:cNvSpPr/>
          <p:nvPr userDrawn="1"/>
        </p:nvSpPr>
        <p:spPr>
          <a:xfrm>
            <a:off x="5886140" y="1780512"/>
            <a:ext cx="418075" cy="342950"/>
          </a:xfrm>
          <a:prstGeom prst="rect">
            <a:avLst/>
          </a:prstGeom>
          <a:ln>
            <a:noFill/>
          </a:ln>
        </p:spPr>
        <p:txBody>
          <a:bodyPr>
            <a:prstTxWarp prst="textPlain">
              <a:avLst/>
            </a:prstTxWarp>
          </a:bodyPr>
          <a:lstStyle/>
          <a:p>
            <a:pPr lvl="0" algn="ctr"/>
            <a:r>
              <a:rPr b="1" i="0" dirty="0">
                <a:ln w="9525" cap="flat" cmpd="sng">
                  <a:solidFill>
                    <a:schemeClr val="tx1">
                      <a:lumMod val="85000"/>
                    </a:schemeClr>
                  </a:solidFill>
                  <a:prstDash val="solid"/>
                  <a:round/>
                  <a:headEnd type="none" w="sm" len="sm"/>
                  <a:tailEnd type="none" w="sm" len="sm"/>
                </a:ln>
                <a:noFill/>
                <a:latin typeface="Encode Sans Semi Condensed"/>
              </a:rPr>
              <a:t>“</a:t>
            </a:r>
          </a:p>
        </p:txBody>
      </p:sp>
      <p:sp>
        <p:nvSpPr>
          <p:cNvPr id="2" name="Title 1">
            <a:extLst>
              <a:ext uri="{FF2B5EF4-FFF2-40B4-BE49-F238E27FC236}">
                <a16:creationId xmlns:a16="http://schemas.microsoft.com/office/drawing/2014/main" id="{7F1CFB91-66EE-F249-AC0B-9C1EF4E31928}"/>
              </a:ext>
            </a:extLst>
          </p:cNvPr>
          <p:cNvSpPr>
            <a:spLocks noGrp="1"/>
          </p:cNvSpPr>
          <p:nvPr>
            <p:ph type="title" hasCustomPrompt="1"/>
          </p:nvPr>
        </p:nvSpPr>
        <p:spPr>
          <a:xfrm>
            <a:off x="1862323" y="2933884"/>
            <a:ext cx="8467355" cy="1325563"/>
          </a:xfrm>
        </p:spPr>
        <p:txBody>
          <a:bodyPr/>
          <a:lstStyle>
            <a:lvl1pPr algn="ctr">
              <a:lnSpc>
                <a:spcPct val="100000"/>
              </a:lnSpc>
              <a:defRPr i="1" baseline="0">
                <a:solidFill>
                  <a:schemeClr val="bg1"/>
                </a:solidFill>
              </a:defRPr>
            </a:lvl1pPr>
          </a:lstStyle>
          <a:p>
            <a:r>
              <a:rPr lang="en-US" dirty="0"/>
              <a:t>Quotation</a:t>
            </a:r>
          </a:p>
        </p:txBody>
      </p:sp>
    </p:spTree>
    <p:extLst>
      <p:ext uri="{BB962C8B-B14F-4D97-AF65-F5344CB8AC3E}">
        <p14:creationId xmlns:p14="http://schemas.microsoft.com/office/powerpoint/2010/main" val="35270046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41763-D62E-5263-4DB0-BBF547DFEC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5AA1AE-5D25-318B-4B87-6260AAC8D9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AF39D2-7B9A-54AB-6987-6033416B22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B0C299-47F2-73C0-9608-ADE52E4419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9DB459-AA3E-A25C-224E-E50834EC23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9893B0-8FAF-3791-E013-0C33078E182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F098B31-193D-4D7F-9D05-A5C197A0FA6F}" type="datetimeFigureOut">
              <a:rPr kumimoji="0" lang="en-US" sz="1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11/13/25</a:t>
            </a:fld>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Footer Placeholder 7">
            <a:extLst>
              <a:ext uri="{FF2B5EF4-FFF2-40B4-BE49-F238E27FC236}">
                <a16:creationId xmlns:a16="http://schemas.microsoft.com/office/drawing/2014/main" id="{D67AA448-2999-473C-4DC9-4C9C96D618C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Slide Number Placeholder 8">
            <a:extLst>
              <a:ext uri="{FF2B5EF4-FFF2-40B4-BE49-F238E27FC236}">
                <a16:creationId xmlns:a16="http://schemas.microsoft.com/office/drawing/2014/main" id="{B54FBE1A-4E08-EE18-EC06-4400027455A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7BEDAC-7C5C-4083-9629-14E5A3E2B7E2}" type="slidenum">
              <a:rPr kumimoji="0" lang="en-US" sz="1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00149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B4444D6-131E-4348-AF74-150AC5D9E9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6">
            <a:extLst>
              <a:ext uri="{FF2B5EF4-FFF2-40B4-BE49-F238E27FC236}">
                <a16:creationId xmlns:a16="http://schemas.microsoft.com/office/drawing/2014/main" id="{8BFF20D8-2555-BA40-99D4-3B89F613B9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0692889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hdr="0" ftr="0" dt="0"/>
  <p:txStyles>
    <p:titleStyle>
      <a:lvl1pPr algn="l" defTabSz="914400" rtl="0" eaLnBrk="1" latinLnBrk="0" hangingPunct="1">
        <a:lnSpc>
          <a:spcPct val="90000"/>
        </a:lnSpc>
        <a:spcBef>
          <a:spcPct val="0"/>
        </a:spcBef>
        <a:buNone/>
        <a:defRPr sz="3600" kern="1200" baseline="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33333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333333"/>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333333"/>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83F75A-C7EA-FCFC-E58D-53520B24B89F}"/>
              </a:ext>
            </a:extLst>
          </p:cNvPr>
          <p:cNvSpPr>
            <a:spLocks noGrp="1"/>
          </p:cNvSpPr>
          <p:nvPr>
            <p:ph type="ctrTitle"/>
          </p:nvPr>
        </p:nvSpPr>
        <p:spPr/>
        <p:txBody>
          <a:bodyPr/>
          <a:lstStyle/>
          <a:p>
            <a:r>
              <a:rPr lang="en-US" dirty="0"/>
              <a:t>NEST360 Implementation Model </a:t>
            </a:r>
          </a:p>
        </p:txBody>
      </p:sp>
      <p:sp>
        <p:nvSpPr>
          <p:cNvPr id="5" name="Subtitle 4">
            <a:extLst>
              <a:ext uri="{FF2B5EF4-FFF2-40B4-BE49-F238E27FC236}">
                <a16:creationId xmlns:a16="http://schemas.microsoft.com/office/drawing/2014/main" id="{5FDC2F18-7118-E29C-D54B-92EEA2F516AF}"/>
              </a:ext>
            </a:extLst>
          </p:cNvPr>
          <p:cNvSpPr>
            <a:spLocks noGrp="1"/>
          </p:cNvSpPr>
          <p:nvPr>
            <p:ph type="subTitle" idx="1"/>
          </p:nvPr>
        </p:nvSpPr>
        <p:spPr/>
        <p:txBody>
          <a:bodyPr/>
          <a:lstStyle/>
          <a:p>
            <a:r>
              <a:rPr lang="en-US" dirty="0"/>
              <a:t>Kylie Dougherty </a:t>
            </a:r>
          </a:p>
          <a:p>
            <a:r>
              <a:rPr lang="en-US" dirty="0"/>
              <a:t>Nairobi, 2025</a:t>
            </a:r>
          </a:p>
        </p:txBody>
      </p:sp>
    </p:spTree>
    <p:extLst>
      <p:ext uri="{BB962C8B-B14F-4D97-AF65-F5344CB8AC3E}">
        <p14:creationId xmlns:p14="http://schemas.microsoft.com/office/powerpoint/2010/main" val="1888415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B7F41-2C38-2BD7-CE10-F6A510920168}"/>
              </a:ext>
            </a:extLst>
          </p:cNvPr>
          <p:cNvSpPr>
            <a:spLocks noGrp="1"/>
          </p:cNvSpPr>
          <p:nvPr>
            <p:ph type="title"/>
          </p:nvPr>
        </p:nvSpPr>
        <p:spPr/>
        <p:txBody>
          <a:bodyPr/>
          <a:lstStyle/>
          <a:p>
            <a:r>
              <a:rPr lang="en-US" dirty="0"/>
              <a:t>Why are we doing this?</a:t>
            </a:r>
          </a:p>
        </p:txBody>
      </p:sp>
      <p:pic>
        <p:nvPicPr>
          <p:cNvPr id="7" name="Picture 6">
            <a:extLst>
              <a:ext uri="{FF2B5EF4-FFF2-40B4-BE49-F238E27FC236}">
                <a16:creationId xmlns:a16="http://schemas.microsoft.com/office/drawing/2014/main" id="{054BE865-9B44-75A4-9456-942FE7FB40C4}"/>
              </a:ext>
            </a:extLst>
          </p:cNvPr>
          <p:cNvPicPr>
            <a:picLocks noChangeAspect="1"/>
          </p:cNvPicPr>
          <p:nvPr/>
        </p:nvPicPr>
        <p:blipFill>
          <a:blip r:embed="rId2"/>
          <a:stretch>
            <a:fillRect/>
          </a:stretch>
        </p:blipFill>
        <p:spPr>
          <a:xfrm flipH="1">
            <a:off x="5630266" y="1436831"/>
            <a:ext cx="5867834" cy="5247748"/>
          </a:xfrm>
          <a:prstGeom prst="rect">
            <a:avLst/>
          </a:prstGeom>
        </p:spPr>
      </p:pic>
      <p:pic>
        <p:nvPicPr>
          <p:cNvPr id="5124" name="Picture 4" descr="SUSTAINABLE DEVELOPMENT GOAL 3: Ensure healthy lives and promote well-being  for all at all ages. | SociSDG">
            <a:extLst>
              <a:ext uri="{FF2B5EF4-FFF2-40B4-BE49-F238E27FC236}">
                <a16:creationId xmlns:a16="http://schemas.microsoft.com/office/drawing/2014/main" id="{EFF2603D-85F5-D49E-AFB3-8E2B7B74C7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7618" y="3168869"/>
            <a:ext cx="3036942" cy="2455652"/>
          </a:xfrm>
          <a:prstGeom prst="ellipse">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14DD101-4628-6EFF-46AC-A65CCBEA7650}"/>
              </a:ext>
            </a:extLst>
          </p:cNvPr>
          <p:cNvPicPr>
            <a:picLocks noChangeAspect="1"/>
          </p:cNvPicPr>
          <p:nvPr/>
        </p:nvPicPr>
        <p:blipFill>
          <a:blip r:embed="rId4"/>
          <a:stretch>
            <a:fillRect/>
          </a:stretch>
        </p:blipFill>
        <p:spPr>
          <a:xfrm>
            <a:off x="271895" y="4267733"/>
            <a:ext cx="5076497" cy="2416846"/>
          </a:xfrm>
          <a:prstGeom prst="rect">
            <a:avLst/>
          </a:prstGeom>
        </p:spPr>
      </p:pic>
      <p:pic>
        <p:nvPicPr>
          <p:cNvPr id="11" name="Picture 10">
            <a:extLst>
              <a:ext uri="{FF2B5EF4-FFF2-40B4-BE49-F238E27FC236}">
                <a16:creationId xmlns:a16="http://schemas.microsoft.com/office/drawing/2014/main" id="{C9B9D745-2605-3850-30A4-8A6FDD076ED2}"/>
              </a:ext>
            </a:extLst>
          </p:cNvPr>
          <p:cNvPicPr>
            <a:picLocks noChangeAspect="1"/>
          </p:cNvPicPr>
          <p:nvPr/>
        </p:nvPicPr>
        <p:blipFill>
          <a:blip r:embed="rId5"/>
          <a:stretch>
            <a:fillRect/>
          </a:stretch>
        </p:blipFill>
        <p:spPr>
          <a:xfrm>
            <a:off x="271895" y="1423948"/>
            <a:ext cx="5076497" cy="2763685"/>
          </a:xfrm>
          <a:prstGeom prst="rect">
            <a:avLst/>
          </a:prstGeom>
        </p:spPr>
      </p:pic>
      <p:pic>
        <p:nvPicPr>
          <p:cNvPr id="13" name="Picture 12">
            <a:extLst>
              <a:ext uri="{FF2B5EF4-FFF2-40B4-BE49-F238E27FC236}">
                <a16:creationId xmlns:a16="http://schemas.microsoft.com/office/drawing/2014/main" id="{771AD462-929E-6F21-16CB-F7461450A822}"/>
              </a:ext>
            </a:extLst>
          </p:cNvPr>
          <p:cNvPicPr>
            <a:picLocks noChangeAspect="1"/>
          </p:cNvPicPr>
          <p:nvPr/>
        </p:nvPicPr>
        <p:blipFill>
          <a:blip r:embed="rId6"/>
          <a:stretch>
            <a:fillRect/>
          </a:stretch>
        </p:blipFill>
        <p:spPr>
          <a:xfrm>
            <a:off x="417440" y="1423948"/>
            <a:ext cx="5076496" cy="5355616"/>
          </a:xfrm>
          <a:prstGeom prst="rect">
            <a:avLst/>
          </a:prstGeom>
        </p:spPr>
      </p:pic>
      <p:cxnSp>
        <p:nvCxnSpPr>
          <p:cNvPr id="15" name="Straight Arrow Connector 14">
            <a:extLst>
              <a:ext uri="{FF2B5EF4-FFF2-40B4-BE49-F238E27FC236}">
                <a16:creationId xmlns:a16="http://schemas.microsoft.com/office/drawing/2014/main" id="{7D65AC3F-7A4B-7977-6657-D4B2717ACFB3}"/>
              </a:ext>
            </a:extLst>
          </p:cNvPr>
          <p:cNvCxnSpPr>
            <a:cxnSpLocks/>
          </p:cNvCxnSpPr>
          <p:nvPr/>
        </p:nvCxnSpPr>
        <p:spPr>
          <a:xfrm flipH="1">
            <a:off x="7567448" y="2267494"/>
            <a:ext cx="996735" cy="68065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07B9AC5-EF8E-9A29-3B09-F5A3B11097BC}"/>
              </a:ext>
            </a:extLst>
          </p:cNvPr>
          <p:cNvSpPr txBox="1"/>
          <p:nvPr/>
        </p:nvSpPr>
        <p:spPr>
          <a:xfrm>
            <a:off x="7283669" y="1451275"/>
            <a:ext cx="3236969" cy="769441"/>
          </a:xfrm>
          <a:prstGeom prst="rect">
            <a:avLst/>
          </a:prstGeom>
          <a:noFill/>
        </p:spPr>
        <p:txBody>
          <a:bodyPr wrap="square" rtlCol="0">
            <a:spAutoFit/>
          </a:bodyPr>
          <a:lstStyle/>
          <a:p>
            <a:pPr algn="ctr"/>
            <a:r>
              <a:rPr lang="en-US" sz="2200" b="1" dirty="0">
                <a:solidFill>
                  <a:srgbClr val="333333"/>
                </a:solidFill>
              </a:rPr>
              <a:t>NEST360 Implementation Model</a:t>
            </a:r>
          </a:p>
        </p:txBody>
      </p:sp>
    </p:spTree>
    <p:extLst>
      <p:ext uri="{BB962C8B-B14F-4D97-AF65-F5344CB8AC3E}">
        <p14:creationId xmlns:p14="http://schemas.microsoft.com/office/powerpoint/2010/main" val="4025106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9F61-697E-BFE8-8149-554E4A531E3A}"/>
              </a:ext>
            </a:extLst>
          </p:cNvPr>
          <p:cNvSpPr>
            <a:spLocks noGrp="1"/>
          </p:cNvSpPr>
          <p:nvPr>
            <p:ph type="title"/>
          </p:nvPr>
        </p:nvSpPr>
        <p:spPr>
          <a:xfrm>
            <a:off x="838199" y="522745"/>
            <a:ext cx="10515600" cy="1325563"/>
          </a:xfrm>
        </p:spPr>
        <p:txBody>
          <a:bodyPr/>
          <a:lstStyle/>
          <a:p>
            <a:r>
              <a:rPr lang="en-US" dirty="0"/>
              <a:t>What is an implementation model?</a:t>
            </a:r>
          </a:p>
        </p:txBody>
      </p:sp>
      <p:sp>
        <p:nvSpPr>
          <p:cNvPr id="3" name="Rectangle 2">
            <a:extLst>
              <a:ext uri="{FF2B5EF4-FFF2-40B4-BE49-F238E27FC236}">
                <a16:creationId xmlns:a16="http://schemas.microsoft.com/office/drawing/2014/main" id="{FB479301-ED00-E0F9-F5C9-C28233A9C8A5}"/>
              </a:ext>
            </a:extLst>
          </p:cNvPr>
          <p:cNvSpPr/>
          <p:nvPr/>
        </p:nvSpPr>
        <p:spPr>
          <a:xfrm>
            <a:off x="0" y="2068829"/>
            <a:ext cx="12192000" cy="232974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rPr>
              <a:t>A visual tool that helps us to systematically plan, report, and synthesize how NEST360 implemented small and sick newborn care</a:t>
            </a:r>
          </a:p>
        </p:txBody>
      </p:sp>
      <p:sp>
        <p:nvSpPr>
          <p:cNvPr id="4" name="Rectangle 3">
            <a:extLst>
              <a:ext uri="{FF2B5EF4-FFF2-40B4-BE49-F238E27FC236}">
                <a16:creationId xmlns:a16="http://schemas.microsoft.com/office/drawing/2014/main" id="{4B46F3F0-0D78-56D0-0A4C-86379E1E45F6}"/>
              </a:ext>
            </a:extLst>
          </p:cNvPr>
          <p:cNvSpPr/>
          <p:nvPr/>
        </p:nvSpPr>
        <p:spPr>
          <a:xfrm>
            <a:off x="0" y="4398578"/>
            <a:ext cx="12192000" cy="2459422"/>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1"/>
              </a:solidFill>
            </a:endParaRPr>
          </a:p>
        </p:txBody>
      </p:sp>
      <p:sp>
        <p:nvSpPr>
          <p:cNvPr id="5" name="TextBox 4">
            <a:extLst>
              <a:ext uri="{FF2B5EF4-FFF2-40B4-BE49-F238E27FC236}">
                <a16:creationId xmlns:a16="http://schemas.microsoft.com/office/drawing/2014/main" id="{B0FCF887-E9A4-BE3B-2DD6-8B90E7C6C675}"/>
              </a:ext>
            </a:extLst>
          </p:cNvPr>
          <p:cNvSpPr txBox="1"/>
          <p:nvPr/>
        </p:nvSpPr>
        <p:spPr>
          <a:xfrm>
            <a:off x="1511428" y="4977814"/>
            <a:ext cx="9169142" cy="954107"/>
          </a:xfrm>
          <a:prstGeom prst="rect">
            <a:avLst/>
          </a:prstGeom>
          <a:noFill/>
        </p:spPr>
        <p:txBody>
          <a:bodyPr wrap="square" rtlCol="0">
            <a:spAutoFit/>
          </a:bodyPr>
          <a:lstStyle/>
          <a:p>
            <a:pPr algn="ctr"/>
            <a:r>
              <a:rPr lang="en-US" sz="2800" dirty="0">
                <a:solidFill>
                  <a:schemeClr val="bg1"/>
                </a:solidFill>
              </a:rPr>
              <a:t>The core elements of the model are </a:t>
            </a:r>
            <a:r>
              <a:rPr lang="en-US" sz="2800" u="sng" dirty="0">
                <a:solidFill>
                  <a:schemeClr val="bg1"/>
                </a:solidFill>
              </a:rPr>
              <a:t>implementation factors</a:t>
            </a:r>
            <a:r>
              <a:rPr lang="en-US" sz="2800" dirty="0">
                <a:solidFill>
                  <a:schemeClr val="bg1"/>
                </a:solidFill>
              </a:rPr>
              <a:t>, </a:t>
            </a:r>
            <a:r>
              <a:rPr lang="en-US" sz="2800" u="sng" dirty="0">
                <a:solidFill>
                  <a:schemeClr val="bg1"/>
                </a:solidFill>
              </a:rPr>
              <a:t>strategies</a:t>
            </a:r>
            <a:r>
              <a:rPr lang="en-US" sz="2800" dirty="0">
                <a:solidFill>
                  <a:schemeClr val="bg1"/>
                </a:solidFill>
              </a:rPr>
              <a:t>, </a:t>
            </a:r>
            <a:r>
              <a:rPr lang="en-US" sz="2800" u="sng" dirty="0">
                <a:solidFill>
                  <a:schemeClr val="bg1"/>
                </a:solidFill>
              </a:rPr>
              <a:t>mechanisms of action</a:t>
            </a:r>
            <a:r>
              <a:rPr lang="en-US" sz="2800" dirty="0">
                <a:solidFill>
                  <a:schemeClr val="bg1"/>
                </a:solidFill>
              </a:rPr>
              <a:t>, and </a:t>
            </a:r>
            <a:r>
              <a:rPr lang="en-US" sz="2800" u="sng" dirty="0">
                <a:solidFill>
                  <a:schemeClr val="bg1"/>
                </a:solidFill>
              </a:rPr>
              <a:t>outcomes</a:t>
            </a:r>
            <a:r>
              <a:rPr lang="en-US" sz="2800" dirty="0">
                <a:solidFill>
                  <a:schemeClr val="bg1"/>
                </a:solidFill>
              </a:rPr>
              <a:t> </a:t>
            </a:r>
          </a:p>
        </p:txBody>
      </p:sp>
    </p:spTree>
    <p:extLst>
      <p:ext uri="{BB962C8B-B14F-4D97-AF65-F5344CB8AC3E}">
        <p14:creationId xmlns:p14="http://schemas.microsoft.com/office/powerpoint/2010/main" val="1046035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EF518-9CB8-D3BB-5F9A-CC6BC80E8187}"/>
              </a:ext>
            </a:extLst>
          </p:cNvPr>
          <p:cNvSpPr>
            <a:spLocks noGrp="1"/>
          </p:cNvSpPr>
          <p:nvPr>
            <p:ph type="title"/>
          </p:nvPr>
        </p:nvSpPr>
        <p:spPr/>
        <p:txBody>
          <a:bodyPr/>
          <a:lstStyle/>
          <a:p>
            <a:r>
              <a:rPr lang="en-US" dirty="0"/>
              <a:t>What are the components of the model?</a:t>
            </a:r>
          </a:p>
        </p:txBody>
      </p:sp>
      <p:sp>
        <p:nvSpPr>
          <p:cNvPr id="4" name="Rectangle 3">
            <a:extLst>
              <a:ext uri="{FF2B5EF4-FFF2-40B4-BE49-F238E27FC236}">
                <a16:creationId xmlns:a16="http://schemas.microsoft.com/office/drawing/2014/main" id="{8DAE0B1F-EDD3-914D-1935-142142483E82}"/>
              </a:ext>
            </a:extLst>
          </p:cNvPr>
          <p:cNvSpPr/>
          <p:nvPr/>
        </p:nvSpPr>
        <p:spPr>
          <a:xfrm>
            <a:off x="416672" y="1690688"/>
            <a:ext cx="2622176" cy="4481512"/>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r>
              <a:rPr lang="en-US" dirty="0"/>
              <a:t>The barriers and facilitators that influence the success of implementing SSNC in level 2+ neonatal units</a:t>
            </a:r>
          </a:p>
          <a:p>
            <a:pPr algn="ctr"/>
            <a:endParaRPr lang="en-US" dirty="0"/>
          </a:p>
          <a:p>
            <a:pPr algn="ctr"/>
            <a:r>
              <a:rPr lang="en-US" dirty="0"/>
              <a:t> </a:t>
            </a:r>
          </a:p>
        </p:txBody>
      </p:sp>
      <p:sp>
        <p:nvSpPr>
          <p:cNvPr id="5" name="Rectangle 4">
            <a:extLst>
              <a:ext uri="{FF2B5EF4-FFF2-40B4-BE49-F238E27FC236}">
                <a16:creationId xmlns:a16="http://schemas.microsoft.com/office/drawing/2014/main" id="{42964CD8-206C-DCE1-2F11-0385A711D3D7}"/>
              </a:ext>
            </a:extLst>
          </p:cNvPr>
          <p:cNvSpPr/>
          <p:nvPr/>
        </p:nvSpPr>
        <p:spPr>
          <a:xfrm>
            <a:off x="3338162" y="1690688"/>
            <a:ext cx="2622176" cy="4481512"/>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r>
              <a:rPr lang="en-US" dirty="0"/>
              <a:t>The activities NEST used to overcome barriers, leverage facilitators, and implement SSNC in our supported countries</a:t>
            </a:r>
          </a:p>
          <a:p>
            <a:pPr algn="ctr"/>
            <a:r>
              <a:rPr lang="en-US" dirty="0"/>
              <a:t> </a:t>
            </a:r>
          </a:p>
        </p:txBody>
      </p:sp>
      <p:sp>
        <p:nvSpPr>
          <p:cNvPr id="6" name="Rectangle 5">
            <a:extLst>
              <a:ext uri="{FF2B5EF4-FFF2-40B4-BE49-F238E27FC236}">
                <a16:creationId xmlns:a16="http://schemas.microsoft.com/office/drawing/2014/main" id="{4DB81E44-EE82-B4F8-9E83-B602E2D0A080}"/>
              </a:ext>
            </a:extLst>
          </p:cNvPr>
          <p:cNvSpPr/>
          <p:nvPr/>
        </p:nvSpPr>
        <p:spPr>
          <a:xfrm>
            <a:off x="9153152" y="1690688"/>
            <a:ext cx="2622176" cy="4481512"/>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r>
              <a:rPr lang="en-US" dirty="0"/>
              <a:t>The indicator used to assess how well an intervention is implemented into practice</a:t>
            </a:r>
          </a:p>
          <a:p>
            <a:pPr algn="ctr"/>
            <a:endParaRPr lang="en-US" dirty="0"/>
          </a:p>
          <a:p>
            <a:pPr algn="ctr"/>
            <a:endParaRPr lang="en-US" dirty="0"/>
          </a:p>
        </p:txBody>
      </p:sp>
      <p:pic>
        <p:nvPicPr>
          <p:cNvPr id="1026" name="Picture 2" descr="Task completed ">
            <a:extLst>
              <a:ext uri="{FF2B5EF4-FFF2-40B4-BE49-F238E27FC236}">
                <a16:creationId xmlns:a16="http://schemas.microsoft.com/office/drawing/2014/main" id="{E4B81864-A75D-D2A0-F5DE-6D6C892463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7088" y="2493216"/>
            <a:ext cx="1046070" cy="104607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rategy ">
            <a:extLst>
              <a:ext uri="{FF2B5EF4-FFF2-40B4-BE49-F238E27FC236}">
                <a16:creationId xmlns:a16="http://schemas.microsoft.com/office/drawing/2014/main" id="{C5B11ED3-01C9-6C54-356B-134C9A53B0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3491" y="2527769"/>
            <a:ext cx="1011517" cy="101151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B46F7AEB-B63B-087D-92F8-6CEF36B2788D}"/>
              </a:ext>
            </a:extLst>
          </p:cNvPr>
          <p:cNvSpPr/>
          <p:nvPr/>
        </p:nvSpPr>
        <p:spPr>
          <a:xfrm>
            <a:off x="6259653" y="1690688"/>
            <a:ext cx="2622176" cy="4481512"/>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r>
              <a:rPr lang="en-US" dirty="0"/>
              <a:t>The processes or pathways through which a strategy produces change in outcomes</a:t>
            </a:r>
          </a:p>
          <a:p>
            <a:pPr algn="ctr"/>
            <a:endParaRPr lang="en-US" dirty="0"/>
          </a:p>
          <a:p>
            <a:pPr algn="ctr"/>
            <a:endParaRPr lang="en-US" dirty="0"/>
          </a:p>
        </p:txBody>
      </p:sp>
      <p:pic>
        <p:nvPicPr>
          <p:cNvPr id="1032" name="Picture 8" descr="Planning ">
            <a:extLst>
              <a:ext uri="{FF2B5EF4-FFF2-40B4-BE49-F238E27FC236}">
                <a16:creationId xmlns:a16="http://schemas.microsoft.com/office/drawing/2014/main" id="{72570FE0-1CCC-D1FD-EB83-BB92FA642C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64982" y="2527769"/>
            <a:ext cx="1011518" cy="10115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aution ">
            <a:extLst>
              <a:ext uri="{FF2B5EF4-FFF2-40B4-BE49-F238E27FC236}">
                <a16:creationId xmlns:a16="http://schemas.microsoft.com/office/drawing/2014/main" id="{257AFC81-D28E-4F08-F87C-FEAAC3A71D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5515" y="2378218"/>
            <a:ext cx="738104" cy="7381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Support ">
            <a:extLst>
              <a:ext uri="{FF2B5EF4-FFF2-40B4-BE49-F238E27FC236}">
                <a16:creationId xmlns:a16="http://schemas.microsoft.com/office/drawing/2014/main" id="{C3F1D586-CEA5-60D9-5C64-8B8906BD6B1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4158" y="3001323"/>
            <a:ext cx="738104" cy="738104"/>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0659A1C3-51E1-3766-AC54-C6E0363E3B54}"/>
              </a:ext>
            </a:extLst>
          </p:cNvPr>
          <p:cNvCxnSpPr>
            <a:cxnSpLocks/>
          </p:cNvCxnSpPr>
          <p:nvPr/>
        </p:nvCxnSpPr>
        <p:spPr>
          <a:xfrm flipV="1">
            <a:off x="1291322" y="2493216"/>
            <a:ext cx="1003263" cy="1131213"/>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8CF706D-FBDE-C1D2-2161-2041D82B85D2}"/>
              </a:ext>
            </a:extLst>
          </p:cNvPr>
          <p:cNvSpPr txBox="1"/>
          <p:nvPr/>
        </p:nvSpPr>
        <p:spPr>
          <a:xfrm>
            <a:off x="452883" y="1857481"/>
            <a:ext cx="2585964" cy="353943"/>
          </a:xfrm>
          <a:prstGeom prst="rect">
            <a:avLst/>
          </a:prstGeom>
          <a:noFill/>
        </p:spPr>
        <p:txBody>
          <a:bodyPr wrap="none" rtlCol="0">
            <a:spAutoFit/>
          </a:bodyPr>
          <a:lstStyle/>
          <a:p>
            <a:pPr algn="ctr"/>
            <a:r>
              <a:rPr lang="en-US" sz="1700" b="1" dirty="0">
                <a:solidFill>
                  <a:srgbClr val="333333"/>
                </a:solidFill>
              </a:rPr>
              <a:t>Implementation factors</a:t>
            </a:r>
          </a:p>
        </p:txBody>
      </p:sp>
      <p:sp>
        <p:nvSpPr>
          <p:cNvPr id="12" name="TextBox 11">
            <a:extLst>
              <a:ext uri="{FF2B5EF4-FFF2-40B4-BE49-F238E27FC236}">
                <a16:creationId xmlns:a16="http://schemas.microsoft.com/office/drawing/2014/main" id="{D0FD97B3-17A2-7E60-D9E1-8F0B85AAF141}"/>
              </a:ext>
            </a:extLst>
          </p:cNvPr>
          <p:cNvSpPr txBox="1"/>
          <p:nvPr/>
        </p:nvSpPr>
        <p:spPr>
          <a:xfrm>
            <a:off x="3999070" y="1849786"/>
            <a:ext cx="1300357" cy="369332"/>
          </a:xfrm>
          <a:prstGeom prst="rect">
            <a:avLst/>
          </a:prstGeom>
          <a:noFill/>
        </p:spPr>
        <p:txBody>
          <a:bodyPr wrap="none" rtlCol="0">
            <a:spAutoFit/>
          </a:bodyPr>
          <a:lstStyle/>
          <a:p>
            <a:pPr algn="ctr"/>
            <a:r>
              <a:rPr lang="en-US" b="1" dirty="0">
                <a:solidFill>
                  <a:srgbClr val="333333"/>
                </a:solidFill>
              </a:rPr>
              <a:t>Strategies</a:t>
            </a:r>
          </a:p>
        </p:txBody>
      </p:sp>
      <p:sp>
        <p:nvSpPr>
          <p:cNvPr id="13" name="TextBox 12">
            <a:extLst>
              <a:ext uri="{FF2B5EF4-FFF2-40B4-BE49-F238E27FC236}">
                <a16:creationId xmlns:a16="http://schemas.microsoft.com/office/drawing/2014/main" id="{7C2DE9C8-C68A-FCB4-C8F0-D9F0CA365E0E}"/>
              </a:ext>
            </a:extLst>
          </p:cNvPr>
          <p:cNvSpPr txBox="1"/>
          <p:nvPr/>
        </p:nvSpPr>
        <p:spPr>
          <a:xfrm>
            <a:off x="6259652" y="1857481"/>
            <a:ext cx="2625462" cy="369332"/>
          </a:xfrm>
          <a:prstGeom prst="rect">
            <a:avLst/>
          </a:prstGeom>
          <a:noFill/>
        </p:spPr>
        <p:txBody>
          <a:bodyPr wrap="none" rtlCol="0">
            <a:spAutoFit/>
          </a:bodyPr>
          <a:lstStyle/>
          <a:p>
            <a:pPr algn="ctr"/>
            <a:r>
              <a:rPr lang="en-US" b="1" dirty="0">
                <a:solidFill>
                  <a:srgbClr val="333333"/>
                </a:solidFill>
              </a:rPr>
              <a:t>Mechanisms of Action</a:t>
            </a:r>
          </a:p>
        </p:txBody>
      </p:sp>
      <p:sp>
        <p:nvSpPr>
          <p:cNvPr id="14" name="TextBox 13">
            <a:extLst>
              <a:ext uri="{FF2B5EF4-FFF2-40B4-BE49-F238E27FC236}">
                <a16:creationId xmlns:a16="http://schemas.microsoft.com/office/drawing/2014/main" id="{EAE9CFE4-4CA2-060D-0EC3-5FCFC97095B6}"/>
              </a:ext>
            </a:extLst>
          </p:cNvPr>
          <p:cNvSpPr txBox="1"/>
          <p:nvPr/>
        </p:nvSpPr>
        <p:spPr>
          <a:xfrm>
            <a:off x="9807650" y="1861005"/>
            <a:ext cx="1313180" cy="369332"/>
          </a:xfrm>
          <a:prstGeom prst="rect">
            <a:avLst/>
          </a:prstGeom>
          <a:noFill/>
        </p:spPr>
        <p:txBody>
          <a:bodyPr wrap="none" rtlCol="0">
            <a:spAutoFit/>
          </a:bodyPr>
          <a:lstStyle/>
          <a:p>
            <a:pPr algn="ctr"/>
            <a:r>
              <a:rPr lang="en-US" b="1" dirty="0">
                <a:solidFill>
                  <a:srgbClr val="333333"/>
                </a:solidFill>
              </a:rPr>
              <a:t>Outcomes</a:t>
            </a:r>
          </a:p>
        </p:txBody>
      </p:sp>
    </p:spTree>
    <p:extLst>
      <p:ext uri="{BB962C8B-B14F-4D97-AF65-F5344CB8AC3E}">
        <p14:creationId xmlns:p14="http://schemas.microsoft.com/office/powerpoint/2010/main" val="359435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160AB-8BB6-4BFA-38B0-B13CA9A15285}"/>
              </a:ext>
            </a:extLst>
          </p:cNvPr>
          <p:cNvSpPr>
            <a:spLocks noGrp="1"/>
          </p:cNvSpPr>
          <p:nvPr>
            <p:ph type="title"/>
          </p:nvPr>
        </p:nvSpPr>
        <p:spPr/>
        <p:txBody>
          <a:bodyPr/>
          <a:lstStyle/>
          <a:p>
            <a:r>
              <a:rPr lang="en-US" dirty="0"/>
              <a:t>How is a NEST360 implementation model useful?</a:t>
            </a:r>
          </a:p>
        </p:txBody>
      </p:sp>
      <p:sp>
        <p:nvSpPr>
          <p:cNvPr id="4" name="Rectangle 3">
            <a:extLst>
              <a:ext uri="{FF2B5EF4-FFF2-40B4-BE49-F238E27FC236}">
                <a16:creationId xmlns:a16="http://schemas.microsoft.com/office/drawing/2014/main" id="{C641AE2E-BE54-EEBC-D276-4C36A7954BA1}"/>
              </a:ext>
            </a:extLst>
          </p:cNvPr>
          <p:cNvSpPr/>
          <p:nvPr/>
        </p:nvSpPr>
        <p:spPr>
          <a:xfrm>
            <a:off x="359322" y="1980174"/>
            <a:ext cx="2475186" cy="3783724"/>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dirty="0">
              <a:solidFill>
                <a:schemeClr val="bg1"/>
              </a:solidFill>
            </a:endParaRPr>
          </a:p>
          <a:p>
            <a:pPr algn="ctr"/>
            <a:endParaRPr lang="en-US" sz="2200" dirty="0">
              <a:solidFill>
                <a:schemeClr val="bg1"/>
              </a:solidFill>
            </a:endParaRPr>
          </a:p>
          <a:p>
            <a:pPr algn="ctr"/>
            <a:endParaRPr lang="en-US" sz="2200" dirty="0">
              <a:solidFill>
                <a:schemeClr val="bg1"/>
              </a:solidFill>
            </a:endParaRPr>
          </a:p>
          <a:p>
            <a:pPr algn="ctr"/>
            <a:endParaRPr lang="en-US" sz="2200" dirty="0">
              <a:solidFill>
                <a:schemeClr val="bg1"/>
              </a:solidFill>
            </a:endParaRPr>
          </a:p>
          <a:p>
            <a:pPr algn="ctr"/>
            <a:endParaRPr lang="en-US" sz="2200" dirty="0">
              <a:solidFill>
                <a:schemeClr val="bg1"/>
              </a:solidFill>
            </a:endParaRPr>
          </a:p>
          <a:p>
            <a:pPr algn="ctr"/>
            <a:endParaRPr lang="en-US" sz="2200" dirty="0">
              <a:solidFill>
                <a:schemeClr val="bg1"/>
              </a:solidFill>
            </a:endParaRPr>
          </a:p>
          <a:p>
            <a:pPr algn="ctr"/>
            <a:r>
              <a:rPr lang="en-US" sz="2200" dirty="0">
                <a:solidFill>
                  <a:schemeClr val="bg1"/>
                </a:solidFill>
              </a:rPr>
              <a:t>Tells the full story of our implementation work</a:t>
            </a:r>
          </a:p>
        </p:txBody>
      </p:sp>
      <p:sp>
        <p:nvSpPr>
          <p:cNvPr id="5" name="Rectangle 4">
            <a:extLst>
              <a:ext uri="{FF2B5EF4-FFF2-40B4-BE49-F238E27FC236}">
                <a16:creationId xmlns:a16="http://schemas.microsoft.com/office/drawing/2014/main" id="{AE3A2E9D-4CD2-B90E-AE56-4C5998F42CAE}"/>
              </a:ext>
            </a:extLst>
          </p:cNvPr>
          <p:cNvSpPr/>
          <p:nvPr/>
        </p:nvSpPr>
        <p:spPr>
          <a:xfrm>
            <a:off x="3304518" y="1980174"/>
            <a:ext cx="2475186" cy="3783724"/>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1"/>
              </a:solidFill>
            </a:endParaRPr>
          </a:p>
          <a:p>
            <a:pPr algn="ctr"/>
            <a:endParaRPr lang="en-US" sz="2400" dirty="0">
              <a:solidFill>
                <a:schemeClr val="bg1"/>
              </a:solidFill>
            </a:endParaRPr>
          </a:p>
          <a:p>
            <a:pPr algn="ctr"/>
            <a:endParaRPr lang="en-US" sz="2400" dirty="0">
              <a:solidFill>
                <a:schemeClr val="bg1"/>
              </a:solidFill>
            </a:endParaRPr>
          </a:p>
          <a:p>
            <a:pPr algn="ctr"/>
            <a:endParaRPr lang="en-US" sz="2400" dirty="0">
              <a:solidFill>
                <a:schemeClr val="bg1"/>
              </a:solidFill>
            </a:endParaRPr>
          </a:p>
          <a:p>
            <a:pPr algn="ctr"/>
            <a:endParaRPr lang="en-US" sz="2400" dirty="0">
              <a:solidFill>
                <a:schemeClr val="bg1"/>
              </a:solidFill>
            </a:endParaRPr>
          </a:p>
          <a:p>
            <a:pPr algn="ctr"/>
            <a:r>
              <a:rPr lang="en-US" sz="2200" dirty="0">
                <a:solidFill>
                  <a:schemeClr val="bg1"/>
                </a:solidFill>
              </a:rPr>
              <a:t>Enhance communication with funders and partners</a:t>
            </a:r>
          </a:p>
        </p:txBody>
      </p:sp>
      <p:sp>
        <p:nvSpPr>
          <p:cNvPr id="6" name="Rectangle 5">
            <a:extLst>
              <a:ext uri="{FF2B5EF4-FFF2-40B4-BE49-F238E27FC236}">
                <a16:creationId xmlns:a16="http://schemas.microsoft.com/office/drawing/2014/main" id="{D965F09A-3E9E-4FCB-DF5B-230074C06F57}"/>
              </a:ext>
            </a:extLst>
          </p:cNvPr>
          <p:cNvSpPr/>
          <p:nvPr/>
        </p:nvSpPr>
        <p:spPr>
          <a:xfrm>
            <a:off x="6406384" y="1980174"/>
            <a:ext cx="2475186" cy="3783724"/>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dirty="0">
              <a:solidFill>
                <a:schemeClr val="bg1"/>
              </a:solidFill>
            </a:endParaRPr>
          </a:p>
          <a:p>
            <a:pPr algn="ctr"/>
            <a:endParaRPr lang="en-US" sz="2200" dirty="0">
              <a:solidFill>
                <a:schemeClr val="bg1"/>
              </a:solidFill>
            </a:endParaRPr>
          </a:p>
          <a:p>
            <a:pPr algn="ctr"/>
            <a:endParaRPr lang="en-US" sz="2200" dirty="0">
              <a:solidFill>
                <a:schemeClr val="bg1"/>
              </a:solidFill>
            </a:endParaRPr>
          </a:p>
          <a:p>
            <a:pPr algn="ctr"/>
            <a:endParaRPr lang="en-US" sz="2200" dirty="0">
              <a:solidFill>
                <a:schemeClr val="bg1"/>
              </a:solidFill>
            </a:endParaRPr>
          </a:p>
          <a:p>
            <a:pPr algn="ctr"/>
            <a:endParaRPr lang="en-US" sz="2200" dirty="0">
              <a:solidFill>
                <a:schemeClr val="bg1"/>
              </a:solidFill>
            </a:endParaRPr>
          </a:p>
          <a:p>
            <a:pPr algn="ctr"/>
            <a:endParaRPr lang="en-US" sz="2200" dirty="0">
              <a:solidFill>
                <a:schemeClr val="bg1"/>
              </a:solidFill>
            </a:endParaRPr>
          </a:p>
          <a:p>
            <a:pPr algn="ctr"/>
            <a:r>
              <a:rPr lang="en-US" sz="2200" dirty="0">
                <a:solidFill>
                  <a:schemeClr val="bg1"/>
                </a:solidFill>
              </a:rPr>
              <a:t>Supports planning, evaluation, and adaptations</a:t>
            </a:r>
          </a:p>
        </p:txBody>
      </p:sp>
      <p:sp>
        <p:nvSpPr>
          <p:cNvPr id="7" name="Rectangle 6">
            <a:extLst>
              <a:ext uri="{FF2B5EF4-FFF2-40B4-BE49-F238E27FC236}">
                <a16:creationId xmlns:a16="http://schemas.microsoft.com/office/drawing/2014/main" id="{6D0B46DF-4188-4E63-7F9C-14C4A945BE23}"/>
              </a:ext>
            </a:extLst>
          </p:cNvPr>
          <p:cNvSpPr/>
          <p:nvPr/>
        </p:nvSpPr>
        <p:spPr>
          <a:xfrm>
            <a:off x="9351580" y="1980174"/>
            <a:ext cx="2475186" cy="3783724"/>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dirty="0">
              <a:solidFill>
                <a:schemeClr val="bg1"/>
              </a:solidFill>
            </a:endParaRPr>
          </a:p>
          <a:p>
            <a:pPr algn="ctr"/>
            <a:endParaRPr lang="en-US" sz="2200" dirty="0">
              <a:solidFill>
                <a:schemeClr val="bg1"/>
              </a:solidFill>
            </a:endParaRPr>
          </a:p>
          <a:p>
            <a:pPr algn="ctr"/>
            <a:endParaRPr lang="en-US" sz="2200" dirty="0">
              <a:solidFill>
                <a:schemeClr val="bg1"/>
              </a:solidFill>
            </a:endParaRPr>
          </a:p>
          <a:p>
            <a:pPr algn="ctr"/>
            <a:endParaRPr lang="en-US" sz="2200" dirty="0">
              <a:solidFill>
                <a:schemeClr val="bg1"/>
              </a:solidFill>
            </a:endParaRPr>
          </a:p>
          <a:p>
            <a:pPr algn="ctr"/>
            <a:endParaRPr lang="en-US" sz="2200" dirty="0">
              <a:solidFill>
                <a:schemeClr val="bg1"/>
              </a:solidFill>
            </a:endParaRPr>
          </a:p>
          <a:p>
            <a:pPr algn="ctr"/>
            <a:endParaRPr lang="en-US" sz="2200" dirty="0">
              <a:solidFill>
                <a:schemeClr val="bg1"/>
              </a:solidFill>
            </a:endParaRPr>
          </a:p>
          <a:p>
            <a:pPr algn="ctr"/>
            <a:r>
              <a:rPr lang="en-US" sz="2200" dirty="0">
                <a:solidFill>
                  <a:schemeClr val="bg1"/>
                </a:solidFill>
              </a:rPr>
              <a:t>Supports long-term sustainability and scale-up decisions for Phase 2</a:t>
            </a:r>
          </a:p>
        </p:txBody>
      </p:sp>
      <p:pic>
        <p:nvPicPr>
          <p:cNvPr id="2050" name="Picture 2" descr="Conversation ">
            <a:extLst>
              <a:ext uri="{FF2B5EF4-FFF2-40B4-BE49-F238E27FC236}">
                <a16:creationId xmlns:a16="http://schemas.microsoft.com/office/drawing/2014/main" id="{814B75CB-2128-4DDF-656C-E1990750D0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2979" y="2175491"/>
            <a:ext cx="1625600" cy="16256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roject ">
            <a:extLst>
              <a:ext uri="{FF2B5EF4-FFF2-40B4-BE49-F238E27FC236}">
                <a16:creationId xmlns:a16="http://schemas.microsoft.com/office/drawing/2014/main" id="{0D81EAFE-649B-4DC3-17F6-5C1429618A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758692" y="2175491"/>
            <a:ext cx="1660962" cy="16256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lanning ">
            <a:extLst>
              <a:ext uri="{FF2B5EF4-FFF2-40B4-BE49-F238E27FC236}">
                <a16:creationId xmlns:a16="http://schemas.microsoft.com/office/drawing/2014/main" id="{55EE21A0-31F9-2305-CF56-612FF45A78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1177" y="2246436"/>
            <a:ext cx="1625600" cy="16256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Manual ">
            <a:extLst>
              <a:ext uri="{FF2B5EF4-FFF2-40B4-BE49-F238E27FC236}">
                <a16:creationId xmlns:a16="http://schemas.microsoft.com/office/drawing/2014/main" id="{6D51160F-72CF-4DF0-F5CC-A920FDD82D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115" y="2246436"/>
            <a:ext cx="1625600" cy="162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1218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CD79A-941D-EA3E-0385-634A94E26FA4}"/>
              </a:ext>
            </a:extLst>
          </p:cNvPr>
          <p:cNvSpPr>
            <a:spLocks noGrp="1"/>
          </p:cNvSpPr>
          <p:nvPr>
            <p:ph type="title"/>
          </p:nvPr>
        </p:nvSpPr>
        <p:spPr>
          <a:xfrm>
            <a:off x="118241" y="199740"/>
            <a:ext cx="11955517" cy="1325563"/>
          </a:xfrm>
        </p:spPr>
        <p:txBody>
          <a:bodyPr>
            <a:normAutofit/>
          </a:bodyPr>
          <a:lstStyle/>
          <a:p>
            <a:pPr algn="ctr"/>
            <a:r>
              <a:rPr lang="en-US" sz="3400" dirty="0"/>
              <a:t>Data sources to develop the NEST360 implementation model </a:t>
            </a:r>
          </a:p>
        </p:txBody>
      </p:sp>
      <p:sp>
        <p:nvSpPr>
          <p:cNvPr id="5" name="Rectangle 4">
            <a:extLst>
              <a:ext uri="{FF2B5EF4-FFF2-40B4-BE49-F238E27FC236}">
                <a16:creationId xmlns:a16="http://schemas.microsoft.com/office/drawing/2014/main" id="{71C7416C-1FAC-A3B0-E525-0C7DE7D4374D}"/>
              </a:ext>
            </a:extLst>
          </p:cNvPr>
          <p:cNvSpPr/>
          <p:nvPr/>
        </p:nvSpPr>
        <p:spPr>
          <a:xfrm>
            <a:off x="3231356" y="1471019"/>
            <a:ext cx="5729288" cy="681037"/>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Pre-existing frameworks</a:t>
            </a:r>
          </a:p>
        </p:txBody>
      </p:sp>
      <p:sp>
        <p:nvSpPr>
          <p:cNvPr id="11" name="Rectangle 10">
            <a:extLst>
              <a:ext uri="{FF2B5EF4-FFF2-40B4-BE49-F238E27FC236}">
                <a16:creationId xmlns:a16="http://schemas.microsoft.com/office/drawing/2014/main" id="{D8F5A52A-D381-AA97-2BA6-B044C849CD74}"/>
              </a:ext>
            </a:extLst>
          </p:cNvPr>
          <p:cNvSpPr/>
          <p:nvPr/>
        </p:nvSpPr>
        <p:spPr>
          <a:xfrm>
            <a:off x="3231356" y="2385022"/>
            <a:ext cx="5729288" cy="681037"/>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Phase 1 roadmap &amp; theory of change</a:t>
            </a:r>
          </a:p>
        </p:txBody>
      </p:sp>
      <p:sp>
        <p:nvSpPr>
          <p:cNvPr id="12" name="Rectangle 11">
            <a:extLst>
              <a:ext uri="{FF2B5EF4-FFF2-40B4-BE49-F238E27FC236}">
                <a16:creationId xmlns:a16="http://schemas.microsoft.com/office/drawing/2014/main" id="{F04797D6-96C5-2BE1-05C5-ABAD37E1CB58}"/>
              </a:ext>
            </a:extLst>
          </p:cNvPr>
          <p:cNvSpPr/>
          <p:nvPr/>
        </p:nvSpPr>
        <p:spPr>
          <a:xfrm>
            <a:off x="3231356" y="3299025"/>
            <a:ext cx="5729288" cy="681037"/>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Program documentation</a:t>
            </a:r>
          </a:p>
        </p:txBody>
      </p:sp>
      <p:sp>
        <p:nvSpPr>
          <p:cNvPr id="13" name="Rectangle 12">
            <a:extLst>
              <a:ext uri="{FF2B5EF4-FFF2-40B4-BE49-F238E27FC236}">
                <a16:creationId xmlns:a16="http://schemas.microsoft.com/office/drawing/2014/main" id="{285E5F61-1340-D7D3-D98B-909311D58083}"/>
              </a:ext>
            </a:extLst>
          </p:cNvPr>
          <p:cNvSpPr/>
          <p:nvPr/>
        </p:nvSpPr>
        <p:spPr>
          <a:xfrm>
            <a:off x="3231356" y="4213028"/>
            <a:ext cx="5729288" cy="681037"/>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Routinely collected programmatic data</a:t>
            </a:r>
          </a:p>
        </p:txBody>
      </p:sp>
      <p:sp>
        <p:nvSpPr>
          <p:cNvPr id="14" name="Rectangle 13">
            <a:extLst>
              <a:ext uri="{FF2B5EF4-FFF2-40B4-BE49-F238E27FC236}">
                <a16:creationId xmlns:a16="http://schemas.microsoft.com/office/drawing/2014/main" id="{EE55CCED-DE1F-68E6-420E-2C9287225CE5}"/>
              </a:ext>
            </a:extLst>
          </p:cNvPr>
          <p:cNvSpPr/>
          <p:nvPr/>
        </p:nvSpPr>
        <p:spPr>
          <a:xfrm>
            <a:off x="3231356" y="5127031"/>
            <a:ext cx="5729288" cy="681037"/>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Publications</a:t>
            </a:r>
          </a:p>
        </p:txBody>
      </p:sp>
      <p:sp>
        <p:nvSpPr>
          <p:cNvPr id="15" name="Rectangle 14">
            <a:extLst>
              <a:ext uri="{FF2B5EF4-FFF2-40B4-BE49-F238E27FC236}">
                <a16:creationId xmlns:a16="http://schemas.microsoft.com/office/drawing/2014/main" id="{D81400CE-830F-47F5-D0DD-41F64F43C3A6}"/>
              </a:ext>
            </a:extLst>
          </p:cNvPr>
          <p:cNvSpPr/>
          <p:nvPr/>
        </p:nvSpPr>
        <p:spPr>
          <a:xfrm>
            <a:off x="3231356" y="6041034"/>
            <a:ext cx="5729288" cy="681037"/>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Team input</a:t>
            </a:r>
          </a:p>
        </p:txBody>
      </p:sp>
      <p:sp>
        <p:nvSpPr>
          <p:cNvPr id="20" name="Rectangle 19">
            <a:extLst>
              <a:ext uri="{FF2B5EF4-FFF2-40B4-BE49-F238E27FC236}">
                <a16:creationId xmlns:a16="http://schemas.microsoft.com/office/drawing/2014/main" id="{F5EE02B8-4D20-5138-4F60-8A2A38926925}"/>
              </a:ext>
            </a:extLst>
          </p:cNvPr>
          <p:cNvSpPr/>
          <p:nvPr/>
        </p:nvSpPr>
        <p:spPr>
          <a:xfrm>
            <a:off x="2543174" y="1471018"/>
            <a:ext cx="688181" cy="681038"/>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E07F359-4365-EB61-AE08-03DFC170AF86}"/>
              </a:ext>
            </a:extLst>
          </p:cNvPr>
          <p:cNvSpPr/>
          <p:nvPr/>
        </p:nvSpPr>
        <p:spPr>
          <a:xfrm>
            <a:off x="2543173" y="2385022"/>
            <a:ext cx="688181" cy="681037"/>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178E930-57FD-CB7D-9132-58819476F449}"/>
              </a:ext>
            </a:extLst>
          </p:cNvPr>
          <p:cNvSpPr/>
          <p:nvPr/>
        </p:nvSpPr>
        <p:spPr>
          <a:xfrm>
            <a:off x="2543170" y="3299025"/>
            <a:ext cx="688181" cy="681037"/>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EE32138-E114-910D-3629-981B67D99A14}"/>
              </a:ext>
            </a:extLst>
          </p:cNvPr>
          <p:cNvSpPr/>
          <p:nvPr/>
        </p:nvSpPr>
        <p:spPr>
          <a:xfrm>
            <a:off x="2543169" y="4213027"/>
            <a:ext cx="688181" cy="681037"/>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AD95423-A35A-2A43-BC00-09FE04BB265D}"/>
              </a:ext>
            </a:extLst>
          </p:cNvPr>
          <p:cNvSpPr/>
          <p:nvPr/>
        </p:nvSpPr>
        <p:spPr>
          <a:xfrm>
            <a:off x="2543169" y="5127031"/>
            <a:ext cx="688181" cy="681037"/>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E8C08F6-3BC9-3C93-FC8E-002A66107254}"/>
              </a:ext>
            </a:extLst>
          </p:cNvPr>
          <p:cNvSpPr/>
          <p:nvPr/>
        </p:nvSpPr>
        <p:spPr>
          <a:xfrm>
            <a:off x="2543169" y="6041032"/>
            <a:ext cx="688181" cy="681037"/>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descr="Document with solid fill">
            <a:extLst>
              <a:ext uri="{FF2B5EF4-FFF2-40B4-BE49-F238E27FC236}">
                <a16:creationId xmlns:a16="http://schemas.microsoft.com/office/drawing/2014/main" id="{9F22B135-25A4-17A9-14D3-C5607C3DEC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43163" y="5128460"/>
            <a:ext cx="688181" cy="688181"/>
          </a:xfrm>
          <a:prstGeom prst="rect">
            <a:avLst/>
          </a:prstGeom>
        </p:spPr>
      </p:pic>
      <p:pic>
        <p:nvPicPr>
          <p:cNvPr id="30" name="Graphic 29" descr="Group of men with solid fill">
            <a:extLst>
              <a:ext uri="{FF2B5EF4-FFF2-40B4-BE49-F238E27FC236}">
                <a16:creationId xmlns:a16="http://schemas.microsoft.com/office/drawing/2014/main" id="{111FE14E-5CAD-426C-FDB2-6E96F7BB2C2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84030" y="6078331"/>
            <a:ext cx="606438" cy="606438"/>
          </a:xfrm>
          <a:prstGeom prst="rect">
            <a:avLst/>
          </a:prstGeom>
        </p:spPr>
      </p:pic>
      <p:pic>
        <p:nvPicPr>
          <p:cNvPr id="32" name="Graphic 31" descr="Statistics with solid fill">
            <a:extLst>
              <a:ext uri="{FF2B5EF4-FFF2-40B4-BE49-F238E27FC236}">
                <a16:creationId xmlns:a16="http://schemas.microsoft.com/office/drawing/2014/main" id="{5B3DC145-961E-3B4C-7586-0EC7129839E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43161" y="4205883"/>
            <a:ext cx="688182" cy="688182"/>
          </a:xfrm>
          <a:prstGeom prst="rect">
            <a:avLst/>
          </a:prstGeom>
        </p:spPr>
      </p:pic>
      <p:pic>
        <p:nvPicPr>
          <p:cNvPr id="34" name="Graphic 33" descr="Folder Search with solid fill">
            <a:extLst>
              <a:ext uri="{FF2B5EF4-FFF2-40B4-BE49-F238E27FC236}">
                <a16:creationId xmlns:a16="http://schemas.microsoft.com/office/drawing/2014/main" id="{36E715F2-C868-8C85-C836-F2EDD3D93F4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543160" y="3295451"/>
            <a:ext cx="688183" cy="688183"/>
          </a:xfrm>
          <a:prstGeom prst="rect">
            <a:avLst/>
          </a:prstGeom>
        </p:spPr>
      </p:pic>
      <p:pic>
        <p:nvPicPr>
          <p:cNvPr id="36" name="Graphic 35" descr="Map with pin with solid fill">
            <a:extLst>
              <a:ext uri="{FF2B5EF4-FFF2-40B4-BE49-F238E27FC236}">
                <a16:creationId xmlns:a16="http://schemas.microsoft.com/office/drawing/2014/main" id="{F3986ED5-FB88-04FF-60E3-D71888E30AF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543160" y="2367874"/>
            <a:ext cx="688181" cy="688181"/>
          </a:xfrm>
          <a:prstGeom prst="rect">
            <a:avLst/>
          </a:prstGeom>
        </p:spPr>
      </p:pic>
      <p:pic>
        <p:nvPicPr>
          <p:cNvPr id="38" name="Graphic 37" descr="Pyramid with levels with solid fill">
            <a:extLst>
              <a:ext uri="{FF2B5EF4-FFF2-40B4-BE49-F238E27FC236}">
                <a16:creationId xmlns:a16="http://schemas.microsoft.com/office/drawing/2014/main" id="{47808541-C408-1A14-A14C-D2D34782A93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43158" y="1445295"/>
            <a:ext cx="688183" cy="688183"/>
          </a:xfrm>
          <a:prstGeom prst="rect">
            <a:avLst/>
          </a:prstGeom>
        </p:spPr>
      </p:pic>
    </p:spTree>
    <p:extLst>
      <p:ext uri="{BB962C8B-B14F-4D97-AF65-F5344CB8AC3E}">
        <p14:creationId xmlns:p14="http://schemas.microsoft.com/office/powerpoint/2010/main" val="1823077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E79EE-F8DA-A8E9-C683-C1C5839B0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9B158-8CE5-5B84-F8FC-DBB9104D2FF2}"/>
              </a:ext>
            </a:extLst>
          </p:cNvPr>
          <p:cNvSpPr>
            <a:spLocks noGrp="1"/>
          </p:cNvSpPr>
          <p:nvPr>
            <p:ph type="title"/>
          </p:nvPr>
        </p:nvSpPr>
        <p:spPr>
          <a:xfrm>
            <a:off x="838200" y="140717"/>
            <a:ext cx="10515600" cy="1325563"/>
          </a:xfrm>
        </p:spPr>
        <p:txBody>
          <a:bodyPr/>
          <a:lstStyle/>
          <a:p>
            <a:r>
              <a:rPr lang="en-US" dirty="0"/>
              <a:t>The NEST360 implementation model is a multi-tiered guide that…</a:t>
            </a:r>
          </a:p>
        </p:txBody>
      </p:sp>
      <p:sp>
        <p:nvSpPr>
          <p:cNvPr id="4" name="Rectangle 3">
            <a:extLst>
              <a:ext uri="{FF2B5EF4-FFF2-40B4-BE49-F238E27FC236}">
                <a16:creationId xmlns:a16="http://schemas.microsoft.com/office/drawing/2014/main" id="{6A94623D-B700-CF32-C7D7-428B31AC6D37}"/>
              </a:ext>
            </a:extLst>
          </p:cNvPr>
          <p:cNvSpPr/>
          <p:nvPr/>
        </p:nvSpPr>
        <p:spPr>
          <a:xfrm>
            <a:off x="838200" y="1466280"/>
            <a:ext cx="10717924" cy="24059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lvl="1" indent="-285750">
              <a:buFont typeface="Arial" panose="020B0604020202020204" pitchFamily="34" charset="0"/>
              <a:buChar char="•"/>
            </a:pPr>
            <a:endParaRPr lang="en-US" sz="2400" dirty="0">
              <a:solidFill>
                <a:schemeClr val="tx1"/>
              </a:solidFill>
            </a:endParaRPr>
          </a:p>
          <a:p>
            <a:pPr marL="742950" lvl="1" indent="-285750">
              <a:buFont typeface="Arial" panose="020B0604020202020204" pitchFamily="34" charset="0"/>
              <a:buChar char="•"/>
            </a:pPr>
            <a:r>
              <a:rPr lang="en-US" sz="2200" dirty="0">
                <a:solidFill>
                  <a:schemeClr val="tx1"/>
                </a:solidFill>
              </a:rPr>
              <a:t>Describes the implementation environment where NEST360 operates</a:t>
            </a:r>
          </a:p>
          <a:p>
            <a:pPr marL="742950" lvl="1" indent="-285750">
              <a:buFont typeface="Arial" panose="020B0604020202020204" pitchFamily="34" charset="0"/>
              <a:buChar char="•"/>
            </a:pPr>
            <a:r>
              <a:rPr lang="en-US" sz="2200" dirty="0">
                <a:solidFill>
                  <a:schemeClr val="tx1"/>
                </a:solidFill>
              </a:rPr>
              <a:t>Details the strategies and activities used to reduce newborn mortality </a:t>
            </a:r>
          </a:p>
          <a:p>
            <a:pPr marL="742950" lvl="1" indent="-285750">
              <a:buFont typeface="Arial" panose="020B0604020202020204" pitchFamily="34" charset="0"/>
              <a:buChar char="•"/>
            </a:pPr>
            <a:r>
              <a:rPr lang="en-US" sz="2200" dirty="0">
                <a:solidFill>
                  <a:schemeClr val="tx1"/>
                </a:solidFill>
              </a:rPr>
              <a:t>Presents outcomes tracked by NEST360 along with the overall program impact</a:t>
            </a:r>
          </a:p>
        </p:txBody>
      </p:sp>
      <p:sp>
        <p:nvSpPr>
          <p:cNvPr id="5" name="TextBox 4">
            <a:extLst>
              <a:ext uri="{FF2B5EF4-FFF2-40B4-BE49-F238E27FC236}">
                <a16:creationId xmlns:a16="http://schemas.microsoft.com/office/drawing/2014/main" id="{C03E18D8-2760-3025-5C2C-DB1789E75F57}"/>
              </a:ext>
            </a:extLst>
          </p:cNvPr>
          <p:cNvSpPr txBox="1"/>
          <p:nvPr/>
        </p:nvSpPr>
        <p:spPr>
          <a:xfrm>
            <a:off x="1173218" y="1706954"/>
            <a:ext cx="4276940" cy="461665"/>
          </a:xfrm>
          <a:prstGeom prst="rect">
            <a:avLst/>
          </a:prstGeom>
          <a:noFill/>
        </p:spPr>
        <p:txBody>
          <a:bodyPr wrap="none" rtlCol="0">
            <a:spAutoFit/>
          </a:bodyPr>
          <a:lstStyle/>
          <a:p>
            <a:pPr algn="l"/>
            <a:r>
              <a:rPr lang="en-US" sz="2400" b="1" dirty="0"/>
              <a:t>Reports on NEST360’s work</a:t>
            </a:r>
          </a:p>
        </p:txBody>
      </p:sp>
      <p:sp>
        <p:nvSpPr>
          <p:cNvPr id="6" name="Rectangle 5">
            <a:extLst>
              <a:ext uri="{FF2B5EF4-FFF2-40B4-BE49-F238E27FC236}">
                <a16:creationId xmlns:a16="http://schemas.microsoft.com/office/drawing/2014/main" id="{6372A31C-31EF-F222-E229-7E2B42F5A56D}"/>
              </a:ext>
            </a:extLst>
          </p:cNvPr>
          <p:cNvSpPr/>
          <p:nvPr/>
        </p:nvSpPr>
        <p:spPr>
          <a:xfrm>
            <a:off x="838200" y="4112940"/>
            <a:ext cx="10717924" cy="26043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lvl="1" indent="-285750">
              <a:buFont typeface="Arial" panose="020B0604020202020204" pitchFamily="34" charset="0"/>
              <a:buChar char="•"/>
            </a:pPr>
            <a:endParaRPr lang="en-US" sz="2400" dirty="0">
              <a:solidFill>
                <a:schemeClr val="tx1"/>
              </a:solidFill>
            </a:endParaRPr>
          </a:p>
          <a:p>
            <a:pPr marL="800100" lvl="1" indent="-342900">
              <a:buFont typeface="Arial" panose="020B0604020202020204" pitchFamily="34" charset="0"/>
              <a:buChar char="•"/>
            </a:pPr>
            <a:endParaRPr lang="en-US" sz="2200" dirty="0">
              <a:solidFill>
                <a:schemeClr val="tx1"/>
              </a:solidFill>
            </a:endParaRPr>
          </a:p>
          <a:p>
            <a:pPr marL="800100" lvl="1" indent="-342900">
              <a:buFont typeface="Arial" panose="020B0604020202020204" pitchFamily="34" charset="0"/>
              <a:buChar char="•"/>
            </a:pPr>
            <a:r>
              <a:rPr lang="en-US" sz="2200" dirty="0">
                <a:solidFill>
                  <a:schemeClr val="tx1"/>
                </a:solidFill>
              </a:rPr>
              <a:t>Identified key implementation factors to consider during planning </a:t>
            </a:r>
          </a:p>
          <a:p>
            <a:pPr marL="800100" lvl="1" indent="-342900">
              <a:buFont typeface="Arial" panose="020B0604020202020204" pitchFamily="34" charset="0"/>
              <a:buChar char="•"/>
            </a:pPr>
            <a:r>
              <a:rPr lang="en-US" sz="2200" dirty="0">
                <a:solidFill>
                  <a:schemeClr val="tx1"/>
                </a:solidFill>
              </a:rPr>
              <a:t>Connects to existing NEST360 tools and resources that support implementation </a:t>
            </a:r>
          </a:p>
          <a:p>
            <a:pPr marL="800100" lvl="1" indent="-342900">
              <a:buFont typeface="Arial" panose="020B0604020202020204" pitchFamily="34" charset="0"/>
              <a:buChar char="•"/>
            </a:pPr>
            <a:r>
              <a:rPr lang="en-US" sz="2200" dirty="0">
                <a:solidFill>
                  <a:schemeClr val="tx1"/>
                </a:solidFill>
              </a:rPr>
              <a:t>Defines essential processes and impact measures to monitor throughout implementation</a:t>
            </a:r>
          </a:p>
        </p:txBody>
      </p:sp>
      <p:sp>
        <p:nvSpPr>
          <p:cNvPr id="7" name="TextBox 6">
            <a:extLst>
              <a:ext uri="{FF2B5EF4-FFF2-40B4-BE49-F238E27FC236}">
                <a16:creationId xmlns:a16="http://schemas.microsoft.com/office/drawing/2014/main" id="{93BC4E4B-223C-BDFE-9DF0-22FA53AD70D7}"/>
              </a:ext>
            </a:extLst>
          </p:cNvPr>
          <p:cNvSpPr txBox="1"/>
          <p:nvPr/>
        </p:nvSpPr>
        <p:spPr>
          <a:xfrm>
            <a:off x="1173218" y="4309722"/>
            <a:ext cx="9501319" cy="461665"/>
          </a:xfrm>
          <a:prstGeom prst="rect">
            <a:avLst/>
          </a:prstGeom>
          <a:noFill/>
        </p:spPr>
        <p:txBody>
          <a:bodyPr wrap="none" rtlCol="0">
            <a:spAutoFit/>
          </a:bodyPr>
          <a:lstStyle/>
          <a:p>
            <a:pPr algn="l"/>
            <a:r>
              <a:rPr lang="en-US" sz="2400" b="1" dirty="0"/>
              <a:t>Provides a model others can adapt to implement similar efforts</a:t>
            </a:r>
          </a:p>
        </p:txBody>
      </p:sp>
    </p:spTree>
    <p:extLst>
      <p:ext uri="{BB962C8B-B14F-4D97-AF65-F5344CB8AC3E}">
        <p14:creationId xmlns:p14="http://schemas.microsoft.com/office/powerpoint/2010/main" val="526169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1BD00-F387-1440-BC8C-B45F08BE0A5F}"/>
              </a:ext>
            </a:extLst>
          </p:cNvPr>
          <p:cNvSpPr>
            <a:spLocks noGrp="1"/>
          </p:cNvSpPr>
          <p:nvPr>
            <p:ph type="title"/>
          </p:nvPr>
        </p:nvSpPr>
        <p:spPr/>
        <p:txBody>
          <a:bodyPr/>
          <a:lstStyle/>
          <a:p>
            <a:r>
              <a:rPr lang="en-US" dirty="0"/>
              <a:t>Tiers within the model </a:t>
            </a:r>
          </a:p>
        </p:txBody>
      </p:sp>
      <p:sp>
        <p:nvSpPr>
          <p:cNvPr id="4" name="Rectangle 3">
            <a:extLst>
              <a:ext uri="{FF2B5EF4-FFF2-40B4-BE49-F238E27FC236}">
                <a16:creationId xmlns:a16="http://schemas.microsoft.com/office/drawing/2014/main" id="{B317C543-74CF-A1A6-E92A-8C43E7AC13EE}"/>
              </a:ext>
            </a:extLst>
          </p:cNvPr>
          <p:cNvSpPr/>
          <p:nvPr/>
        </p:nvSpPr>
        <p:spPr>
          <a:xfrm>
            <a:off x="0" y="1371600"/>
            <a:ext cx="12192000" cy="182880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8CBD694-9A90-650C-1DD3-F58F8DF18A64}"/>
              </a:ext>
            </a:extLst>
          </p:cNvPr>
          <p:cNvSpPr/>
          <p:nvPr/>
        </p:nvSpPr>
        <p:spPr>
          <a:xfrm>
            <a:off x="0" y="5029200"/>
            <a:ext cx="12192000" cy="18288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D3FDB6F-F603-0C35-E8C7-E744AFB848A1}"/>
              </a:ext>
            </a:extLst>
          </p:cNvPr>
          <p:cNvSpPr/>
          <p:nvPr/>
        </p:nvSpPr>
        <p:spPr>
          <a:xfrm>
            <a:off x="0" y="3200400"/>
            <a:ext cx="12192000" cy="18288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308708F-63EC-EDFA-F9B2-6A65E12C6C50}"/>
              </a:ext>
            </a:extLst>
          </p:cNvPr>
          <p:cNvSpPr txBox="1"/>
          <p:nvPr/>
        </p:nvSpPr>
        <p:spPr>
          <a:xfrm>
            <a:off x="160283" y="1501170"/>
            <a:ext cx="1355834" cy="523220"/>
          </a:xfrm>
          <a:prstGeom prst="rect">
            <a:avLst/>
          </a:prstGeom>
          <a:noFill/>
        </p:spPr>
        <p:txBody>
          <a:bodyPr wrap="square" rtlCol="0">
            <a:spAutoFit/>
          </a:bodyPr>
          <a:lstStyle/>
          <a:p>
            <a:pPr algn="ctr"/>
            <a:r>
              <a:rPr lang="en-US" sz="2800" b="1" dirty="0">
                <a:solidFill>
                  <a:srgbClr val="333333"/>
                </a:solidFill>
              </a:rPr>
              <a:t>Tier 1 </a:t>
            </a:r>
          </a:p>
        </p:txBody>
      </p:sp>
      <p:sp>
        <p:nvSpPr>
          <p:cNvPr id="8" name="TextBox 7">
            <a:extLst>
              <a:ext uri="{FF2B5EF4-FFF2-40B4-BE49-F238E27FC236}">
                <a16:creationId xmlns:a16="http://schemas.microsoft.com/office/drawing/2014/main" id="{16DBEC38-DBBB-31D6-0237-9F71FBF80C96}"/>
              </a:ext>
            </a:extLst>
          </p:cNvPr>
          <p:cNvSpPr txBox="1"/>
          <p:nvPr/>
        </p:nvSpPr>
        <p:spPr>
          <a:xfrm>
            <a:off x="160283" y="3329970"/>
            <a:ext cx="1355834" cy="523220"/>
          </a:xfrm>
          <a:prstGeom prst="rect">
            <a:avLst/>
          </a:prstGeom>
          <a:noFill/>
        </p:spPr>
        <p:txBody>
          <a:bodyPr wrap="square" rtlCol="0">
            <a:spAutoFit/>
          </a:bodyPr>
          <a:lstStyle/>
          <a:p>
            <a:pPr algn="ctr"/>
            <a:r>
              <a:rPr lang="en-US" sz="2800" b="1" dirty="0">
                <a:solidFill>
                  <a:srgbClr val="333333"/>
                </a:solidFill>
              </a:rPr>
              <a:t>Tier 2 </a:t>
            </a:r>
          </a:p>
        </p:txBody>
      </p:sp>
      <p:sp>
        <p:nvSpPr>
          <p:cNvPr id="9" name="TextBox 8">
            <a:extLst>
              <a:ext uri="{FF2B5EF4-FFF2-40B4-BE49-F238E27FC236}">
                <a16:creationId xmlns:a16="http://schemas.microsoft.com/office/drawing/2014/main" id="{D3A8C451-5C86-876B-9C43-83B2D3A19522}"/>
              </a:ext>
            </a:extLst>
          </p:cNvPr>
          <p:cNvSpPr txBox="1"/>
          <p:nvPr/>
        </p:nvSpPr>
        <p:spPr>
          <a:xfrm>
            <a:off x="160283" y="5158770"/>
            <a:ext cx="1355834" cy="523220"/>
          </a:xfrm>
          <a:prstGeom prst="rect">
            <a:avLst/>
          </a:prstGeom>
          <a:noFill/>
        </p:spPr>
        <p:txBody>
          <a:bodyPr wrap="square" rtlCol="0">
            <a:spAutoFit/>
          </a:bodyPr>
          <a:lstStyle/>
          <a:p>
            <a:pPr algn="ctr"/>
            <a:r>
              <a:rPr lang="en-US" sz="2800" b="1" dirty="0">
                <a:solidFill>
                  <a:srgbClr val="333333"/>
                </a:solidFill>
              </a:rPr>
              <a:t>Tier 3 </a:t>
            </a:r>
          </a:p>
        </p:txBody>
      </p:sp>
      <p:sp>
        <p:nvSpPr>
          <p:cNvPr id="10" name="TextBox 9">
            <a:extLst>
              <a:ext uri="{FF2B5EF4-FFF2-40B4-BE49-F238E27FC236}">
                <a16:creationId xmlns:a16="http://schemas.microsoft.com/office/drawing/2014/main" id="{780DA5B7-9D53-845E-2DC0-2C6D43837C29}"/>
              </a:ext>
            </a:extLst>
          </p:cNvPr>
          <p:cNvSpPr txBox="1"/>
          <p:nvPr/>
        </p:nvSpPr>
        <p:spPr>
          <a:xfrm>
            <a:off x="1516116" y="2047379"/>
            <a:ext cx="9837683" cy="830997"/>
          </a:xfrm>
          <a:prstGeom prst="rect">
            <a:avLst/>
          </a:prstGeom>
          <a:noFill/>
        </p:spPr>
        <p:txBody>
          <a:bodyPr wrap="square" rtlCol="0">
            <a:spAutoFit/>
          </a:bodyPr>
          <a:lstStyle/>
          <a:p>
            <a:r>
              <a:rPr lang="en-US" sz="2400" dirty="0">
                <a:solidFill>
                  <a:schemeClr val="bg1"/>
                </a:solidFill>
              </a:rPr>
              <a:t>Provides a graphic that can be added to grant proposals or shared with funders and stakeholders </a:t>
            </a:r>
          </a:p>
        </p:txBody>
      </p:sp>
      <p:sp>
        <p:nvSpPr>
          <p:cNvPr id="12" name="TextBox 11">
            <a:extLst>
              <a:ext uri="{FF2B5EF4-FFF2-40B4-BE49-F238E27FC236}">
                <a16:creationId xmlns:a16="http://schemas.microsoft.com/office/drawing/2014/main" id="{BB27B895-B91A-0DAC-4EAF-3F68767B4D67}"/>
              </a:ext>
            </a:extLst>
          </p:cNvPr>
          <p:cNvSpPr txBox="1"/>
          <p:nvPr/>
        </p:nvSpPr>
        <p:spPr>
          <a:xfrm>
            <a:off x="1516117" y="3717920"/>
            <a:ext cx="9837682" cy="830997"/>
          </a:xfrm>
          <a:prstGeom prst="rect">
            <a:avLst/>
          </a:prstGeom>
          <a:noFill/>
        </p:spPr>
        <p:txBody>
          <a:bodyPr wrap="square" rtlCol="0">
            <a:spAutoFit/>
          </a:bodyPr>
          <a:lstStyle/>
          <a:p>
            <a:r>
              <a:rPr lang="en-US" sz="2400" dirty="0">
                <a:solidFill>
                  <a:schemeClr val="bg1"/>
                </a:solidFill>
              </a:rPr>
              <a:t>Provides general information that other implementers should consider if they’d like to implement a “NEST-like model”</a:t>
            </a:r>
          </a:p>
        </p:txBody>
      </p:sp>
      <p:sp>
        <p:nvSpPr>
          <p:cNvPr id="13" name="TextBox 12">
            <a:extLst>
              <a:ext uri="{FF2B5EF4-FFF2-40B4-BE49-F238E27FC236}">
                <a16:creationId xmlns:a16="http://schemas.microsoft.com/office/drawing/2014/main" id="{A3B0EFCA-C47E-87A6-3DBA-C7480151FBEE}"/>
              </a:ext>
            </a:extLst>
          </p:cNvPr>
          <p:cNvSpPr txBox="1"/>
          <p:nvPr/>
        </p:nvSpPr>
        <p:spPr>
          <a:xfrm>
            <a:off x="1516117" y="5509483"/>
            <a:ext cx="9837682" cy="830997"/>
          </a:xfrm>
          <a:prstGeom prst="rect">
            <a:avLst/>
          </a:prstGeom>
          <a:noFill/>
        </p:spPr>
        <p:txBody>
          <a:bodyPr wrap="square" rtlCol="0">
            <a:spAutoFit/>
          </a:bodyPr>
          <a:lstStyle/>
          <a:p>
            <a:r>
              <a:rPr lang="en-US" sz="2400" dirty="0">
                <a:solidFill>
                  <a:schemeClr val="bg1"/>
                </a:solidFill>
              </a:rPr>
              <a:t>Provides the details one could need to gain a comprehensive understanding of how NEST360 implemented our package </a:t>
            </a:r>
          </a:p>
        </p:txBody>
      </p:sp>
    </p:spTree>
    <p:extLst>
      <p:ext uri="{BB962C8B-B14F-4D97-AF65-F5344CB8AC3E}">
        <p14:creationId xmlns:p14="http://schemas.microsoft.com/office/powerpoint/2010/main" val="692720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38FC2-B07D-BE0D-E902-2B883B97E533}"/>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018C8260-023F-78AE-8D4E-DF66542D5076}"/>
              </a:ext>
            </a:extLst>
          </p:cNvPr>
          <p:cNvSpPr/>
          <p:nvPr/>
        </p:nvSpPr>
        <p:spPr>
          <a:xfrm>
            <a:off x="81337" y="1191436"/>
            <a:ext cx="2113892" cy="566656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Subtitle 2">
            <a:extLst>
              <a:ext uri="{FF2B5EF4-FFF2-40B4-BE49-F238E27FC236}">
                <a16:creationId xmlns:a16="http://schemas.microsoft.com/office/drawing/2014/main" id="{A3AA9B65-845E-3CDB-6BC1-3ACFEB0D9C1B}"/>
              </a:ext>
            </a:extLst>
          </p:cNvPr>
          <p:cNvSpPr txBox="1">
            <a:spLocks/>
          </p:cNvSpPr>
          <p:nvPr/>
        </p:nvSpPr>
        <p:spPr>
          <a:xfrm>
            <a:off x="2659552" y="637438"/>
            <a:ext cx="1933903" cy="717714"/>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a:ea typeface="+mn-ea"/>
                <a:cs typeface="+mn-cs"/>
              </a:rPr>
              <a:t>Strategies used by NEST360</a:t>
            </a:r>
          </a:p>
        </p:txBody>
      </p:sp>
      <p:sp>
        <p:nvSpPr>
          <p:cNvPr id="5" name="Subtitle 2">
            <a:extLst>
              <a:ext uri="{FF2B5EF4-FFF2-40B4-BE49-F238E27FC236}">
                <a16:creationId xmlns:a16="http://schemas.microsoft.com/office/drawing/2014/main" id="{2A8C8D59-B976-2F44-805C-38297A806B07}"/>
              </a:ext>
            </a:extLst>
          </p:cNvPr>
          <p:cNvSpPr txBox="1">
            <a:spLocks/>
          </p:cNvSpPr>
          <p:nvPr/>
        </p:nvSpPr>
        <p:spPr>
          <a:xfrm>
            <a:off x="5207655" y="637438"/>
            <a:ext cx="1739461" cy="71771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a:ea typeface="+mn-ea"/>
                <a:cs typeface="+mn-cs"/>
              </a:rPr>
              <a:t>Mechanisms</a:t>
            </a:r>
          </a:p>
        </p:txBody>
      </p:sp>
      <p:sp>
        <p:nvSpPr>
          <p:cNvPr id="6" name="Subtitle 2">
            <a:extLst>
              <a:ext uri="{FF2B5EF4-FFF2-40B4-BE49-F238E27FC236}">
                <a16:creationId xmlns:a16="http://schemas.microsoft.com/office/drawing/2014/main" id="{AFF07B81-1CDF-19A0-7FAA-F0C8F55B0B3C}"/>
              </a:ext>
            </a:extLst>
          </p:cNvPr>
          <p:cNvSpPr txBox="1">
            <a:spLocks/>
          </p:cNvSpPr>
          <p:nvPr/>
        </p:nvSpPr>
        <p:spPr>
          <a:xfrm>
            <a:off x="7653500" y="637438"/>
            <a:ext cx="1739462" cy="71771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a:ea typeface="+mn-ea"/>
                <a:cs typeface="+mn-cs"/>
              </a:rPr>
              <a:t>Outcomes</a:t>
            </a:r>
          </a:p>
        </p:txBody>
      </p:sp>
      <p:sp>
        <p:nvSpPr>
          <p:cNvPr id="7" name="Subtitle 2">
            <a:extLst>
              <a:ext uri="{FF2B5EF4-FFF2-40B4-BE49-F238E27FC236}">
                <a16:creationId xmlns:a16="http://schemas.microsoft.com/office/drawing/2014/main" id="{6F183EDC-79C4-E68E-4103-EE519F83B458}"/>
              </a:ext>
            </a:extLst>
          </p:cNvPr>
          <p:cNvSpPr txBox="1">
            <a:spLocks/>
          </p:cNvSpPr>
          <p:nvPr/>
        </p:nvSpPr>
        <p:spPr>
          <a:xfrm>
            <a:off x="10320500" y="637438"/>
            <a:ext cx="1292773" cy="71771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a:ea typeface="+mn-ea"/>
                <a:cs typeface="+mn-cs"/>
              </a:rPr>
              <a:t>Impact</a:t>
            </a:r>
          </a:p>
        </p:txBody>
      </p:sp>
      <p:sp>
        <p:nvSpPr>
          <p:cNvPr id="9" name="TextBox 8">
            <a:extLst>
              <a:ext uri="{FF2B5EF4-FFF2-40B4-BE49-F238E27FC236}">
                <a16:creationId xmlns:a16="http://schemas.microsoft.com/office/drawing/2014/main" id="{F463DC8F-7F38-35A3-4E9B-DD51042A03FC}"/>
              </a:ext>
            </a:extLst>
          </p:cNvPr>
          <p:cNvSpPr txBox="1"/>
          <p:nvPr/>
        </p:nvSpPr>
        <p:spPr>
          <a:xfrm>
            <a:off x="-10958" y="4933893"/>
            <a:ext cx="2298481" cy="120032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SSNC core components/ systems components</a:t>
            </a:r>
          </a:p>
        </p:txBody>
      </p:sp>
      <p:sp>
        <p:nvSpPr>
          <p:cNvPr id="15" name="Rectangle 14">
            <a:extLst>
              <a:ext uri="{FF2B5EF4-FFF2-40B4-BE49-F238E27FC236}">
                <a16:creationId xmlns:a16="http://schemas.microsoft.com/office/drawing/2014/main" id="{4A312BF2-3F67-2351-0E35-5DA4CF931CE7}"/>
              </a:ext>
            </a:extLst>
          </p:cNvPr>
          <p:cNvSpPr/>
          <p:nvPr/>
        </p:nvSpPr>
        <p:spPr>
          <a:xfrm>
            <a:off x="9855958" y="1191436"/>
            <a:ext cx="2113892" cy="5666564"/>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D4767238-7A0E-5E2B-1BC9-5A584254445C}"/>
              </a:ext>
            </a:extLst>
          </p:cNvPr>
          <p:cNvSpPr/>
          <p:nvPr/>
        </p:nvSpPr>
        <p:spPr>
          <a:xfrm>
            <a:off x="7412302" y="1191436"/>
            <a:ext cx="2113892" cy="5642734"/>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BA5B71BB-C1D9-8AAE-54CF-D66E69E58FF6}"/>
              </a:ext>
            </a:extLst>
          </p:cNvPr>
          <p:cNvSpPr/>
          <p:nvPr/>
        </p:nvSpPr>
        <p:spPr>
          <a:xfrm>
            <a:off x="4968647" y="2709258"/>
            <a:ext cx="2113892" cy="4124912"/>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Rectangle 17">
            <a:extLst>
              <a:ext uri="{FF2B5EF4-FFF2-40B4-BE49-F238E27FC236}">
                <a16:creationId xmlns:a16="http://schemas.microsoft.com/office/drawing/2014/main" id="{237EDB42-94DD-6D3E-09C8-7E1B1747A7D4}"/>
              </a:ext>
            </a:extLst>
          </p:cNvPr>
          <p:cNvSpPr/>
          <p:nvPr/>
        </p:nvSpPr>
        <p:spPr>
          <a:xfrm>
            <a:off x="2524992" y="2709258"/>
            <a:ext cx="2113892" cy="4124912"/>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026" name="Picture 2" descr="Worldwide ">
            <a:extLst>
              <a:ext uri="{FF2B5EF4-FFF2-40B4-BE49-F238E27FC236}">
                <a16:creationId xmlns:a16="http://schemas.microsoft.com/office/drawing/2014/main" id="{DB9A5460-D474-605D-EC23-543448D125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4022" y="1831498"/>
            <a:ext cx="970455" cy="9704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spital ">
            <a:extLst>
              <a:ext uri="{FF2B5EF4-FFF2-40B4-BE49-F238E27FC236}">
                <a16:creationId xmlns:a16="http://schemas.microsoft.com/office/drawing/2014/main" id="{316F3F51-818F-28E5-1FD9-BB10544141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2441" y="5376657"/>
            <a:ext cx="938924" cy="93892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ronavirus ">
            <a:extLst>
              <a:ext uri="{FF2B5EF4-FFF2-40B4-BE49-F238E27FC236}">
                <a16:creationId xmlns:a16="http://schemas.microsoft.com/office/drawing/2014/main" id="{1F7C0A76-FF4D-1B8B-3BC6-F7A3C855FD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26061" y="3560882"/>
            <a:ext cx="970455" cy="970455"/>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2EB81A43-10DF-BC3B-75E5-27F6AF51AC37}"/>
              </a:ext>
            </a:extLst>
          </p:cNvPr>
          <p:cNvSpPr txBox="1"/>
          <p:nvPr/>
        </p:nvSpPr>
        <p:spPr>
          <a:xfrm>
            <a:off x="7516635" y="4561757"/>
            <a:ext cx="188212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National/Country</a:t>
            </a:r>
          </a:p>
        </p:txBody>
      </p:sp>
      <p:sp>
        <p:nvSpPr>
          <p:cNvPr id="21" name="TextBox 20">
            <a:extLst>
              <a:ext uri="{FF2B5EF4-FFF2-40B4-BE49-F238E27FC236}">
                <a16:creationId xmlns:a16="http://schemas.microsoft.com/office/drawing/2014/main" id="{B9613BF6-28FD-03C2-085F-D9CCEBAAFCCD}"/>
              </a:ext>
            </a:extLst>
          </p:cNvPr>
          <p:cNvSpPr txBox="1"/>
          <p:nvPr/>
        </p:nvSpPr>
        <p:spPr>
          <a:xfrm>
            <a:off x="7510842" y="6277007"/>
            <a:ext cx="188212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Hospital</a:t>
            </a:r>
          </a:p>
        </p:txBody>
      </p:sp>
      <p:sp>
        <p:nvSpPr>
          <p:cNvPr id="23" name="TextBox 22">
            <a:extLst>
              <a:ext uri="{FF2B5EF4-FFF2-40B4-BE49-F238E27FC236}">
                <a16:creationId xmlns:a16="http://schemas.microsoft.com/office/drawing/2014/main" id="{A5077183-4E7A-3CD1-2669-8E485DF0FDE3}"/>
              </a:ext>
            </a:extLst>
          </p:cNvPr>
          <p:cNvSpPr txBox="1"/>
          <p:nvPr/>
        </p:nvSpPr>
        <p:spPr>
          <a:xfrm>
            <a:off x="7528189" y="2801953"/>
            <a:ext cx="188212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Global</a:t>
            </a:r>
          </a:p>
        </p:txBody>
      </p:sp>
      <p:sp>
        <p:nvSpPr>
          <p:cNvPr id="24" name="TextBox 23">
            <a:extLst>
              <a:ext uri="{FF2B5EF4-FFF2-40B4-BE49-F238E27FC236}">
                <a16:creationId xmlns:a16="http://schemas.microsoft.com/office/drawing/2014/main" id="{4DB1D828-8C6A-B67D-0752-A251BE07A5B6}"/>
              </a:ext>
            </a:extLst>
          </p:cNvPr>
          <p:cNvSpPr txBox="1"/>
          <p:nvPr/>
        </p:nvSpPr>
        <p:spPr>
          <a:xfrm>
            <a:off x="9971843" y="4179196"/>
            <a:ext cx="188212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Reduction in newborn mortality!</a:t>
            </a:r>
          </a:p>
        </p:txBody>
      </p:sp>
      <p:pic>
        <p:nvPicPr>
          <p:cNvPr id="1032" name="Picture 8" descr="Reproductive ">
            <a:extLst>
              <a:ext uri="{FF2B5EF4-FFF2-40B4-BE49-F238E27FC236}">
                <a16:creationId xmlns:a16="http://schemas.microsoft.com/office/drawing/2014/main" id="{917E36DF-77CC-EFEC-7FB5-F312D44F23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85634" y="3005770"/>
            <a:ext cx="1054538" cy="1054538"/>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Arrow Connector 25">
            <a:extLst>
              <a:ext uri="{FF2B5EF4-FFF2-40B4-BE49-F238E27FC236}">
                <a16:creationId xmlns:a16="http://schemas.microsoft.com/office/drawing/2014/main" id="{ED5CE45C-3AAD-AEE8-F18A-C8CFF3F67C4D}"/>
              </a:ext>
            </a:extLst>
          </p:cNvPr>
          <p:cNvCxnSpPr>
            <a:cxnSpLocks/>
          </p:cNvCxnSpPr>
          <p:nvPr/>
        </p:nvCxnSpPr>
        <p:spPr>
          <a:xfrm>
            <a:off x="9526194" y="4737677"/>
            <a:ext cx="329764" cy="11915"/>
          </a:xfrm>
          <a:prstGeom prst="straightConnector1">
            <a:avLst/>
          </a:prstGeom>
          <a:ln w="63500">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D371E858-53F5-D451-2CBD-9B1F00AB1553}"/>
              </a:ext>
            </a:extLst>
          </p:cNvPr>
          <p:cNvCxnSpPr>
            <a:cxnSpLocks/>
            <a:stCxn id="17" idx="3"/>
          </p:cNvCxnSpPr>
          <p:nvPr/>
        </p:nvCxnSpPr>
        <p:spPr>
          <a:xfrm>
            <a:off x="7082539" y="4771714"/>
            <a:ext cx="381932" cy="0"/>
          </a:xfrm>
          <a:prstGeom prst="straightConnector1">
            <a:avLst/>
          </a:prstGeom>
          <a:ln w="63500">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79E0F5F-82F3-D925-60CB-DE257F5A3E66}"/>
              </a:ext>
            </a:extLst>
          </p:cNvPr>
          <p:cNvCxnSpPr>
            <a:stCxn id="18" idx="3"/>
            <a:endCxn id="17" idx="1"/>
          </p:cNvCxnSpPr>
          <p:nvPr/>
        </p:nvCxnSpPr>
        <p:spPr>
          <a:xfrm>
            <a:off x="4638884" y="4771714"/>
            <a:ext cx="329763" cy="0"/>
          </a:xfrm>
          <a:prstGeom prst="straightConnector1">
            <a:avLst/>
          </a:prstGeom>
          <a:ln w="63500">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2060A62C-24A2-6A88-083E-C24DA4638DCC}"/>
              </a:ext>
            </a:extLst>
          </p:cNvPr>
          <p:cNvCxnSpPr>
            <a:cxnSpLocks/>
            <a:endCxn id="18" idx="1"/>
          </p:cNvCxnSpPr>
          <p:nvPr/>
        </p:nvCxnSpPr>
        <p:spPr>
          <a:xfrm>
            <a:off x="2158580" y="4749592"/>
            <a:ext cx="366412" cy="22122"/>
          </a:xfrm>
          <a:prstGeom prst="straightConnector1">
            <a:avLst/>
          </a:prstGeom>
          <a:ln w="63500">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034" name="Picture 10" descr="Iteration ">
            <a:extLst>
              <a:ext uri="{FF2B5EF4-FFF2-40B4-BE49-F238E27FC236}">
                <a16:creationId xmlns:a16="http://schemas.microsoft.com/office/drawing/2014/main" id="{5F55D01F-1E5E-C573-AEEB-0D9852C4BA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25112" y="3326990"/>
            <a:ext cx="1625600" cy="146663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Oximeter ">
            <a:extLst>
              <a:ext uri="{FF2B5EF4-FFF2-40B4-BE49-F238E27FC236}">
                <a16:creationId xmlns:a16="http://schemas.microsoft.com/office/drawing/2014/main" id="{D7BE1CE4-42F9-634B-4CC4-5EB37E5FE4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8532" y="3055964"/>
            <a:ext cx="736298" cy="664297"/>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179E1D4E-D3B5-9405-2E32-210F8C64B8F5}"/>
              </a:ext>
            </a:extLst>
          </p:cNvPr>
          <p:cNvSpPr txBox="1"/>
          <p:nvPr/>
        </p:nvSpPr>
        <p:spPr>
          <a:xfrm>
            <a:off x="2550790" y="3674673"/>
            <a:ext cx="188212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Life saving technology</a:t>
            </a:r>
          </a:p>
        </p:txBody>
      </p:sp>
      <p:pic>
        <p:nvPicPr>
          <p:cNvPr id="1038" name="Picture 14" descr="Education ">
            <a:extLst>
              <a:ext uri="{FF2B5EF4-FFF2-40B4-BE49-F238E27FC236}">
                <a16:creationId xmlns:a16="http://schemas.microsoft.com/office/drawing/2014/main" id="{D1CCE8D3-3503-15C4-6F98-BF1439FF093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74381" y="4288641"/>
            <a:ext cx="648158" cy="584776"/>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345607BA-CF0C-39BC-08EB-706D187332CE}"/>
              </a:ext>
            </a:extLst>
          </p:cNvPr>
          <p:cNvSpPr txBox="1"/>
          <p:nvPr/>
        </p:nvSpPr>
        <p:spPr>
          <a:xfrm>
            <a:off x="2538728" y="4853691"/>
            <a:ext cx="188212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Education ecosystem</a:t>
            </a:r>
          </a:p>
        </p:txBody>
      </p:sp>
      <p:sp>
        <p:nvSpPr>
          <p:cNvPr id="41" name="TextBox 40">
            <a:extLst>
              <a:ext uri="{FF2B5EF4-FFF2-40B4-BE49-F238E27FC236}">
                <a16:creationId xmlns:a16="http://schemas.microsoft.com/office/drawing/2014/main" id="{5CF85D72-DFEA-8EC8-51D4-1590AAEDD4B3}"/>
              </a:ext>
            </a:extLst>
          </p:cNvPr>
          <p:cNvSpPr txBox="1"/>
          <p:nvPr/>
        </p:nvSpPr>
        <p:spPr>
          <a:xfrm>
            <a:off x="2522198" y="6121790"/>
            <a:ext cx="188212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Data-driven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action</a:t>
            </a:r>
          </a:p>
        </p:txBody>
      </p:sp>
      <p:pic>
        <p:nvPicPr>
          <p:cNvPr id="1040" name="Picture 16" descr="Monitor ">
            <a:extLst>
              <a:ext uri="{FF2B5EF4-FFF2-40B4-BE49-F238E27FC236}">
                <a16:creationId xmlns:a16="http://schemas.microsoft.com/office/drawing/2014/main" id="{E665DF7F-C617-051B-CCB1-E3608D78BBE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8579" y="5592919"/>
            <a:ext cx="659440" cy="594954"/>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41">
            <a:extLst>
              <a:ext uri="{FF2B5EF4-FFF2-40B4-BE49-F238E27FC236}">
                <a16:creationId xmlns:a16="http://schemas.microsoft.com/office/drawing/2014/main" id="{17331DA7-6D2A-7BCC-3666-B55A675C873E}"/>
              </a:ext>
            </a:extLst>
          </p:cNvPr>
          <p:cNvSpPr/>
          <p:nvPr/>
        </p:nvSpPr>
        <p:spPr>
          <a:xfrm>
            <a:off x="2782714" y="2822771"/>
            <a:ext cx="1357278" cy="3883794"/>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3" name="TextBox 42">
            <a:extLst>
              <a:ext uri="{FF2B5EF4-FFF2-40B4-BE49-F238E27FC236}">
                <a16:creationId xmlns:a16="http://schemas.microsoft.com/office/drawing/2014/main" id="{CBF7EC9D-606A-50DC-3117-D2AC5DE2B741}"/>
              </a:ext>
            </a:extLst>
          </p:cNvPr>
          <p:cNvSpPr txBox="1"/>
          <p:nvPr/>
        </p:nvSpPr>
        <p:spPr>
          <a:xfrm rot="5400000">
            <a:off x="2525152" y="4704140"/>
            <a:ext cx="3769179"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Multi-level sustainable systems change</a:t>
            </a:r>
          </a:p>
        </p:txBody>
      </p:sp>
      <p:sp>
        <p:nvSpPr>
          <p:cNvPr id="44" name="TextBox 43">
            <a:extLst>
              <a:ext uri="{FF2B5EF4-FFF2-40B4-BE49-F238E27FC236}">
                <a16:creationId xmlns:a16="http://schemas.microsoft.com/office/drawing/2014/main" id="{B74E5570-FC6F-38DE-9C2F-FDD1F3E7F832}"/>
              </a:ext>
            </a:extLst>
          </p:cNvPr>
          <p:cNvSpPr txBox="1"/>
          <p:nvPr/>
        </p:nvSpPr>
        <p:spPr>
          <a:xfrm>
            <a:off x="5096852" y="5238363"/>
            <a:ext cx="188212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How strategies interact with implementation factors</a:t>
            </a:r>
          </a:p>
        </p:txBody>
      </p:sp>
      <p:sp>
        <p:nvSpPr>
          <p:cNvPr id="11" name="Subtitle 2">
            <a:extLst>
              <a:ext uri="{FF2B5EF4-FFF2-40B4-BE49-F238E27FC236}">
                <a16:creationId xmlns:a16="http://schemas.microsoft.com/office/drawing/2014/main" id="{5C4DF1AE-8C3C-6596-B81C-518396017496}"/>
              </a:ext>
            </a:extLst>
          </p:cNvPr>
          <p:cNvSpPr txBox="1">
            <a:spLocks/>
          </p:cNvSpPr>
          <p:nvPr/>
        </p:nvSpPr>
        <p:spPr>
          <a:xfrm>
            <a:off x="0" y="437365"/>
            <a:ext cx="2268591" cy="71771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200"/>
              </a:spcBef>
              <a:spcAft>
                <a:spcPts val="200"/>
              </a:spcAft>
              <a:buSzPct val="125000"/>
              <a:buFont typeface="Arial" panose="020B0604020202020204" pitchFamily="34" charset="0"/>
              <a:buChar char="•"/>
              <a:defRPr sz="2600" kern="1200">
                <a:solidFill>
                  <a:srgbClr val="333333"/>
                </a:solidFill>
                <a:latin typeface="+mn-lt"/>
                <a:ea typeface="+mn-ea"/>
                <a:cs typeface="+mn-cs"/>
              </a:defRPr>
            </a:lvl1pPr>
            <a:lvl2pPr marL="685800" indent="-228600" algn="l" defTabSz="914400" rtl="0" eaLnBrk="1" latinLnBrk="0" hangingPunct="1">
              <a:lnSpc>
                <a:spcPct val="100000"/>
              </a:lnSpc>
              <a:spcBef>
                <a:spcPts val="200"/>
              </a:spcBef>
              <a:spcAft>
                <a:spcPts val="200"/>
              </a:spcAft>
              <a:buSzPct val="100000"/>
              <a:buFont typeface="Courier New" panose="02070309020205020404" pitchFamily="49" charset="0"/>
              <a:buChar char="o"/>
              <a:defRPr sz="2400" kern="1200">
                <a:solidFill>
                  <a:srgbClr val="333333"/>
                </a:solidFill>
                <a:latin typeface="+mn-lt"/>
                <a:ea typeface="+mn-ea"/>
                <a:cs typeface="+mn-cs"/>
              </a:defRPr>
            </a:lvl2pPr>
            <a:lvl3pPr marL="1143000" indent="-228600" algn="l" defTabSz="914400" rtl="0" eaLnBrk="1" latinLnBrk="0" hangingPunct="1">
              <a:lnSpc>
                <a:spcPct val="100000"/>
              </a:lnSpc>
              <a:spcBef>
                <a:spcPts val="200"/>
              </a:spcBef>
              <a:spcAft>
                <a:spcPts val="200"/>
              </a:spcAft>
              <a:buFont typeface="Wingdings" pitchFamily="2" charset="2"/>
              <a:buChar char="§"/>
              <a:defRPr sz="2000" kern="1200">
                <a:solidFill>
                  <a:srgbClr val="333333"/>
                </a:solidFill>
                <a:latin typeface="+mn-lt"/>
                <a:ea typeface="+mn-ea"/>
                <a:cs typeface="+mn-cs"/>
              </a:defRPr>
            </a:lvl3pPr>
            <a:lvl4pPr marL="1600200" indent="-228600" algn="l" defTabSz="914400" rtl="0" eaLnBrk="1" latinLnBrk="0" hangingPunct="1">
              <a:lnSpc>
                <a:spcPct val="100000"/>
              </a:lnSpc>
              <a:spcBef>
                <a:spcPts val="200"/>
              </a:spcBef>
              <a:spcAft>
                <a:spcPts val="200"/>
              </a:spcAft>
              <a:buSzPct val="115000"/>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0" hangingPunct="1">
              <a:lnSpc>
                <a:spcPct val="100000"/>
              </a:lnSpc>
              <a:spcBef>
                <a:spcPts val="200"/>
              </a:spcBef>
              <a:spcAft>
                <a:spcPts val="200"/>
              </a:spcAft>
              <a:buFont typeface="Courier New" panose="02070309020205020404" pitchFamily="49" charset="0"/>
              <a:buChar char="o"/>
              <a:defRPr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200"/>
              </a:spcBef>
              <a:spcAft>
                <a:spcPts val="200"/>
              </a:spcAft>
              <a:buClrTx/>
              <a:buSzPct val="125000"/>
              <a:buFont typeface="Arial" panose="020B0604020202020204" pitchFamily="34" charset="0"/>
              <a:buNone/>
              <a:tabLst/>
              <a:defRPr/>
            </a:pPr>
            <a:r>
              <a:rPr kumimoji="0" lang="en-US" sz="2000" b="0" i="0" u="none" strike="noStrike" kern="1200" cap="none" spc="0" normalizeH="0" baseline="0" noProof="0" dirty="0">
                <a:ln>
                  <a:noFill/>
                </a:ln>
                <a:solidFill>
                  <a:srgbClr val="333333"/>
                </a:solidFill>
                <a:effectLst/>
                <a:uLnTx/>
                <a:uFillTx/>
                <a:latin typeface="Arial" panose="020B0604020202020204"/>
                <a:ea typeface="+mn-ea"/>
                <a:cs typeface="+mn-cs"/>
              </a:rPr>
              <a:t>Implementation Factors</a:t>
            </a:r>
          </a:p>
        </p:txBody>
      </p:sp>
      <p:sp>
        <p:nvSpPr>
          <p:cNvPr id="12" name="Subtitle 2">
            <a:extLst>
              <a:ext uri="{FF2B5EF4-FFF2-40B4-BE49-F238E27FC236}">
                <a16:creationId xmlns:a16="http://schemas.microsoft.com/office/drawing/2014/main" id="{8E3102CD-9B0D-8513-AEBF-223F068E5ACB}"/>
              </a:ext>
            </a:extLst>
          </p:cNvPr>
          <p:cNvSpPr txBox="1">
            <a:spLocks/>
          </p:cNvSpPr>
          <p:nvPr/>
        </p:nvSpPr>
        <p:spPr>
          <a:xfrm>
            <a:off x="2170944" y="2031097"/>
            <a:ext cx="2006874" cy="71771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Strategies used by NEST360</a:t>
            </a:r>
          </a:p>
        </p:txBody>
      </p:sp>
      <p:sp>
        <p:nvSpPr>
          <p:cNvPr id="13" name="Subtitle 2">
            <a:extLst>
              <a:ext uri="{FF2B5EF4-FFF2-40B4-BE49-F238E27FC236}">
                <a16:creationId xmlns:a16="http://schemas.microsoft.com/office/drawing/2014/main" id="{765B6BC1-0B48-1386-6AFE-AC2AD0B4F070}"/>
              </a:ext>
            </a:extLst>
          </p:cNvPr>
          <p:cNvSpPr txBox="1">
            <a:spLocks/>
          </p:cNvSpPr>
          <p:nvPr/>
        </p:nvSpPr>
        <p:spPr>
          <a:xfrm>
            <a:off x="5151522" y="2224030"/>
            <a:ext cx="1739461" cy="71771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Mechanisms</a:t>
            </a:r>
          </a:p>
        </p:txBody>
      </p:sp>
      <p:sp>
        <p:nvSpPr>
          <p:cNvPr id="22" name="Subtitle 2">
            <a:extLst>
              <a:ext uri="{FF2B5EF4-FFF2-40B4-BE49-F238E27FC236}">
                <a16:creationId xmlns:a16="http://schemas.microsoft.com/office/drawing/2014/main" id="{B8BC97DB-E1A0-F8A4-A184-9375CCA76BE6}"/>
              </a:ext>
            </a:extLst>
          </p:cNvPr>
          <p:cNvSpPr txBox="1">
            <a:spLocks/>
          </p:cNvSpPr>
          <p:nvPr/>
        </p:nvSpPr>
        <p:spPr>
          <a:xfrm>
            <a:off x="7573297" y="848002"/>
            <a:ext cx="1739462" cy="71771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Outcomes</a:t>
            </a:r>
          </a:p>
        </p:txBody>
      </p:sp>
      <p:sp>
        <p:nvSpPr>
          <p:cNvPr id="25" name="Subtitle 2">
            <a:extLst>
              <a:ext uri="{FF2B5EF4-FFF2-40B4-BE49-F238E27FC236}">
                <a16:creationId xmlns:a16="http://schemas.microsoft.com/office/drawing/2014/main" id="{FD63F61E-3F56-8C2B-EAC7-B36BCE2F00BF}"/>
              </a:ext>
            </a:extLst>
          </p:cNvPr>
          <p:cNvSpPr txBox="1">
            <a:spLocks/>
          </p:cNvSpPr>
          <p:nvPr/>
        </p:nvSpPr>
        <p:spPr>
          <a:xfrm>
            <a:off x="10232578" y="758043"/>
            <a:ext cx="1292773" cy="71771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Impact</a:t>
            </a:r>
          </a:p>
        </p:txBody>
      </p:sp>
      <p:sp>
        <p:nvSpPr>
          <p:cNvPr id="27" name="TextBox 26">
            <a:extLst>
              <a:ext uri="{FF2B5EF4-FFF2-40B4-BE49-F238E27FC236}">
                <a16:creationId xmlns:a16="http://schemas.microsoft.com/office/drawing/2014/main" id="{F5D33CBE-A2DF-6DE0-8D0C-4863EC954861}"/>
              </a:ext>
            </a:extLst>
          </p:cNvPr>
          <p:cNvSpPr txBox="1"/>
          <p:nvPr/>
        </p:nvSpPr>
        <p:spPr>
          <a:xfrm>
            <a:off x="2337585" y="300483"/>
            <a:ext cx="7519917"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i="0" u="none" strike="noStrike" kern="1200" cap="none" spc="0" normalizeH="0" baseline="0" noProof="0" dirty="0">
                <a:ln>
                  <a:noFill/>
                </a:ln>
                <a:solidFill>
                  <a:schemeClr val="bg2"/>
                </a:solidFill>
                <a:effectLst/>
                <a:uLnTx/>
                <a:uFillTx/>
                <a:latin typeface="Arial" panose="020B0604020202020204"/>
                <a:ea typeface="+mn-ea"/>
                <a:cs typeface="+mn-cs"/>
              </a:rPr>
              <a:t>NEST360 Implementation Model: Tier 1</a:t>
            </a:r>
          </a:p>
        </p:txBody>
      </p:sp>
      <p:sp>
        <p:nvSpPr>
          <p:cNvPr id="48" name="Rectangle 47">
            <a:extLst>
              <a:ext uri="{FF2B5EF4-FFF2-40B4-BE49-F238E27FC236}">
                <a16:creationId xmlns:a16="http://schemas.microsoft.com/office/drawing/2014/main" id="{F557D13B-C9DD-0C44-6E1F-768B8EF22156}"/>
              </a:ext>
            </a:extLst>
          </p:cNvPr>
          <p:cNvSpPr/>
          <p:nvPr/>
        </p:nvSpPr>
        <p:spPr>
          <a:xfrm>
            <a:off x="2434964" y="1079710"/>
            <a:ext cx="4727776" cy="873416"/>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Intervention: Evidence-based small and sick newborn care in Level 2+ units</a:t>
            </a:r>
          </a:p>
        </p:txBody>
      </p:sp>
      <p:cxnSp>
        <p:nvCxnSpPr>
          <p:cNvPr id="53" name="Straight Arrow Connector 52">
            <a:extLst>
              <a:ext uri="{FF2B5EF4-FFF2-40B4-BE49-F238E27FC236}">
                <a16:creationId xmlns:a16="http://schemas.microsoft.com/office/drawing/2014/main" id="{10870ECC-A0D4-59E3-13C8-CC0BE5722A54}"/>
              </a:ext>
            </a:extLst>
          </p:cNvPr>
          <p:cNvCxnSpPr>
            <a:cxnSpLocks/>
          </p:cNvCxnSpPr>
          <p:nvPr/>
        </p:nvCxnSpPr>
        <p:spPr>
          <a:xfrm>
            <a:off x="4359797" y="1963817"/>
            <a:ext cx="896" cy="778253"/>
          </a:xfrm>
          <a:prstGeom prst="straightConnector1">
            <a:avLst/>
          </a:prstGeom>
          <a:ln w="63500">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3" name="Picture 2" descr="A diagram of a circular structure&#10;&#10;AI-generated content may be incorrect.">
            <a:extLst>
              <a:ext uri="{FF2B5EF4-FFF2-40B4-BE49-F238E27FC236}">
                <a16:creationId xmlns:a16="http://schemas.microsoft.com/office/drawing/2014/main" id="{58385062-2BD5-2856-73F7-4ADC311E74FA}"/>
              </a:ext>
            </a:extLst>
          </p:cNvPr>
          <p:cNvPicPr>
            <a:picLocks noChangeAspect="1"/>
          </p:cNvPicPr>
          <p:nvPr/>
        </p:nvPicPr>
        <p:blipFill>
          <a:blip r:embed="rId11"/>
          <a:stretch>
            <a:fillRect/>
          </a:stretch>
        </p:blipFill>
        <p:spPr>
          <a:xfrm>
            <a:off x="81337" y="2667319"/>
            <a:ext cx="2105883" cy="2105883"/>
          </a:xfrm>
          <a:prstGeom prst="rect">
            <a:avLst/>
          </a:prstGeom>
        </p:spPr>
      </p:pic>
    </p:spTree>
    <p:extLst>
      <p:ext uri="{BB962C8B-B14F-4D97-AF65-F5344CB8AC3E}">
        <p14:creationId xmlns:p14="http://schemas.microsoft.com/office/powerpoint/2010/main" val="1062765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92521-0CD5-D1FC-1D17-D2166DB1702E}"/>
            </a:ext>
          </a:extLst>
        </p:cNvPr>
        <p:cNvGrpSpPr/>
        <p:nvPr/>
      </p:nvGrpSpPr>
      <p:grpSpPr>
        <a:xfrm>
          <a:off x="0" y="0"/>
          <a:ext cx="0" cy="0"/>
          <a:chOff x="0" y="0"/>
          <a:chExt cx="0" cy="0"/>
        </a:xfrm>
      </p:grpSpPr>
      <p:pic>
        <p:nvPicPr>
          <p:cNvPr id="3" name="Picture 2" descr="A screenshot of a diagram&#10;&#10;AI-generated content may be incorrect.">
            <a:extLst>
              <a:ext uri="{FF2B5EF4-FFF2-40B4-BE49-F238E27FC236}">
                <a16:creationId xmlns:a16="http://schemas.microsoft.com/office/drawing/2014/main" id="{CA3F1609-6B01-25F7-F572-9C2178E9D410}"/>
              </a:ext>
            </a:extLst>
          </p:cNvPr>
          <p:cNvPicPr>
            <a:picLocks noChangeAspect="1"/>
          </p:cNvPicPr>
          <p:nvPr/>
        </p:nvPicPr>
        <p:blipFill>
          <a:blip r:embed="rId3"/>
          <a:srcRect t="1379"/>
          <a:stretch>
            <a:fillRect/>
          </a:stretch>
        </p:blipFill>
        <p:spPr>
          <a:xfrm>
            <a:off x="2223680" y="0"/>
            <a:ext cx="9968320" cy="6858000"/>
          </a:xfrm>
          <a:prstGeom prst="rect">
            <a:avLst/>
          </a:prstGeom>
        </p:spPr>
      </p:pic>
      <p:sp>
        <p:nvSpPr>
          <p:cNvPr id="4" name="Title 3">
            <a:extLst>
              <a:ext uri="{FF2B5EF4-FFF2-40B4-BE49-F238E27FC236}">
                <a16:creationId xmlns:a16="http://schemas.microsoft.com/office/drawing/2014/main" id="{CF4410D6-6B53-AD99-88B5-EE0A06557BCC}"/>
              </a:ext>
            </a:extLst>
          </p:cNvPr>
          <p:cNvSpPr>
            <a:spLocks noGrp="1"/>
          </p:cNvSpPr>
          <p:nvPr>
            <p:ph type="title"/>
          </p:nvPr>
        </p:nvSpPr>
        <p:spPr>
          <a:xfrm>
            <a:off x="270344" y="768350"/>
            <a:ext cx="1999037" cy="1325563"/>
          </a:xfrm>
        </p:spPr>
        <p:txBody>
          <a:bodyPr/>
          <a:lstStyle/>
          <a:p>
            <a:r>
              <a:rPr lang="en-US" dirty="0"/>
              <a:t>Tier 2</a:t>
            </a:r>
          </a:p>
        </p:txBody>
      </p:sp>
      <p:sp>
        <p:nvSpPr>
          <p:cNvPr id="7" name="Text Placeholder 4">
            <a:extLst>
              <a:ext uri="{FF2B5EF4-FFF2-40B4-BE49-F238E27FC236}">
                <a16:creationId xmlns:a16="http://schemas.microsoft.com/office/drawing/2014/main" id="{000F2B87-49B0-B821-76AD-A93470182CA9}"/>
              </a:ext>
            </a:extLst>
          </p:cNvPr>
          <p:cNvSpPr txBox="1">
            <a:spLocks/>
          </p:cNvSpPr>
          <p:nvPr/>
        </p:nvSpPr>
        <p:spPr>
          <a:xfrm>
            <a:off x="1" y="2573438"/>
            <a:ext cx="2223680" cy="290661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200"/>
              </a:spcBef>
              <a:spcAft>
                <a:spcPts val="200"/>
              </a:spcAft>
              <a:buSzPct val="125000"/>
              <a:buFont typeface="Arial" panose="020B0604020202020204" pitchFamily="34" charset="0"/>
              <a:buChar char="•"/>
              <a:defRPr sz="2600" kern="1200">
                <a:solidFill>
                  <a:srgbClr val="333333"/>
                </a:solidFill>
                <a:latin typeface="+mn-lt"/>
                <a:ea typeface="+mn-ea"/>
                <a:cs typeface="+mn-cs"/>
              </a:defRPr>
            </a:lvl1pPr>
            <a:lvl2pPr marL="685800" indent="-228600" algn="l" defTabSz="914400" rtl="0" eaLnBrk="1" latinLnBrk="0" hangingPunct="1">
              <a:lnSpc>
                <a:spcPct val="100000"/>
              </a:lnSpc>
              <a:spcBef>
                <a:spcPts val="200"/>
              </a:spcBef>
              <a:spcAft>
                <a:spcPts val="200"/>
              </a:spcAft>
              <a:buSzPct val="100000"/>
              <a:buFont typeface="Courier New" panose="02070309020205020404" pitchFamily="49" charset="0"/>
              <a:buChar char="o"/>
              <a:defRPr sz="2400" kern="1200">
                <a:solidFill>
                  <a:srgbClr val="333333"/>
                </a:solidFill>
                <a:latin typeface="+mn-lt"/>
                <a:ea typeface="+mn-ea"/>
                <a:cs typeface="+mn-cs"/>
              </a:defRPr>
            </a:lvl2pPr>
            <a:lvl3pPr marL="1143000" indent="-228600" algn="l" defTabSz="914400" rtl="0" eaLnBrk="1" latinLnBrk="0" hangingPunct="1">
              <a:lnSpc>
                <a:spcPct val="100000"/>
              </a:lnSpc>
              <a:spcBef>
                <a:spcPts val="200"/>
              </a:spcBef>
              <a:spcAft>
                <a:spcPts val="200"/>
              </a:spcAft>
              <a:buFont typeface="Wingdings" pitchFamily="2" charset="2"/>
              <a:buChar char="§"/>
              <a:defRPr sz="2000" kern="1200">
                <a:solidFill>
                  <a:srgbClr val="333333"/>
                </a:solidFill>
                <a:latin typeface="+mn-lt"/>
                <a:ea typeface="+mn-ea"/>
                <a:cs typeface="+mn-cs"/>
              </a:defRPr>
            </a:lvl3pPr>
            <a:lvl4pPr marL="1600200" indent="-228600" algn="l" defTabSz="914400" rtl="0" eaLnBrk="1" latinLnBrk="0" hangingPunct="1">
              <a:lnSpc>
                <a:spcPct val="100000"/>
              </a:lnSpc>
              <a:spcBef>
                <a:spcPts val="200"/>
              </a:spcBef>
              <a:spcAft>
                <a:spcPts val="200"/>
              </a:spcAft>
              <a:buSzPct val="115000"/>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0" hangingPunct="1">
              <a:lnSpc>
                <a:spcPct val="100000"/>
              </a:lnSpc>
              <a:spcBef>
                <a:spcPts val="200"/>
              </a:spcBef>
              <a:spcAft>
                <a:spcPts val="200"/>
              </a:spcAft>
              <a:buFont typeface="Courier New" panose="02070309020205020404" pitchFamily="49" charset="0"/>
              <a:buChar char="o"/>
              <a:defRPr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t>This is where we provide details related to implementing the NEST model, but it remains neutral in stance</a:t>
            </a:r>
          </a:p>
        </p:txBody>
      </p:sp>
      <p:sp>
        <p:nvSpPr>
          <p:cNvPr id="10" name="Rectangle 9">
            <a:extLst>
              <a:ext uri="{FF2B5EF4-FFF2-40B4-BE49-F238E27FC236}">
                <a16:creationId xmlns:a16="http://schemas.microsoft.com/office/drawing/2014/main" id="{CBFE7607-6028-E8F5-65AE-F346983D32AB}"/>
              </a:ext>
            </a:extLst>
          </p:cNvPr>
          <p:cNvSpPr/>
          <p:nvPr/>
        </p:nvSpPr>
        <p:spPr>
          <a:xfrm>
            <a:off x="4160932" y="1817057"/>
            <a:ext cx="3069758" cy="127321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 expanded list of implementing factors organized by SSNC implementing factors </a:t>
            </a:r>
          </a:p>
        </p:txBody>
      </p:sp>
      <p:pic>
        <p:nvPicPr>
          <p:cNvPr id="5" name="Picture 4" descr="A diagram of a circular structure&#10;&#10;AI-generated content may be incorrect.">
            <a:extLst>
              <a:ext uri="{FF2B5EF4-FFF2-40B4-BE49-F238E27FC236}">
                <a16:creationId xmlns:a16="http://schemas.microsoft.com/office/drawing/2014/main" id="{06739BD0-4712-E7EC-9A2C-16E307380359}"/>
              </a:ext>
            </a:extLst>
          </p:cNvPr>
          <p:cNvPicPr>
            <a:picLocks noChangeAspect="1"/>
          </p:cNvPicPr>
          <p:nvPr/>
        </p:nvPicPr>
        <p:blipFill>
          <a:blip r:embed="rId4"/>
          <a:stretch>
            <a:fillRect/>
          </a:stretch>
        </p:blipFill>
        <p:spPr>
          <a:xfrm>
            <a:off x="7378262" y="2342202"/>
            <a:ext cx="4175023" cy="4175023"/>
          </a:xfrm>
          <a:prstGeom prst="rect">
            <a:avLst/>
          </a:prstGeom>
        </p:spPr>
      </p:pic>
    </p:spTree>
    <p:extLst>
      <p:ext uri="{BB962C8B-B14F-4D97-AF65-F5344CB8AC3E}">
        <p14:creationId xmlns:p14="http://schemas.microsoft.com/office/powerpoint/2010/main" val="50834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A44AD-68BD-BF27-691C-0CDE2FF41B18}"/>
            </a:ext>
          </a:extLst>
        </p:cNvPr>
        <p:cNvGrpSpPr/>
        <p:nvPr/>
      </p:nvGrpSpPr>
      <p:grpSpPr>
        <a:xfrm>
          <a:off x="0" y="0"/>
          <a:ext cx="0" cy="0"/>
          <a:chOff x="0" y="0"/>
          <a:chExt cx="0" cy="0"/>
        </a:xfrm>
      </p:grpSpPr>
      <p:pic>
        <p:nvPicPr>
          <p:cNvPr id="5" name="Picture 4" descr="A screenshot of a diagram&#10;&#10;AI-generated content may be incorrect.">
            <a:extLst>
              <a:ext uri="{FF2B5EF4-FFF2-40B4-BE49-F238E27FC236}">
                <a16:creationId xmlns:a16="http://schemas.microsoft.com/office/drawing/2014/main" id="{F8747E80-8188-5DA5-43B2-1145CBB0CCF2}"/>
              </a:ext>
            </a:extLst>
          </p:cNvPr>
          <p:cNvPicPr>
            <a:picLocks noChangeAspect="1"/>
          </p:cNvPicPr>
          <p:nvPr/>
        </p:nvPicPr>
        <p:blipFill>
          <a:blip r:embed="rId2"/>
          <a:srcRect t="1379"/>
          <a:stretch>
            <a:fillRect/>
          </a:stretch>
        </p:blipFill>
        <p:spPr>
          <a:xfrm>
            <a:off x="2223680" y="0"/>
            <a:ext cx="9968320" cy="6858000"/>
          </a:xfrm>
          <a:prstGeom prst="rect">
            <a:avLst/>
          </a:prstGeom>
        </p:spPr>
      </p:pic>
      <p:sp>
        <p:nvSpPr>
          <p:cNvPr id="4" name="Title 3">
            <a:extLst>
              <a:ext uri="{FF2B5EF4-FFF2-40B4-BE49-F238E27FC236}">
                <a16:creationId xmlns:a16="http://schemas.microsoft.com/office/drawing/2014/main" id="{F8581CBD-E71B-BA0B-2FAA-1E1D392F4C2B}"/>
              </a:ext>
            </a:extLst>
          </p:cNvPr>
          <p:cNvSpPr>
            <a:spLocks noGrp="1"/>
          </p:cNvSpPr>
          <p:nvPr>
            <p:ph type="title"/>
          </p:nvPr>
        </p:nvSpPr>
        <p:spPr>
          <a:xfrm>
            <a:off x="270344" y="768350"/>
            <a:ext cx="1999037" cy="1325563"/>
          </a:xfrm>
        </p:spPr>
        <p:txBody>
          <a:bodyPr/>
          <a:lstStyle/>
          <a:p>
            <a:r>
              <a:rPr lang="en-US" dirty="0"/>
              <a:t>Tier 2</a:t>
            </a:r>
          </a:p>
        </p:txBody>
      </p:sp>
      <p:sp>
        <p:nvSpPr>
          <p:cNvPr id="10" name="Rectangle 9">
            <a:extLst>
              <a:ext uri="{FF2B5EF4-FFF2-40B4-BE49-F238E27FC236}">
                <a16:creationId xmlns:a16="http://schemas.microsoft.com/office/drawing/2014/main" id="{DB04C86D-44AD-422A-CF5B-C21586DA8064}"/>
              </a:ext>
            </a:extLst>
          </p:cNvPr>
          <p:cNvSpPr/>
          <p:nvPr/>
        </p:nvSpPr>
        <p:spPr>
          <a:xfrm>
            <a:off x="5897939" y="2014469"/>
            <a:ext cx="2919286" cy="108912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Broad categories for implementation strategies</a:t>
            </a:r>
          </a:p>
        </p:txBody>
      </p:sp>
      <p:sp>
        <p:nvSpPr>
          <p:cNvPr id="3" name="Text Placeholder 4">
            <a:extLst>
              <a:ext uri="{FF2B5EF4-FFF2-40B4-BE49-F238E27FC236}">
                <a16:creationId xmlns:a16="http://schemas.microsoft.com/office/drawing/2014/main" id="{35A522AB-FDE6-14E1-09E3-9BFFC37D546B}"/>
              </a:ext>
            </a:extLst>
          </p:cNvPr>
          <p:cNvSpPr txBox="1">
            <a:spLocks/>
          </p:cNvSpPr>
          <p:nvPr/>
        </p:nvSpPr>
        <p:spPr>
          <a:xfrm>
            <a:off x="1" y="2573438"/>
            <a:ext cx="2223680" cy="290661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200"/>
              </a:spcBef>
              <a:spcAft>
                <a:spcPts val="200"/>
              </a:spcAft>
              <a:buSzPct val="125000"/>
              <a:buFont typeface="Arial" panose="020B0604020202020204" pitchFamily="34" charset="0"/>
              <a:buChar char="•"/>
              <a:defRPr sz="2600" kern="1200">
                <a:solidFill>
                  <a:srgbClr val="333333"/>
                </a:solidFill>
                <a:latin typeface="+mn-lt"/>
                <a:ea typeface="+mn-ea"/>
                <a:cs typeface="+mn-cs"/>
              </a:defRPr>
            </a:lvl1pPr>
            <a:lvl2pPr marL="685800" indent="-228600" algn="l" defTabSz="914400" rtl="0" eaLnBrk="1" latinLnBrk="0" hangingPunct="1">
              <a:lnSpc>
                <a:spcPct val="100000"/>
              </a:lnSpc>
              <a:spcBef>
                <a:spcPts val="200"/>
              </a:spcBef>
              <a:spcAft>
                <a:spcPts val="200"/>
              </a:spcAft>
              <a:buSzPct val="100000"/>
              <a:buFont typeface="Courier New" panose="02070309020205020404" pitchFamily="49" charset="0"/>
              <a:buChar char="o"/>
              <a:defRPr sz="2400" kern="1200">
                <a:solidFill>
                  <a:srgbClr val="333333"/>
                </a:solidFill>
                <a:latin typeface="+mn-lt"/>
                <a:ea typeface="+mn-ea"/>
                <a:cs typeface="+mn-cs"/>
              </a:defRPr>
            </a:lvl2pPr>
            <a:lvl3pPr marL="1143000" indent="-228600" algn="l" defTabSz="914400" rtl="0" eaLnBrk="1" latinLnBrk="0" hangingPunct="1">
              <a:lnSpc>
                <a:spcPct val="100000"/>
              </a:lnSpc>
              <a:spcBef>
                <a:spcPts val="200"/>
              </a:spcBef>
              <a:spcAft>
                <a:spcPts val="200"/>
              </a:spcAft>
              <a:buFont typeface="Wingdings" pitchFamily="2" charset="2"/>
              <a:buChar char="§"/>
              <a:defRPr sz="2000" kern="1200">
                <a:solidFill>
                  <a:srgbClr val="333333"/>
                </a:solidFill>
                <a:latin typeface="+mn-lt"/>
                <a:ea typeface="+mn-ea"/>
                <a:cs typeface="+mn-cs"/>
              </a:defRPr>
            </a:lvl3pPr>
            <a:lvl4pPr marL="1600200" indent="-228600" algn="l" defTabSz="914400" rtl="0" eaLnBrk="1" latinLnBrk="0" hangingPunct="1">
              <a:lnSpc>
                <a:spcPct val="100000"/>
              </a:lnSpc>
              <a:spcBef>
                <a:spcPts val="200"/>
              </a:spcBef>
              <a:spcAft>
                <a:spcPts val="200"/>
              </a:spcAft>
              <a:buSzPct val="115000"/>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0" hangingPunct="1">
              <a:lnSpc>
                <a:spcPct val="100000"/>
              </a:lnSpc>
              <a:spcBef>
                <a:spcPts val="200"/>
              </a:spcBef>
              <a:spcAft>
                <a:spcPts val="200"/>
              </a:spcAft>
              <a:buFont typeface="Courier New" panose="02070309020205020404" pitchFamily="49" charset="0"/>
              <a:buChar char="o"/>
              <a:defRPr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t>This is where we provide details related to implementing the NEST model, but it remains neutral in stance</a:t>
            </a:r>
          </a:p>
        </p:txBody>
      </p:sp>
    </p:spTree>
    <p:extLst>
      <p:ext uri="{BB962C8B-B14F-4D97-AF65-F5344CB8AC3E}">
        <p14:creationId xmlns:p14="http://schemas.microsoft.com/office/powerpoint/2010/main" val="1828830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F712C-E29B-B835-02A4-C10C14EF3C10}"/>
            </a:ext>
          </a:extLst>
        </p:cNvPr>
        <p:cNvGrpSpPr/>
        <p:nvPr/>
      </p:nvGrpSpPr>
      <p:grpSpPr>
        <a:xfrm>
          <a:off x="0" y="0"/>
          <a:ext cx="0" cy="0"/>
          <a:chOff x="0" y="0"/>
          <a:chExt cx="0" cy="0"/>
        </a:xfrm>
      </p:grpSpPr>
      <p:pic>
        <p:nvPicPr>
          <p:cNvPr id="3" name="Picture 2" descr="A screenshot of a diagram&#10;&#10;AI-generated content may be incorrect.">
            <a:extLst>
              <a:ext uri="{FF2B5EF4-FFF2-40B4-BE49-F238E27FC236}">
                <a16:creationId xmlns:a16="http://schemas.microsoft.com/office/drawing/2014/main" id="{1BBCDB5E-F2F9-88F1-30CE-546945A39985}"/>
              </a:ext>
            </a:extLst>
          </p:cNvPr>
          <p:cNvPicPr>
            <a:picLocks noChangeAspect="1"/>
          </p:cNvPicPr>
          <p:nvPr/>
        </p:nvPicPr>
        <p:blipFill>
          <a:blip r:embed="rId2"/>
          <a:srcRect t="1379"/>
          <a:stretch>
            <a:fillRect/>
          </a:stretch>
        </p:blipFill>
        <p:spPr>
          <a:xfrm>
            <a:off x="2223680" y="0"/>
            <a:ext cx="9968320" cy="6858000"/>
          </a:xfrm>
          <a:prstGeom prst="rect">
            <a:avLst/>
          </a:prstGeom>
        </p:spPr>
      </p:pic>
      <p:sp>
        <p:nvSpPr>
          <p:cNvPr id="4" name="Title 3">
            <a:extLst>
              <a:ext uri="{FF2B5EF4-FFF2-40B4-BE49-F238E27FC236}">
                <a16:creationId xmlns:a16="http://schemas.microsoft.com/office/drawing/2014/main" id="{3B0F7C3D-EFF1-4F9B-7BB3-F490B5BDFF87}"/>
              </a:ext>
            </a:extLst>
          </p:cNvPr>
          <p:cNvSpPr>
            <a:spLocks noGrp="1"/>
          </p:cNvSpPr>
          <p:nvPr>
            <p:ph type="title"/>
          </p:nvPr>
        </p:nvSpPr>
        <p:spPr>
          <a:xfrm>
            <a:off x="270344" y="768350"/>
            <a:ext cx="1999037" cy="1325563"/>
          </a:xfrm>
        </p:spPr>
        <p:txBody>
          <a:bodyPr/>
          <a:lstStyle/>
          <a:p>
            <a:r>
              <a:rPr lang="en-US" dirty="0"/>
              <a:t>Tier 2</a:t>
            </a:r>
          </a:p>
        </p:txBody>
      </p:sp>
      <p:sp>
        <p:nvSpPr>
          <p:cNvPr id="10" name="Rectangle 9">
            <a:extLst>
              <a:ext uri="{FF2B5EF4-FFF2-40B4-BE49-F238E27FC236}">
                <a16:creationId xmlns:a16="http://schemas.microsoft.com/office/drawing/2014/main" id="{7FAACF3C-35AF-57F9-4C63-45F00437B9BD}"/>
              </a:ext>
            </a:extLst>
          </p:cNvPr>
          <p:cNvSpPr/>
          <p:nvPr/>
        </p:nvSpPr>
        <p:spPr>
          <a:xfrm>
            <a:off x="2497724" y="1486656"/>
            <a:ext cx="3449986" cy="148727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simple explanation for how the strategy group would interact with implementing factors to get the outcome we are looking for </a:t>
            </a:r>
          </a:p>
        </p:txBody>
      </p:sp>
      <p:sp>
        <p:nvSpPr>
          <p:cNvPr id="2" name="Text Placeholder 4">
            <a:extLst>
              <a:ext uri="{FF2B5EF4-FFF2-40B4-BE49-F238E27FC236}">
                <a16:creationId xmlns:a16="http://schemas.microsoft.com/office/drawing/2014/main" id="{F170F0BF-17AD-A08D-D5AC-369EB667C70E}"/>
              </a:ext>
            </a:extLst>
          </p:cNvPr>
          <p:cNvSpPr txBox="1">
            <a:spLocks/>
          </p:cNvSpPr>
          <p:nvPr/>
        </p:nvSpPr>
        <p:spPr>
          <a:xfrm>
            <a:off x="1" y="2573438"/>
            <a:ext cx="2223680" cy="290661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200"/>
              </a:spcBef>
              <a:spcAft>
                <a:spcPts val="200"/>
              </a:spcAft>
              <a:buSzPct val="125000"/>
              <a:buFont typeface="Arial" panose="020B0604020202020204" pitchFamily="34" charset="0"/>
              <a:buChar char="•"/>
              <a:defRPr sz="2600" kern="1200">
                <a:solidFill>
                  <a:srgbClr val="333333"/>
                </a:solidFill>
                <a:latin typeface="+mn-lt"/>
                <a:ea typeface="+mn-ea"/>
                <a:cs typeface="+mn-cs"/>
              </a:defRPr>
            </a:lvl1pPr>
            <a:lvl2pPr marL="685800" indent="-228600" algn="l" defTabSz="914400" rtl="0" eaLnBrk="1" latinLnBrk="0" hangingPunct="1">
              <a:lnSpc>
                <a:spcPct val="100000"/>
              </a:lnSpc>
              <a:spcBef>
                <a:spcPts val="200"/>
              </a:spcBef>
              <a:spcAft>
                <a:spcPts val="200"/>
              </a:spcAft>
              <a:buSzPct val="100000"/>
              <a:buFont typeface="Courier New" panose="02070309020205020404" pitchFamily="49" charset="0"/>
              <a:buChar char="o"/>
              <a:defRPr sz="2400" kern="1200">
                <a:solidFill>
                  <a:srgbClr val="333333"/>
                </a:solidFill>
                <a:latin typeface="+mn-lt"/>
                <a:ea typeface="+mn-ea"/>
                <a:cs typeface="+mn-cs"/>
              </a:defRPr>
            </a:lvl2pPr>
            <a:lvl3pPr marL="1143000" indent="-228600" algn="l" defTabSz="914400" rtl="0" eaLnBrk="1" latinLnBrk="0" hangingPunct="1">
              <a:lnSpc>
                <a:spcPct val="100000"/>
              </a:lnSpc>
              <a:spcBef>
                <a:spcPts val="200"/>
              </a:spcBef>
              <a:spcAft>
                <a:spcPts val="200"/>
              </a:spcAft>
              <a:buFont typeface="Wingdings" pitchFamily="2" charset="2"/>
              <a:buChar char="§"/>
              <a:defRPr sz="2000" kern="1200">
                <a:solidFill>
                  <a:srgbClr val="333333"/>
                </a:solidFill>
                <a:latin typeface="+mn-lt"/>
                <a:ea typeface="+mn-ea"/>
                <a:cs typeface="+mn-cs"/>
              </a:defRPr>
            </a:lvl3pPr>
            <a:lvl4pPr marL="1600200" indent="-228600" algn="l" defTabSz="914400" rtl="0" eaLnBrk="1" latinLnBrk="0" hangingPunct="1">
              <a:lnSpc>
                <a:spcPct val="100000"/>
              </a:lnSpc>
              <a:spcBef>
                <a:spcPts val="200"/>
              </a:spcBef>
              <a:spcAft>
                <a:spcPts val="200"/>
              </a:spcAft>
              <a:buSzPct val="115000"/>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0" hangingPunct="1">
              <a:lnSpc>
                <a:spcPct val="100000"/>
              </a:lnSpc>
              <a:spcBef>
                <a:spcPts val="200"/>
              </a:spcBef>
              <a:spcAft>
                <a:spcPts val="200"/>
              </a:spcAft>
              <a:buFont typeface="Courier New" panose="02070309020205020404" pitchFamily="49" charset="0"/>
              <a:buChar char="o"/>
              <a:defRPr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t>This is where we provide details related to implementing the NEST model, but it remains neutral in stance</a:t>
            </a:r>
          </a:p>
        </p:txBody>
      </p:sp>
    </p:spTree>
    <p:extLst>
      <p:ext uri="{BB962C8B-B14F-4D97-AF65-F5344CB8AC3E}">
        <p14:creationId xmlns:p14="http://schemas.microsoft.com/office/powerpoint/2010/main" val="1527766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33CF4-BAC1-7ADF-84CE-7709582F1816}"/>
            </a:ext>
          </a:extLst>
        </p:cNvPr>
        <p:cNvGrpSpPr/>
        <p:nvPr/>
      </p:nvGrpSpPr>
      <p:grpSpPr>
        <a:xfrm>
          <a:off x="0" y="0"/>
          <a:ext cx="0" cy="0"/>
          <a:chOff x="0" y="0"/>
          <a:chExt cx="0" cy="0"/>
        </a:xfrm>
      </p:grpSpPr>
      <p:pic>
        <p:nvPicPr>
          <p:cNvPr id="3" name="Picture 2" descr="A screenshot of a diagram&#10;&#10;AI-generated content may be incorrect.">
            <a:extLst>
              <a:ext uri="{FF2B5EF4-FFF2-40B4-BE49-F238E27FC236}">
                <a16:creationId xmlns:a16="http://schemas.microsoft.com/office/drawing/2014/main" id="{1A3FD9A6-9D98-246A-8471-FE0D035A59A3}"/>
              </a:ext>
            </a:extLst>
          </p:cNvPr>
          <p:cNvPicPr>
            <a:picLocks noChangeAspect="1"/>
          </p:cNvPicPr>
          <p:nvPr/>
        </p:nvPicPr>
        <p:blipFill>
          <a:blip r:embed="rId2"/>
          <a:srcRect t="1379"/>
          <a:stretch>
            <a:fillRect/>
          </a:stretch>
        </p:blipFill>
        <p:spPr>
          <a:xfrm>
            <a:off x="2223680" y="0"/>
            <a:ext cx="9968320" cy="6858000"/>
          </a:xfrm>
          <a:prstGeom prst="rect">
            <a:avLst/>
          </a:prstGeom>
        </p:spPr>
      </p:pic>
      <p:sp>
        <p:nvSpPr>
          <p:cNvPr id="4" name="Title 3">
            <a:extLst>
              <a:ext uri="{FF2B5EF4-FFF2-40B4-BE49-F238E27FC236}">
                <a16:creationId xmlns:a16="http://schemas.microsoft.com/office/drawing/2014/main" id="{94BDB85A-C953-AEE6-DD91-4707E2F48E81}"/>
              </a:ext>
            </a:extLst>
          </p:cNvPr>
          <p:cNvSpPr>
            <a:spLocks noGrp="1"/>
          </p:cNvSpPr>
          <p:nvPr>
            <p:ph type="title"/>
          </p:nvPr>
        </p:nvSpPr>
        <p:spPr>
          <a:xfrm>
            <a:off x="270344" y="768350"/>
            <a:ext cx="1999037" cy="1325563"/>
          </a:xfrm>
        </p:spPr>
        <p:txBody>
          <a:bodyPr/>
          <a:lstStyle/>
          <a:p>
            <a:r>
              <a:rPr lang="en-US" dirty="0"/>
              <a:t>Tier 2</a:t>
            </a:r>
          </a:p>
        </p:txBody>
      </p:sp>
      <p:sp>
        <p:nvSpPr>
          <p:cNvPr id="10" name="Rectangle 9">
            <a:extLst>
              <a:ext uri="{FF2B5EF4-FFF2-40B4-BE49-F238E27FC236}">
                <a16:creationId xmlns:a16="http://schemas.microsoft.com/office/drawing/2014/main" id="{A4215C46-4322-91F2-E76E-CD0C29D0C857}"/>
              </a:ext>
            </a:extLst>
          </p:cNvPr>
          <p:cNvSpPr/>
          <p:nvPr/>
        </p:nvSpPr>
        <p:spPr>
          <a:xfrm>
            <a:off x="4600045" y="1431131"/>
            <a:ext cx="3449986" cy="2202047"/>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Examples of outcomes that NEST measured</a:t>
            </a:r>
          </a:p>
          <a:p>
            <a:pPr algn="ctr"/>
            <a:endParaRPr lang="en-US" dirty="0">
              <a:solidFill>
                <a:schemeClr val="tx1"/>
              </a:solidFill>
            </a:endParaRPr>
          </a:p>
          <a:p>
            <a:pPr algn="ctr"/>
            <a:r>
              <a:rPr lang="en-US" dirty="0">
                <a:solidFill>
                  <a:schemeClr val="tx1"/>
                </a:solidFill>
              </a:rPr>
              <a:t>Organized by SSNC core components and examples for program, country, and hospital level outcomes </a:t>
            </a:r>
          </a:p>
        </p:txBody>
      </p:sp>
      <p:sp>
        <p:nvSpPr>
          <p:cNvPr id="2" name="Text Placeholder 4">
            <a:extLst>
              <a:ext uri="{FF2B5EF4-FFF2-40B4-BE49-F238E27FC236}">
                <a16:creationId xmlns:a16="http://schemas.microsoft.com/office/drawing/2014/main" id="{7A1A8D2C-FF7D-B91B-9804-B14FDDC1AEB1}"/>
              </a:ext>
            </a:extLst>
          </p:cNvPr>
          <p:cNvSpPr txBox="1">
            <a:spLocks/>
          </p:cNvSpPr>
          <p:nvPr/>
        </p:nvSpPr>
        <p:spPr>
          <a:xfrm>
            <a:off x="1" y="2573438"/>
            <a:ext cx="2223680" cy="290661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200"/>
              </a:spcBef>
              <a:spcAft>
                <a:spcPts val="200"/>
              </a:spcAft>
              <a:buSzPct val="125000"/>
              <a:buFont typeface="Arial" panose="020B0604020202020204" pitchFamily="34" charset="0"/>
              <a:buChar char="•"/>
              <a:defRPr sz="2600" kern="1200">
                <a:solidFill>
                  <a:srgbClr val="333333"/>
                </a:solidFill>
                <a:latin typeface="+mn-lt"/>
                <a:ea typeface="+mn-ea"/>
                <a:cs typeface="+mn-cs"/>
              </a:defRPr>
            </a:lvl1pPr>
            <a:lvl2pPr marL="685800" indent="-228600" algn="l" defTabSz="914400" rtl="0" eaLnBrk="1" latinLnBrk="0" hangingPunct="1">
              <a:lnSpc>
                <a:spcPct val="100000"/>
              </a:lnSpc>
              <a:spcBef>
                <a:spcPts val="200"/>
              </a:spcBef>
              <a:spcAft>
                <a:spcPts val="200"/>
              </a:spcAft>
              <a:buSzPct val="100000"/>
              <a:buFont typeface="Courier New" panose="02070309020205020404" pitchFamily="49" charset="0"/>
              <a:buChar char="o"/>
              <a:defRPr sz="2400" kern="1200">
                <a:solidFill>
                  <a:srgbClr val="333333"/>
                </a:solidFill>
                <a:latin typeface="+mn-lt"/>
                <a:ea typeface="+mn-ea"/>
                <a:cs typeface="+mn-cs"/>
              </a:defRPr>
            </a:lvl2pPr>
            <a:lvl3pPr marL="1143000" indent="-228600" algn="l" defTabSz="914400" rtl="0" eaLnBrk="1" latinLnBrk="0" hangingPunct="1">
              <a:lnSpc>
                <a:spcPct val="100000"/>
              </a:lnSpc>
              <a:spcBef>
                <a:spcPts val="200"/>
              </a:spcBef>
              <a:spcAft>
                <a:spcPts val="200"/>
              </a:spcAft>
              <a:buFont typeface="Wingdings" pitchFamily="2" charset="2"/>
              <a:buChar char="§"/>
              <a:defRPr sz="2000" kern="1200">
                <a:solidFill>
                  <a:srgbClr val="333333"/>
                </a:solidFill>
                <a:latin typeface="+mn-lt"/>
                <a:ea typeface="+mn-ea"/>
                <a:cs typeface="+mn-cs"/>
              </a:defRPr>
            </a:lvl3pPr>
            <a:lvl4pPr marL="1600200" indent="-228600" algn="l" defTabSz="914400" rtl="0" eaLnBrk="1" latinLnBrk="0" hangingPunct="1">
              <a:lnSpc>
                <a:spcPct val="100000"/>
              </a:lnSpc>
              <a:spcBef>
                <a:spcPts val="200"/>
              </a:spcBef>
              <a:spcAft>
                <a:spcPts val="200"/>
              </a:spcAft>
              <a:buSzPct val="115000"/>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0" hangingPunct="1">
              <a:lnSpc>
                <a:spcPct val="100000"/>
              </a:lnSpc>
              <a:spcBef>
                <a:spcPts val="200"/>
              </a:spcBef>
              <a:spcAft>
                <a:spcPts val="200"/>
              </a:spcAft>
              <a:buFont typeface="Courier New" panose="02070309020205020404" pitchFamily="49" charset="0"/>
              <a:buChar char="o"/>
              <a:defRPr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t>This is where we provide details related to implementing the NEST model, but it remains neutral in stance</a:t>
            </a:r>
          </a:p>
        </p:txBody>
      </p:sp>
    </p:spTree>
    <p:extLst>
      <p:ext uri="{BB962C8B-B14F-4D97-AF65-F5344CB8AC3E}">
        <p14:creationId xmlns:p14="http://schemas.microsoft.com/office/powerpoint/2010/main" val="255781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32046-3925-FBB5-CFE0-D1DFFDCCE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195F3-2CFE-10A9-2562-7892DFE4A664}"/>
              </a:ext>
            </a:extLst>
          </p:cNvPr>
          <p:cNvSpPr>
            <a:spLocks noGrp="1"/>
          </p:cNvSpPr>
          <p:nvPr>
            <p:ph type="title"/>
          </p:nvPr>
        </p:nvSpPr>
        <p:spPr>
          <a:xfrm>
            <a:off x="838200" y="365126"/>
            <a:ext cx="10515600" cy="965964"/>
          </a:xfrm>
          <a:solidFill>
            <a:schemeClr val="accent1">
              <a:lumMod val="20000"/>
              <a:lumOff val="80000"/>
            </a:schemeClr>
          </a:solidFill>
        </p:spPr>
        <p:txBody>
          <a:bodyPr/>
          <a:lstStyle/>
          <a:p>
            <a:r>
              <a:rPr lang="en-US" dirty="0">
                <a:solidFill>
                  <a:schemeClr val="bg1"/>
                </a:solidFill>
              </a:rPr>
              <a:t>Tier 2: Implementation Factors Part 1</a:t>
            </a:r>
          </a:p>
        </p:txBody>
      </p:sp>
      <p:sp>
        <p:nvSpPr>
          <p:cNvPr id="3" name="Content Placeholder 2">
            <a:extLst>
              <a:ext uri="{FF2B5EF4-FFF2-40B4-BE49-F238E27FC236}">
                <a16:creationId xmlns:a16="http://schemas.microsoft.com/office/drawing/2014/main" id="{14EC8F8D-7094-68FD-0711-A444DA512901}"/>
              </a:ext>
            </a:extLst>
          </p:cNvPr>
          <p:cNvSpPr>
            <a:spLocks noGrp="1"/>
          </p:cNvSpPr>
          <p:nvPr>
            <p:ph idx="1"/>
          </p:nvPr>
        </p:nvSpPr>
        <p:spPr>
          <a:xfrm>
            <a:off x="838200" y="1504708"/>
            <a:ext cx="5257800" cy="5353291"/>
          </a:xfrm>
        </p:spPr>
        <p:txBody>
          <a:bodyPr>
            <a:normAutofit fontScale="47500" lnSpcReduction="20000"/>
          </a:bodyPr>
          <a:lstStyle/>
          <a:p>
            <a:r>
              <a:rPr lang="en-US" b="1" dirty="0"/>
              <a:t>Leadership &amp; Governance</a:t>
            </a:r>
          </a:p>
          <a:p>
            <a:pPr lvl="1"/>
            <a:r>
              <a:rPr lang="en-US" dirty="0"/>
              <a:t>National plans and policies for SSNC </a:t>
            </a:r>
          </a:p>
          <a:p>
            <a:pPr lvl="1"/>
            <a:r>
              <a:rPr lang="en-US" dirty="0"/>
              <a:t>Facility level guidelines and protocols for SSNC</a:t>
            </a:r>
          </a:p>
          <a:p>
            <a:pPr lvl="1"/>
            <a:r>
              <a:rPr lang="en-US" dirty="0"/>
              <a:t>Engagement with MOH</a:t>
            </a:r>
          </a:p>
          <a:p>
            <a:pPr lvl="1"/>
            <a:r>
              <a:rPr lang="en-US" dirty="0"/>
              <a:t>Engagement with facility-level leadership</a:t>
            </a:r>
          </a:p>
          <a:p>
            <a:pPr lvl="1"/>
            <a:r>
              <a:rPr lang="en-US" dirty="0"/>
              <a:t>Facility champions</a:t>
            </a:r>
          </a:p>
          <a:p>
            <a:pPr lvl="1"/>
            <a:r>
              <a:rPr lang="en-US" dirty="0"/>
              <a:t>Global and national focus on SSNC and NMR</a:t>
            </a:r>
          </a:p>
          <a:p>
            <a:pPr lvl="1"/>
            <a:r>
              <a:rPr lang="en-US" dirty="0"/>
              <a:t>Integration of SSNC into current policy &amp; funding</a:t>
            </a:r>
          </a:p>
          <a:p>
            <a:r>
              <a:rPr lang="en-US" b="1" dirty="0"/>
              <a:t>Data Systems</a:t>
            </a:r>
          </a:p>
          <a:p>
            <a:pPr lvl="1"/>
            <a:r>
              <a:rPr lang="en-US" dirty="0"/>
              <a:t>Availability of neonatal health forms, registers, and data systems at facility level capturing SSNC sensitive indicators </a:t>
            </a:r>
          </a:p>
          <a:p>
            <a:pPr lvl="1"/>
            <a:r>
              <a:rPr lang="en-US" dirty="0"/>
              <a:t>SSNC sensitive indicators at facility and national levels</a:t>
            </a:r>
          </a:p>
          <a:p>
            <a:pPr lvl="1"/>
            <a:r>
              <a:rPr lang="en-US" dirty="0"/>
              <a:t>Data access and utilization</a:t>
            </a:r>
          </a:p>
          <a:p>
            <a:pPr lvl="1"/>
            <a:r>
              <a:rPr lang="en-US" dirty="0"/>
              <a:t>Data quality</a:t>
            </a:r>
          </a:p>
          <a:p>
            <a:pPr lvl="1"/>
            <a:r>
              <a:rPr lang="en-US" dirty="0"/>
              <a:t>Data management and governance</a:t>
            </a:r>
          </a:p>
          <a:p>
            <a:pPr lvl="1"/>
            <a:r>
              <a:rPr lang="en-US" dirty="0"/>
              <a:t>Dedicated neonatal data clerk </a:t>
            </a:r>
          </a:p>
          <a:p>
            <a:r>
              <a:rPr lang="en-US" b="1" dirty="0"/>
              <a:t>Human Resources</a:t>
            </a:r>
          </a:p>
          <a:p>
            <a:pPr lvl="1"/>
            <a:r>
              <a:rPr lang="en-US" dirty="0"/>
              <a:t>Health workers attitudes/interest in SSNC</a:t>
            </a:r>
          </a:p>
          <a:p>
            <a:pPr lvl="1"/>
            <a:r>
              <a:rPr lang="en-US" dirty="0"/>
              <a:t>Health workers competence/confidence in SSNC</a:t>
            </a:r>
          </a:p>
          <a:p>
            <a:pPr lvl="1"/>
            <a:r>
              <a:rPr lang="en-US" dirty="0"/>
              <a:t>Preservice training in SSNC </a:t>
            </a:r>
          </a:p>
          <a:p>
            <a:pPr lvl="1"/>
            <a:r>
              <a:rPr lang="en-US" dirty="0"/>
              <a:t>Training available for SSNC</a:t>
            </a:r>
          </a:p>
          <a:p>
            <a:pPr lvl="1"/>
            <a:r>
              <a:rPr lang="en-US" dirty="0"/>
              <a:t> BMET training </a:t>
            </a:r>
          </a:p>
          <a:p>
            <a:pPr lvl="1"/>
            <a:r>
              <a:rPr lang="en-US" dirty="0"/>
              <a:t> HC Provider awareness /knowledge </a:t>
            </a:r>
          </a:p>
          <a:p>
            <a:pPr lvl="1"/>
            <a:r>
              <a:rPr lang="en-US" dirty="0"/>
              <a:t> Supporting staff following IPC guidelines (janitors, guard, support runners) </a:t>
            </a:r>
          </a:p>
          <a:p>
            <a:pPr lvl="1"/>
            <a:r>
              <a:rPr lang="en-US" dirty="0"/>
              <a:t>Available BMETs</a:t>
            </a:r>
          </a:p>
          <a:p>
            <a:pPr lvl="1"/>
            <a:r>
              <a:rPr lang="en-US" dirty="0"/>
              <a:t>Adequate number of health workers</a:t>
            </a:r>
          </a:p>
          <a:p>
            <a:pPr lvl="1"/>
            <a:r>
              <a:rPr lang="en-US" dirty="0"/>
              <a:t>Little to no staff rotation or turnover</a:t>
            </a:r>
          </a:p>
        </p:txBody>
      </p:sp>
      <p:sp>
        <p:nvSpPr>
          <p:cNvPr id="4" name="Content Placeholder 2">
            <a:extLst>
              <a:ext uri="{FF2B5EF4-FFF2-40B4-BE49-F238E27FC236}">
                <a16:creationId xmlns:a16="http://schemas.microsoft.com/office/drawing/2014/main" id="{9FBC07FC-FDB4-2E54-0850-BB6A7DA062D0}"/>
              </a:ext>
            </a:extLst>
          </p:cNvPr>
          <p:cNvSpPr txBox="1">
            <a:spLocks/>
          </p:cNvSpPr>
          <p:nvPr/>
        </p:nvSpPr>
        <p:spPr>
          <a:xfrm>
            <a:off x="6024623" y="1504708"/>
            <a:ext cx="5400554" cy="5683170"/>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100000"/>
              </a:lnSpc>
              <a:spcBef>
                <a:spcPts val="200"/>
              </a:spcBef>
              <a:spcAft>
                <a:spcPts val="200"/>
              </a:spcAft>
              <a:buSzPct val="125000"/>
              <a:buFont typeface="Arial" panose="020B0604020202020204" pitchFamily="34" charset="0"/>
              <a:buChar char="•"/>
              <a:defRPr sz="2600" kern="1200">
                <a:solidFill>
                  <a:srgbClr val="333333"/>
                </a:solidFill>
                <a:latin typeface="+mn-lt"/>
                <a:ea typeface="+mn-ea"/>
                <a:cs typeface="+mn-cs"/>
              </a:defRPr>
            </a:lvl1pPr>
            <a:lvl2pPr marL="685800" indent="-228600" algn="l" defTabSz="914400" rtl="0" eaLnBrk="1" latinLnBrk="0" hangingPunct="1">
              <a:lnSpc>
                <a:spcPct val="100000"/>
              </a:lnSpc>
              <a:spcBef>
                <a:spcPts val="200"/>
              </a:spcBef>
              <a:spcAft>
                <a:spcPts val="200"/>
              </a:spcAft>
              <a:buSzPct val="100000"/>
              <a:buFont typeface="Courier New" panose="02070309020205020404" pitchFamily="49" charset="0"/>
              <a:buChar char="o"/>
              <a:defRPr sz="2400" kern="1200">
                <a:solidFill>
                  <a:srgbClr val="333333"/>
                </a:solidFill>
                <a:latin typeface="+mn-lt"/>
                <a:ea typeface="+mn-ea"/>
                <a:cs typeface="+mn-cs"/>
              </a:defRPr>
            </a:lvl2pPr>
            <a:lvl3pPr marL="1143000" indent="-228600" algn="l" defTabSz="914400" rtl="0" eaLnBrk="1" latinLnBrk="0" hangingPunct="1">
              <a:lnSpc>
                <a:spcPct val="100000"/>
              </a:lnSpc>
              <a:spcBef>
                <a:spcPts val="200"/>
              </a:spcBef>
              <a:spcAft>
                <a:spcPts val="200"/>
              </a:spcAft>
              <a:buFont typeface="Wingdings" pitchFamily="2" charset="2"/>
              <a:buChar char="§"/>
              <a:defRPr sz="2000" kern="1200">
                <a:solidFill>
                  <a:srgbClr val="333333"/>
                </a:solidFill>
                <a:latin typeface="+mn-lt"/>
                <a:ea typeface="+mn-ea"/>
                <a:cs typeface="+mn-cs"/>
              </a:defRPr>
            </a:lvl3pPr>
            <a:lvl4pPr marL="1600200" indent="-228600" algn="l" defTabSz="914400" rtl="0" eaLnBrk="1" latinLnBrk="0" hangingPunct="1">
              <a:lnSpc>
                <a:spcPct val="100000"/>
              </a:lnSpc>
              <a:spcBef>
                <a:spcPts val="200"/>
              </a:spcBef>
              <a:spcAft>
                <a:spcPts val="200"/>
              </a:spcAft>
              <a:buSzPct val="115000"/>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0" hangingPunct="1">
              <a:lnSpc>
                <a:spcPct val="100000"/>
              </a:lnSpc>
              <a:spcBef>
                <a:spcPts val="200"/>
              </a:spcBef>
              <a:spcAft>
                <a:spcPts val="200"/>
              </a:spcAft>
              <a:buFont typeface="Courier New" panose="02070309020205020404" pitchFamily="49" charset="0"/>
              <a:buChar char="o"/>
              <a:defRPr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200"/>
              </a:spcBef>
              <a:spcAft>
                <a:spcPts val="200"/>
              </a:spcAft>
              <a:buClrTx/>
              <a:buSzPct val="125000"/>
              <a:buFont typeface="Arial" panose="020B0604020202020204" pitchFamily="34" charset="0"/>
              <a:buChar char="•"/>
              <a:tabLst/>
              <a:defRPr/>
            </a:pPr>
            <a:r>
              <a:rPr kumimoji="0" lang="en-US" sz="2600" b="1" i="0" u="none" strike="noStrike" kern="1200" cap="none" spc="0" normalizeH="0" baseline="0" noProof="0" dirty="0">
                <a:ln>
                  <a:noFill/>
                </a:ln>
                <a:solidFill>
                  <a:srgbClr val="333333"/>
                </a:solidFill>
                <a:effectLst/>
                <a:uLnTx/>
                <a:uFillTx/>
                <a:latin typeface="Arial" panose="020B0604020202020204"/>
                <a:ea typeface="+mn-ea"/>
                <a:cs typeface="+mn-cs"/>
              </a:rPr>
              <a:t>Quality Improvement</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Consistent QI knowledge at national, regional, and facility levels</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Active hospital and ward improvement teams</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Consistent QI training</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Consistent availability of QI documentation tools </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Documentation completeness</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Consistent auditing of care quality (ex. MPDSA)</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National and regional QI structures and resources include SSNC-focused guidance</a:t>
            </a:r>
          </a:p>
          <a:p>
            <a:pPr marL="228600" marR="0" lvl="0" indent="-228600" algn="l" defTabSz="914400" rtl="0" eaLnBrk="1" fontAlgn="auto" latinLnBrk="0" hangingPunct="1">
              <a:lnSpc>
                <a:spcPct val="100000"/>
              </a:lnSpc>
              <a:spcBef>
                <a:spcPts val="200"/>
              </a:spcBef>
              <a:spcAft>
                <a:spcPts val="200"/>
              </a:spcAft>
              <a:buClrTx/>
              <a:buSzPct val="125000"/>
              <a:buFont typeface="Arial" panose="020B0604020202020204" pitchFamily="34" charset="0"/>
              <a:buChar char="•"/>
              <a:tabLst/>
              <a:defRPr/>
            </a:pPr>
            <a:r>
              <a:rPr kumimoji="0" lang="en-US" sz="2600" b="1" i="0" u="none" strike="noStrike" kern="1200" cap="none" spc="0" normalizeH="0" baseline="0" noProof="0" dirty="0">
                <a:ln>
                  <a:noFill/>
                </a:ln>
                <a:solidFill>
                  <a:srgbClr val="333333"/>
                </a:solidFill>
                <a:effectLst/>
                <a:uLnTx/>
                <a:uFillTx/>
                <a:latin typeface="Arial" panose="020B0604020202020204"/>
                <a:ea typeface="+mn-ea"/>
                <a:cs typeface="+mn-cs"/>
              </a:rPr>
              <a:t>Equipment &amp; Commodities</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Availability of functional equipment and supplies at facilities</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Strong procurement system </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Technology fit for purpose</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Skill labs/skill stations available and used</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Affordable technology</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No or infrequent stockouts </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No or infrequent power outages </a:t>
            </a:r>
          </a:p>
          <a:p>
            <a:pPr marL="228600" marR="0" lvl="0" indent="-228600" algn="l" defTabSz="914400" rtl="0" eaLnBrk="1" fontAlgn="auto" latinLnBrk="0" hangingPunct="1">
              <a:lnSpc>
                <a:spcPct val="100000"/>
              </a:lnSpc>
              <a:spcBef>
                <a:spcPts val="200"/>
              </a:spcBef>
              <a:spcAft>
                <a:spcPts val="200"/>
              </a:spcAft>
              <a:buClrTx/>
              <a:buSzPct val="125000"/>
              <a:buFont typeface="Arial" panose="020B0604020202020204" pitchFamily="34" charset="0"/>
              <a:buChar char="•"/>
              <a:tabLst/>
              <a:defRPr/>
            </a:pPr>
            <a:r>
              <a:rPr kumimoji="0" lang="en-US" sz="2600" b="1" i="0" u="none" strike="noStrike" kern="1200" cap="none" spc="0" normalizeH="0" baseline="0" noProof="0" dirty="0">
                <a:ln>
                  <a:noFill/>
                </a:ln>
                <a:solidFill>
                  <a:srgbClr val="333333"/>
                </a:solidFill>
                <a:effectLst/>
                <a:uLnTx/>
                <a:uFillTx/>
                <a:latin typeface="Arial" panose="020B0604020202020204"/>
                <a:ea typeface="+mn-ea"/>
                <a:cs typeface="+mn-cs"/>
              </a:rPr>
              <a:t>Referral process</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Adherence to referral guidelines </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Strong pre and during referral communication and consultations</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Strong referral feedback mechanism</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Appropriate transportation for referrals </a:t>
            </a:r>
          </a:p>
        </p:txBody>
      </p:sp>
    </p:spTree>
    <p:extLst>
      <p:ext uri="{BB962C8B-B14F-4D97-AF65-F5344CB8AC3E}">
        <p14:creationId xmlns:p14="http://schemas.microsoft.com/office/powerpoint/2010/main" val="4262540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53065-4850-74FF-47DE-8C9A09D43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19217A-47EF-2BB6-1577-32F5F94AAD39}"/>
              </a:ext>
            </a:extLst>
          </p:cNvPr>
          <p:cNvSpPr>
            <a:spLocks noGrp="1"/>
          </p:cNvSpPr>
          <p:nvPr>
            <p:ph type="title"/>
          </p:nvPr>
        </p:nvSpPr>
        <p:spPr>
          <a:xfrm>
            <a:off x="838200" y="146716"/>
            <a:ext cx="10515600" cy="979184"/>
          </a:xfrm>
          <a:solidFill>
            <a:schemeClr val="accent1">
              <a:lumMod val="20000"/>
              <a:lumOff val="80000"/>
            </a:schemeClr>
          </a:solidFill>
        </p:spPr>
        <p:txBody>
          <a:bodyPr/>
          <a:lstStyle/>
          <a:p>
            <a:r>
              <a:rPr lang="en-US" dirty="0">
                <a:solidFill>
                  <a:schemeClr val="bg1"/>
                </a:solidFill>
              </a:rPr>
              <a:t>Tier 2: Implementation Factors Part 2</a:t>
            </a:r>
          </a:p>
        </p:txBody>
      </p:sp>
      <p:sp>
        <p:nvSpPr>
          <p:cNvPr id="6" name="Content Placeholder 2">
            <a:extLst>
              <a:ext uri="{FF2B5EF4-FFF2-40B4-BE49-F238E27FC236}">
                <a16:creationId xmlns:a16="http://schemas.microsoft.com/office/drawing/2014/main" id="{F4F59FA9-EBF2-D962-01AE-7D1FF1DBBD1B}"/>
              </a:ext>
            </a:extLst>
          </p:cNvPr>
          <p:cNvSpPr txBox="1">
            <a:spLocks/>
          </p:cNvSpPr>
          <p:nvPr/>
        </p:nvSpPr>
        <p:spPr>
          <a:xfrm>
            <a:off x="689658" y="1344309"/>
            <a:ext cx="5406342" cy="5513690"/>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00000"/>
              </a:lnSpc>
              <a:spcBef>
                <a:spcPts val="200"/>
              </a:spcBef>
              <a:spcAft>
                <a:spcPts val="200"/>
              </a:spcAft>
              <a:buSzPct val="125000"/>
              <a:buFont typeface="Arial" panose="020B0604020202020204" pitchFamily="34" charset="0"/>
              <a:buChar char="•"/>
              <a:defRPr sz="2600" kern="1200">
                <a:solidFill>
                  <a:srgbClr val="333333"/>
                </a:solidFill>
                <a:latin typeface="+mn-lt"/>
                <a:ea typeface="+mn-ea"/>
                <a:cs typeface="+mn-cs"/>
              </a:defRPr>
            </a:lvl1pPr>
            <a:lvl2pPr marL="685800" indent="-228600" algn="l" defTabSz="914400" rtl="0" eaLnBrk="1" latinLnBrk="0" hangingPunct="1">
              <a:lnSpc>
                <a:spcPct val="100000"/>
              </a:lnSpc>
              <a:spcBef>
                <a:spcPts val="200"/>
              </a:spcBef>
              <a:spcAft>
                <a:spcPts val="200"/>
              </a:spcAft>
              <a:buSzPct val="100000"/>
              <a:buFont typeface="Courier New" panose="02070309020205020404" pitchFamily="49" charset="0"/>
              <a:buChar char="o"/>
              <a:defRPr sz="2400" kern="1200">
                <a:solidFill>
                  <a:srgbClr val="333333"/>
                </a:solidFill>
                <a:latin typeface="+mn-lt"/>
                <a:ea typeface="+mn-ea"/>
                <a:cs typeface="+mn-cs"/>
              </a:defRPr>
            </a:lvl2pPr>
            <a:lvl3pPr marL="1143000" indent="-228600" algn="l" defTabSz="914400" rtl="0" eaLnBrk="1" latinLnBrk="0" hangingPunct="1">
              <a:lnSpc>
                <a:spcPct val="100000"/>
              </a:lnSpc>
              <a:spcBef>
                <a:spcPts val="200"/>
              </a:spcBef>
              <a:spcAft>
                <a:spcPts val="200"/>
              </a:spcAft>
              <a:buFont typeface="Wingdings" pitchFamily="2" charset="2"/>
              <a:buChar char="§"/>
              <a:defRPr sz="2000" kern="1200">
                <a:solidFill>
                  <a:srgbClr val="333333"/>
                </a:solidFill>
                <a:latin typeface="+mn-lt"/>
                <a:ea typeface="+mn-ea"/>
                <a:cs typeface="+mn-cs"/>
              </a:defRPr>
            </a:lvl3pPr>
            <a:lvl4pPr marL="1600200" indent="-228600" algn="l" defTabSz="914400" rtl="0" eaLnBrk="1" latinLnBrk="0" hangingPunct="1">
              <a:lnSpc>
                <a:spcPct val="100000"/>
              </a:lnSpc>
              <a:spcBef>
                <a:spcPts val="200"/>
              </a:spcBef>
              <a:spcAft>
                <a:spcPts val="200"/>
              </a:spcAft>
              <a:buSzPct val="115000"/>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0" hangingPunct="1">
              <a:lnSpc>
                <a:spcPct val="100000"/>
              </a:lnSpc>
              <a:spcBef>
                <a:spcPts val="200"/>
              </a:spcBef>
              <a:spcAft>
                <a:spcPts val="200"/>
              </a:spcAft>
              <a:buFont typeface="Courier New" panose="02070309020205020404" pitchFamily="49" charset="0"/>
              <a:buChar char="o"/>
              <a:defRPr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200"/>
              </a:spcBef>
              <a:spcAft>
                <a:spcPts val="200"/>
              </a:spcAft>
              <a:buClrTx/>
              <a:buSzPct val="125000"/>
              <a:buFont typeface="Arial" panose="020B0604020202020204" pitchFamily="34" charset="0"/>
              <a:buChar char="•"/>
              <a:tabLst/>
              <a:defRPr/>
            </a:pPr>
            <a:r>
              <a:rPr kumimoji="0" lang="en-US" sz="2600" b="1" i="0" u="none" strike="noStrike" kern="1200" cap="none" spc="0" normalizeH="0" baseline="0" noProof="0" dirty="0">
                <a:ln>
                  <a:noFill/>
                </a:ln>
                <a:solidFill>
                  <a:srgbClr val="333333"/>
                </a:solidFill>
                <a:effectLst/>
                <a:uLnTx/>
                <a:uFillTx/>
                <a:latin typeface="Arial" panose="020B0604020202020204"/>
                <a:ea typeface="+mn-ea"/>
                <a:cs typeface="+mn-cs"/>
              </a:rPr>
              <a:t>Linkage to Maternal Care</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Policies that facilitate/enable zero separate</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Integrated antenatal, delivery, postnatal, and SSNC</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Women staying in the hospital with their newborns </a:t>
            </a:r>
          </a:p>
          <a:p>
            <a:pPr marL="228600" marR="0" lvl="0" indent="-228600" algn="l" defTabSz="914400" rtl="0" eaLnBrk="1" fontAlgn="auto" latinLnBrk="0" hangingPunct="1">
              <a:lnSpc>
                <a:spcPct val="100000"/>
              </a:lnSpc>
              <a:spcBef>
                <a:spcPts val="200"/>
              </a:spcBef>
              <a:spcAft>
                <a:spcPts val="200"/>
              </a:spcAft>
              <a:buClrTx/>
              <a:buSzPct val="125000"/>
              <a:buFont typeface="Arial" panose="020B0604020202020204" pitchFamily="34" charset="0"/>
              <a:buChar char="•"/>
              <a:tabLst/>
              <a:defRPr/>
            </a:pPr>
            <a:r>
              <a:rPr kumimoji="0" lang="en-US" sz="2600" b="1" i="0" u="none" strike="noStrike" kern="1200" cap="none" spc="0" normalizeH="0" baseline="0" noProof="0" dirty="0">
                <a:ln>
                  <a:noFill/>
                </a:ln>
                <a:solidFill>
                  <a:srgbClr val="333333"/>
                </a:solidFill>
                <a:effectLst/>
                <a:uLnTx/>
                <a:uFillTx/>
                <a:latin typeface="Arial" panose="020B0604020202020204"/>
                <a:ea typeface="+mn-ea"/>
                <a:cs typeface="+mn-cs"/>
              </a:rPr>
              <a:t>Family centered care</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Training and policies to support parental involvement</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Education/counseling for caregivers</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Family members are aware of handwashing and IPC practices</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Family interest in being involved in the care process </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Family involvement in decision making process </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Availability of bereavement care</a:t>
            </a:r>
          </a:p>
          <a:p>
            <a:pPr marL="228600" marR="0" lvl="0" indent="-228600" algn="l" defTabSz="914400" rtl="0" eaLnBrk="1" fontAlgn="auto" latinLnBrk="0" hangingPunct="1">
              <a:lnSpc>
                <a:spcPct val="100000"/>
              </a:lnSpc>
              <a:spcBef>
                <a:spcPts val="200"/>
              </a:spcBef>
              <a:spcAft>
                <a:spcPts val="200"/>
              </a:spcAft>
              <a:buClrTx/>
              <a:buSzPct val="125000"/>
              <a:buFont typeface="Arial" panose="020B0604020202020204" pitchFamily="34" charset="0"/>
              <a:buChar char="•"/>
              <a:tabLst/>
              <a:defRPr/>
            </a:pPr>
            <a:r>
              <a:rPr kumimoji="0" lang="en-US" sz="2600" b="1" i="0" u="none" strike="noStrike" kern="1200" cap="none" spc="0" normalizeH="0" baseline="0" noProof="0" dirty="0">
                <a:ln>
                  <a:noFill/>
                </a:ln>
                <a:solidFill>
                  <a:srgbClr val="333333"/>
                </a:solidFill>
                <a:effectLst/>
                <a:uLnTx/>
                <a:uFillTx/>
                <a:latin typeface="Arial" panose="020B0604020202020204"/>
                <a:ea typeface="+mn-ea"/>
                <a:cs typeface="+mn-cs"/>
              </a:rPr>
              <a:t>Post-discharge follow up</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Discharge follow up and early child development</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Follow up feedback mechanisms</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Community health workers engagement</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2400" b="0" i="0" u="none" strike="noStrike" kern="1200" cap="none" spc="0" normalizeH="0" baseline="0" noProof="0" dirty="0">
                <a:ln>
                  <a:noFill/>
                </a:ln>
                <a:solidFill>
                  <a:srgbClr val="333333"/>
                </a:solidFill>
                <a:effectLst/>
                <a:uLnTx/>
                <a:uFillTx/>
                <a:latin typeface="Arial" panose="020B0604020202020204"/>
                <a:ea typeface="+mn-ea"/>
                <a:cs typeface="+mn-cs"/>
              </a:rPr>
              <a:t>Community based support and continuous care</a:t>
            </a:r>
          </a:p>
        </p:txBody>
      </p:sp>
      <p:sp>
        <p:nvSpPr>
          <p:cNvPr id="7" name="Content Placeholder 2">
            <a:extLst>
              <a:ext uri="{FF2B5EF4-FFF2-40B4-BE49-F238E27FC236}">
                <a16:creationId xmlns:a16="http://schemas.microsoft.com/office/drawing/2014/main" id="{D23467D7-2241-FBA4-4AF9-679EBE3D6CF8}"/>
              </a:ext>
            </a:extLst>
          </p:cNvPr>
          <p:cNvSpPr>
            <a:spLocks noGrp="1"/>
          </p:cNvSpPr>
          <p:nvPr>
            <p:ph idx="1"/>
          </p:nvPr>
        </p:nvSpPr>
        <p:spPr>
          <a:xfrm>
            <a:off x="6544519" y="1549760"/>
            <a:ext cx="5406342" cy="5308239"/>
          </a:xfrm>
        </p:spPr>
        <p:txBody>
          <a:bodyPr>
            <a:normAutofit fontScale="62500" lnSpcReduction="20000"/>
          </a:bodyPr>
          <a:lstStyle/>
          <a:p>
            <a:r>
              <a:rPr lang="en-US" b="1" dirty="0"/>
              <a:t>Infrastructure</a:t>
            </a:r>
          </a:p>
          <a:p>
            <a:pPr lvl="1"/>
            <a:r>
              <a:rPr lang="en-US" dirty="0"/>
              <a:t>Standard guide for space for Level 2 SSNC</a:t>
            </a:r>
          </a:p>
          <a:p>
            <a:pPr lvl="1"/>
            <a:r>
              <a:rPr lang="en-US" dirty="0"/>
              <a:t>Adequate space for SSNC including KMC/immediate KMC</a:t>
            </a:r>
          </a:p>
          <a:p>
            <a:pPr lvl="1"/>
            <a:r>
              <a:rPr lang="en-US" dirty="0"/>
              <a:t>Appropriately designed space - leads to easy flow and strong IPC practices</a:t>
            </a:r>
          </a:p>
          <a:p>
            <a:pPr lvl="1"/>
            <a:r>
              <a:rPr lang="en-US" dirty="0"/>
              <a:t>Flow of care of newborns from labor ward to NBU</a:t>
            </a:r>
          </a:p>
          <a:p>
            <a:pPr lvl="1"/>
            <a:r>
              <a:rPr lang="en-US" dirty="0"/>
              <a:t>Reliable electric power and poor backup power sources </a:t>
            </a:r>
          </a:p>
          <a:p>
            <a:pPr lvl="1"/>
            <a:r>
              <a:rPr lang="en-US" dirty="0"/>
              <a:t>Medical gas and vacuum systems </a:t>
            </a:r>
          </a:p>
          <a:p>
            <a:pPr lvl="1"/>
            <a:r>
              <a:rPr lang="en-US" dirty="0"/>
              <a:t>Sufficient WASH facilities</a:t>
            </a:r>
          </a:p>
          <a:p>
            <a:pPr lvl="1"/>
            <a:r>
              <a:rPr lang="en-US" dirty="0"/>
              <a:t>Blood culture are available</a:t>
            </a:r>
          </a:p>
          <a:p>
            <a:r>
              <a:rPr lang="en-US" b="1" dirty="0"/>
              <a:t>Financing</a:t>
            </a:r>
          </a:p>
          <a:p>
            <a:pPr lvl="1"/>
            <a:r>
              <a:rPr lang="en-US" dirty="0"/>
              <a:t>Donor funding</a:t>
            </a:r>
          </a:p>
          <a:p>
            <a:pPr lvl="1"/>
            <a:r>
              <a:rPr lang="en-US" dirty="0"/>
              <a:t>Government financing</a:t>
            </a:r>
          </a:p>
          <a:p>
            <a:pPr lvl="1"/>
            <a:r>
              <a:rPr lang="en-US" dirty="0"/>
              <a:t> Long-term funding</a:t>
            </a:r>
          </a:p>
          <a:p>
            <a:pPr lvl="1"/>
            <a:r>
              <a:rPr lang="en-US" dirty="0"/>
              <a:t>Budget allocations for SSNC in national and facility budgets</a:t>
            </a:r>
          </a:p>
          <a:p>
            <a:pPr lvl="1"/>
            <a:r>
              <a:rPr lang="en-US" dirty="0"/>
              <a:t>No poverty</a:t>
            </a:r>
          </a:p>
          <a:p>
            <a:pPr lvl="1"/>
            <a:r>
              <a:rPr lang="en-US" dirty="0"/>
              <a:t>Insurance coverage</a:t>
            </a:r>
          </a:p>
          <a:p>
            <a:pPr lvl="1"/>
            <a:r>
              <a:rPr lang="en-US" dirty="0"/>
              <a:t>Exempted service reimbursement system</a:t>
            </a:r>
          </a:p>
        </p:txBody>
      </p:sp>
    </p:spTree>
    <p:extLst>
      <p:ext uri="{BB962C8B-B14F-4D97-AF65-F5344CB8AC3E}">
        <p14:creationId xmlns:p14="http://schemas.microsoft.com/office/powerpoint/2010/main" val="1492970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276F5-8FD8-4D93-5E92-FDB747100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D4670-CFB4-3C52-13A1-A60020E44D51}"/>
              </a:ext>
            </a:extLst>
          </p:cNvPr>
          <p:cNvSpPr>
            <a:spLocks noGrp="1"/>
          </p:cNvSpPr>
          <p:nvPr>
            <p:ph type="title"/>
          </p:nvPr>
        </p:nvSpPr>
        <p:spPr/>
        <p:txBody>
          <a:bodyPr/>
          <a:lstStyle/>
          <a:p>
            <a:r>
              <a:rPr lang="en-US" dirty="0"/>
              <a:t>Tier 2 strategies</a:t>
            </a:r>
          </a:p>
        </p:txBody>
      </p:sp>
      <p:sp>
        <p:nvSpPr>
          <p:cNvPr id="3" name="Content Placeholder 2">
            <a:extLst>
              <a:ext uri="{FF2B5EF4-FFF2-40B4-BE49-F238E27FC236}">
                <a16:creationId xmlns:a16="http://schemas.microsoft.com/office/drawing/2014/main" id="{F206D1C3-6269-6C26-A2CC-F70DDD022C25}"/>
              </a:ext>
            </a:extLst>
          </p:cNvPr>
          <p:cNvSpPr>
            <a:spLocks noGrp="1"/>
          </p:cNvSpPr>
          <p:nvPr>
            <p:ph idx="1"/>
          </p:nvPr>
        </p:nvSpPr>
        <p:spPr>
          <a:xfrm>
            <a:off x="949592" y="1871264"/>
            <a:ext cx="4805362" cy="5010150"/>
          </a:xfrm>
        </p:spPr>
        <p:txBody>
          <a:bodyPr>
            <a:noAutofit/>
          </a:bodyPr>
          <a:lstStyle/>
          <a:p>
            <a:pPr marL="514350" indent="-514350">
              <a:buAutoNum type="arabicPeriod"/>
            </a:pPr>
            <a:r>
              <a:rPr lang="en-US" sz="2200" dirty="0"/>
              <a:t>Engage policy makers &amp; leadership </a:t>
            </a:r>
          </a:p>
          <a:p>
            <a:pPr marL="514350" indent="-514350">
              <a:buAutoNum type="arabicPeriod"/>
            </a:pPr>
            <a:r>
              <a:rPr lang="en-US" sz="2200" dirty="0"/>
              <a:t>Quality improvement (QI) activities </a:t>
            </a:r>
          </a:p>
          <a:p>
            <a:pPr marL="514350" indent="-514350">
              <a:buAutoNum type="arabicPeriod"/>
            </a:pPr>
            <a:r>
              <a:rPr lang="en-US" sz="2200" dirty="0"/>
              <a:t>Develop data systems to capture &amp; feedback data and support routine SSNC data collection </a:t>
            </a:r>
          </a:p>
          <a:p>
            <a:pPr marL="514350" indent="-514350">
              <a:buAutoNum type="arabicPeriod"/>
            </a:pPr>
            <a:r>
              <a:rPr lang="en-US" sz="2200" dirty="0"/>
              <a:t>Design &amp; distribute clinical and biomedical educational materials</a:t>
            </a:r>
          </a:p>
          <a:p>
            <a:pPr marL="514350" indent="-514350">
              <a:buAutoNum type="arabicPeriod"/>
            </a:pPr>
            <a:r>
              <a:rPr lang="en-US" sz="2200" dirty="0"/>
              <a:t>Training &amp; mentorship </a:t>
            </a:r>
          </a:p>
          <a:p>
            <a:pPr marL="514350" indent="-514350">
              <a:buAutoNum type="arabicPeriod"/>
            </a:pPr>
            <a:r>
              <a:rPr lang="en-US" sz="2200" dirty="0"/>
              <a:t>Interprofessional collaboration &amp; teamwork </a:t>
            </a:r>
          </a:p>
        </p:txBody>
      </p:sp>
      <p:sp>
        <p:nvSpPr>
          <p:cNvPr id="5" name="Content Placeholder 2">
            <a:extLst>
              <a:ext uri="{FF2B5EF4-FFF2-40B4-BE49-F238E27FC236}">
                <a16:creationId xmlns:a16="http://schemas.microsoft.com/office/drawing/2014/main" id="{549AD113-AE20-1061-D126-FCB69BBCD8C7}"/>
              </a:ext>
            </a:extLst>
          </p:cNvPr>
          <p:cNvSpPr txBox="1">
            <a:spLocks/>
          </p:cNvSpPr>
          <p:nvPr/>
        </p:nvSpPr>
        <p:spPr>
          <a:xfrm>
            <a:off x="6282930" y="1871264"/>
            <a:ext cx="5598846" cy="5601495"/>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200"/>
              </a:spcBef>
              <a:spcAft>
                <a:spcPts val="200"/>
              </a:spcAft>
              <a:buSzPct val="125000"/>
              <a:buFont typeface="Arial" panose="020B0604020202020204" pitchFamily="34" charset="0"/>
              <a:buChar char="•"/>
              <a:defRPr sz="2600" kern="1200">
                <a:solidFill>
                  <a:srgbClr val="333333"/>
                </a:solidFill>
                <a:latin typeface="+mn-lt"/>
                <a:ea typeface="+mn-ea"/>
                <a:cs typeface="+mn-cs"/>
              </a:defRPr>
            </a:lvl1pPr>
            <a:lvl2pPr marL="685800" indent="-228600" algn="l" defTabSz="914400" rtl="0" eaLnBrk="1" latinLnBrk="0" hangingPunct="1">
              <a:lnSpc>
                <a:spcPct val="100000"/>
              </a:lnSpc>
              <a:spcBef>
                <a:spcPts val="200"/>
              </a:spcBef>
              <a:spcAft>
                <a:spcPts val="200"/>
              </a:spcAft>
              <a:buSzPct val="100000"/>
              <a:buFont typeface="Courier New" panose="02070309020205020404" pitchFamily="49" charset="0"/>
              <a:buChar char="o"/>
              <a:defRPr sz="2400" kern="1200">
                <a:solidFill>
                  <a:srgbClr val="333333"/>
                </a:solidFill>
                <a:latin typeface="+mn-lt"/>
                <a:ea typeface="+mn-ea"/>
                <a:cs typeface="+mn-cs"/>
              </a:defRPr>
            </a:lvl2pPr>
            <a:lvl3pPr marL="1143000" indent="-228600" algn="l" defTabSz="914400" rtl="0" eaLnBrk="1" latinLnBrk="0" hangingPunct="1">
              <a:lnSpc>
                <a:spcPct val="100000"/>
              </a:lnSpc>
              <a:spcBef>
                <a:spcPts val="200"/>
              </a:spcBef>
              <a:spcAft>
                <a:spcPts val="200"/>
              </a:spcAft>
              <a:buFont typeface="Wingdings" pitchFamily="2" charset="2"/>
              <a:buChar char="§"/>
              <a:defRPr sz="2000" kern="1200">
                <a:solidFill>
                  <a:srgbClr val="333333"/>
                </a:solidFill>
                <a:latin typeface="+mn-lt"/>
                <a:ea typeface="+mn-ea"/>
                <a:cs typeface="+mn-cs"/>
              </a:defRPr>
            </a:lvl3pPr>
            <a:lvl4pPr marL="1600200" indent="-228600" algn="l" defTabSz="914400" rtl="0" eaLnBrk="1" latinLnBrk="0" hangingPunct="1">
              <a:lnSpc>
                <a:spcPct val="100000"/>
              </a:lnSpc>
              <a:spcBef>
                <a:spcPts val="200"/>
              </a:spcBef>
              <a:spcAft>
                <a:spcPts val="200"/>
              </a:spcAft>
              <a:buSzPct val="115000"/>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0" hangingPunct="1">
              <a:lnSpc>
                <a:spcPct val="100000"/>
              </a:lnSpc>
              <a:spcBef>
                <a:spcPts val="200"/>
              </a:spcBef>
              <a:spcAft>
                <a:spcPts val="200"/>
              </a:spcAft>
              <a:buFont typeface="Courier New" panose="02070309020205020404" pitchFamily="49" charset="0"/>
              <a:buChar char="o"/>
              <a:defRPr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t>7.  Motivate staff and empower</a:t>
            </a:r>
          </a:p>
          <a:p>
            <a:pPr marL="0" indent="0">
              <a:buNone/>
            </a:pPr>
            <a:r>
              <a:rPr lang="en-US" sz="2200" dirty="0"/>
              <a:t>     collaboration</a:t>
            </a:r>
          </a:p>
          <a:p>
            <a:pPr marL="0" indent="0">
              <a:buNone/>
            </a:pPr>
            <a:r>
              <a:rPr lang="en-US" sz="2200" dirty="0"/>
              <a:t>8. Ensuring the availability of appropriate</a:t>
            </a:r>
          </a:p>
          <a:p>
            <a:pPr marL="0" indent="0">
              <a:buNone/>
            </a:pPr>
            <a:r>
              <a:rPr lang="en-US" sz="2200" dirty="0"/>
              <a:t>    functional SSNC medial devices</a:t>
            </a:r>
          </a:p>
          <a:p>
            <a:pPr marL="0" indent="0">
              <a:buNone/>
            </a:pPr>
            <a:r>
              <a:rPr lang="en-US" sz="2200" dirty="0"/>
              <a:t>9. Identify &amp; qualify appropriate technology</a:t>
            </a:r>
          </a:p>
          <a:p>
            <a:pPr marL="0" indent="0">
              <a:buNone/>
            </a:pPr>
            <a:r>
              <a:rPr lang="en-US" sz="2200" dirty="0"/>
              <a:t>10. Hatch Technologies (African-based</a:t>
            </a:r>
          </a:p>
          <a:p>
            <a:pPr marL="0" indent="0">
              <a:buNone/>
            </a:pPr>
            <a:r>
              <a:rPr lang="en-US" sz="2200" dirty="0"/>
              <a:t>    technology distribution) </a:t>
            </a:r>
          </a:p>
          <a:p>
            <a:pPr marL="0" indent="0">
              <a:buNone/>
            </a:pPr>
            <a:r>
              <a:rPr lang="en-US" sz="2200" dirty="0"/>
              <a:t>11. Engage family members in a care</a:t>
            </a:r>
          </a:p>
          <a:p>
            <a:pPr marL="0" indent="0">
              <a:buNone/>
            </a:pPr>
            <a:r>
              <a:rPr lang="en-US" sz="2200" dirty="0"/>
              <a:t>    process and follow up actions</a:t>
            </a:r>
          </a:p>
          <a:p>
            <a:pPr marL="0" indent="0">
              <a:buNone/>
            </a:pPr>
            <a:r>
              <a:rPr lang="en-US" sz="2200" dirty="0"/>
              <a:t>12. Ensure adequate funding</a:t>
            </a:r>
          </a:p>
          <a:p>
            <a:pPr marL="0" indent="0">
              <a:buNone/>
            </a:pPr>
            <a:r>
              <a:rPr lang="en-US" sz="2200" dirty="0"/>
              <a:t>13. Tailoring local infrastructure  </a:t>
            </a:r>
          </a:p>
        </p:txBody>
      </p:sp>
    </p:spTree>
    <p:extLst>
      <p:ext uri="{BB962C8B-B14F-4D97-AF65-F5344CB8AC3E}">
        <p14:creationId xmlns:p14="http://schemas.microsoft.com/office/powerpoint/2010/main" val="2607894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4C77A-C585-A588-6F9F-92E510324EE4}"/>
              </a:ext>
            </a:extLst>
          </p:cNvPr>
          <p:cNvSpPr>
            <a:spLocks noGrp="1"/>
          </p:cNvSpPr>
          <p:nvPr>
            <p:ph type="title"/>
          </p:nvPr>
        </p:nvSpPr>
        <p:spPr>
          <a:xfrm>
            <a:off x="838200" y="87656"/>
            <a:ext cx="10515600" cy="1325563"/>
          </a:xfrm>
        </p:spPr>
        <p:txBody>
          <a:bodyPr/>
          <a:lstStyle/>
          <a:p>
            <a:r>
              <a:rPr lang="en-US" dirty="0"/>
              <a:t>Tier 2: Strategies &amp; Mechanisms Part 1</a:t>
            </a:r>
          </a:p>
        </p:txBody>
      </p:sp>
      <p:sp>
        <p:nvSpPr>
          <p:cNvPr id="6" name="Rounded Rectangle 5">
            <a:extLst>
              <a:ext uri="{FF2B5EF4-FFF2-40B4-BE49-F238E27FC236}">
                <a16:creationId xmlns:a16="http://schemas.microsoft.com/office/drawing/2014/main" id="{2F4220F5-01DC-7E9A-FCD8-1F9595A71256}"/>
              </a:ext>
            </a:extLst>
          </p:cNvPr>
          <p:cNvSpPr/>
          <p:nvPr/>
        </p:nvSpPr>
        <p:spPr>
          <a:xfrm>
            <a:off x="717628" y="1810718"/>
            <a:ext cx="4201609" cy="76314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1. Engage policy makers &amp; leadership</a:t>
            </a:r>
          </a:p>
        </p:txBody>
      </p:sp>
      <p:sp>
        <p:nvSpPr>
          <p:cNvPr id="10" name="Rounded Rectangle 9">
            <a:extLst>
              <a:ext uri="{FF2B5EF4-FFF2-40B4-BE49-F238E27FC236}">
                <a16:creationId xmlns:a16="http://schemas.microsoft.com/office/drawing/2014/main" id="{39D169AC-C905-7C7C-DCF9-EF7EDDAF36D2}"/>
              </a:ext>
            </a:extLst>
          </p:cNvPr>
          <p:cNvSpPr/>
          <p:nvPr/>
        </p:nvSpPr>
        <p:spPr>
          <a:xfrm>
            <a:off x="717629" y="5203158"/>
            <a:ext cx="4201611" cy="114821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3. Develop data systems to capture &amp; feedback data and support routine SSNC data collection</a:t>
            </a:r>
          </a:p>
        </p:txBody>
      </p:sp>
      <p:sp>
        <p:nvSpPr>
          <p:cNvPr id="11" name="Rounded Rectangle 10">
            <a:extLst>
              <a:ext uri="{FF2B5EF4-FFF2-40B4-BE49-F238E27FC236}">
                <a16:creationId xmlns:a16="http://schemas.microsoft.com/office/drawing/2014/main" id="{566DC43B-D213-B4E9-A243-DBDE9109F9EE}"/>
              </a:ext>
            </a:extLst>
          </p:cNvPr>
          <p:cNvSpPr/>
          <p:nvPr/>
        </p:nvSpPr>
        <p:spPr>
          <a:xfrm>
            <a:off x="717628" y="3648131"/>
            <a:ext cx="4201610" cy="76314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2. Quality improvement (QI) activities</a:t>
            </a:r>
          </a:p>
        </p:txBody>
      </p:sp>
      <p:sp>
        <p:nvSpPr>
          <p:cNvPr id="14" name="Rounded Rectangle 13">
            <a:extLst>
              <a:ext uri="{FF2B5EF4-FFF2-40B4-BE49-F238E27FC236}">
                <a16:creationId xmlns:a16="http://schemas.microsoft.com/office/drawing/2014/main" id="{C7106F38-8FAA-7E0A-C167-411091BC42F1}"/>
              </a:ext>
            </a:extLst>
          </p:cNvPr>
          <p:cNvSpPr/>
          <p:nvPr/>
        </p:nvSpPr>
        <p:spPr>
          <a:xfrm>
            <a:off x="6096000" y="1384377"/>
            <a:ext cx="5815312" cy="1615825"/>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1.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Policy-maker and leadership engagement fosters alignment of SSNC with national health priorities,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promotes long-term commitment,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and ensures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integration of SSNC into broader health system goals</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5" name="Rounded Rectangle 14">
            <a:extLst>
              <a:ext uri="{FF2B5EF4-FFF2-40B4-BE49-F238E27FC236}">
                <a16:creationId xmlns:a16="http://schemas.microsoft.com/office/drawing/2014/main" id="{56DFA4EC-FF4A-5F7B-D7A4-429E98A23FC0}"/>
              </a:ext>
            </a:extLst>
          </p:cNvPr>
          <p:cNvSpPr/>
          <p:nvPr/>
        </p:nvSpPr>
        <p:spPr>
          <a:xfrm>
            <a:off x="6096000" y="3309745"/>
            <a:ext cx="5815312" cy="1439915"/>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2.Routine data-driven QI cycles build a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culture of learning and accountability,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enabling timely identification of gaps and driving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sustainable improvements in SSNC coverage and quality</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6" name="Rounded Rectangle 15">
            <a:extLst>
              <a:ext uri="{FF2B5EF4-FFF2-40B4-BE49-F238E27FC236}">
                <a16:creationId xmlns:a16="http://schemas.microsoft.com/office/drawing/2014/main" id="{8DEA03FE-67A5-6933-008E-051BA9A217D8}"/>
              </a:ext>
            </a:extLst>
          </p:cNvPr>
          <p:cNvSpPr/>
          <p:nvPr/>
        </p:nvSpPr>
        <p:spPr>
          <a:xfrm>
            <a:off x="6096000" y="5057307"/>
            <a:ext cx="5815312" cy="1439915"/>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3.Robust, context-appropriate data systems enable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real-time monitoring</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 feedback, and course correction,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supporting transparency,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and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improving responsiveness to local needs</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18" name="Straight Arrow Connector 17">
            <a:extLst>
              <a:ext uri="{FF2B5EF4-FFF2-40B4-BE49-F238E27FC236}">
                <a16:creationId xmlns:a16="http://schemas.microsoft.com/office/drawing/2014/main" id="{26BE79E5-B111-1D87-72BE-33CAEF5EA305}"/>
              </a:ext>
            </a:extLst>
          </p:cNvPr>
          <p:cNvCxnSpPr>
            <a:stCxn id="6" idx="3"/>
            <a:endCxn id="14" idx="1"/>
          </p:cNvCxnSpPr>
          <p:nvPr/>
        </p:nvCxnSpPr>
        <p:spPr>
          <a:xfrm flipV="1">
            <a:off x="4919237" y="2192290"/>
            <a:ext cx="1176763" cy="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EC721EA-625D-C18E-46C2-125BDABCBAF3}"/>
              </a:ext>
            </a:extLst>
          </p:cNvPr>
          <p:cNvCxnSpPr>
            <a:stCxn id="11" idx="3"/>
            <a:endCxn id="15" idx="1"/>
          </p:cNvCxnSpPr>
          <p:nvPr/>
        </p:nvCxnSpPr>
        <p:spPr>
          <a:xfrm flipV="1">
            <a:off x="4919238" y="4029703"/>
            <a:ext cx="1176762" cy="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E54E197-73B2-C79E-2FDE-AF301920A529}"/>
              </a:ext>
            </a:extLst>
          </p:cNvPr>
          <p:cNvCxnSpPr>
            <a:stCxn id="10" idx="3"/>
            <a:endCxn id="16" idx="1"/>
          </p:cNvCxnSpPr>
          <p:nvPr/>
        </p:nvCxnSpPr>
        <p:spPr>
          <a:xfrm>
            <a:off x="4919240" y="5777265"/>
            <a:ext cx="1176760"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32ECAE3A-30CC-95B5-0E2D-6234EA30A6A7}"/>
              </a:ext>
            </a:extLst>
          </p:cNvPr>
          <p:cNvSpPr txBox="1">
            <a:spLocks/>
          </p:cNvSpPr>
          <p:nvPr/>
        </p:nvSpPr>
        <p:spPr>
          <a:xfrm>
            <a:off x="998658" y="1344110"/>
            <a:ext cx="3639547" cy="4406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Strategies used by NEST360</a:t>
            </a:r>
          </a:p>
        </p:txBody>
      </p:sp>
      <p:sp>
        <p:nvSpPr>
          <p:cNvPr id="4" name="Subtitle 2">
            <a:extLst>
              <a:ext uri="{FF2B5EF4-FFF2-40B4-BE49-F238E27FC236}">
                <a16:creationId xmlns:a16="http://schemas.microsoft.com/office/drawing/2014/main" id="{4DF9CCA6-D68C-BB89-3742-567149B235B2}"/>
              </a:ext>
            </a:extLst>
          </p:cNvPr>
          <p:cNvSpPr txBox="1">
            <a:spLocks/>
          </p:cNvSpPr>
          <p:nvPr/>
        </p:nvSpPr>
        <p:spPr>
          <a:xfrm>
            <a:off x="8000219" y="972613"/>
            <a:ext cx="2006874" cy="44060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Mechanism</a:t>
            </a:r>
          </a:p>
        </p:txBody>
      </p:sp>
      <p:sp>
        <p:nvSpPr>
          <p:cNvPr id="5" name="Rectangle 4">
            <a:extLst>
              <a:ext uri="{FF2B5EF4-FFF2-40B4-BE49-F238E27FC236}">
                <a16:creationId xmlns:a16="http://schemas.microsoft.com/office/drawing/2014/main" id="{C63A324F-4F16-58A9-A8EF-643E527C8778}"/>
              </a:ext>
            </a:extLst>
          </p:cNvPr>
          <p:cNvSpPr/>
          <p:nvPr/>
        </p:nvSpPr>
        <p:spPr>
          <a:xfrm>
            <a:off x="280688" y="269842"/>
            <a:ext cx="2705580" cy="127321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Colors coordinates to the tier 1 model </a:t>
            </a:r>
          </a:p>
        </p:txBody>
      </p:sp>
    </p:spTree>
    <p:extLst>
      <p:ext uri="{BB962C8B-B14F-4D97-AF65-F5344CB8AC3E}">
        <p14:creationId xmlns:p14="http://schemas.microsoft.com/office/powerpoint/2010/main" val="3867823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8E892-E08B-01F9-F84D-CD4A08995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59C6F-2857-0125-8BA5-21722C1ED9E8}"/>
              </a:ext>
            </a:extLst>
          </p:cNvPr>
          <p:cNvSpPr>
            <a:spLocks noGrp="1"/>
          </p:cNvSpPr>
          <p:nvPr>
            <p:ph type="title"/>
          </p:nvPr>
        </p:nvSpPr>
        <p:spPr>
          <a:xfrm>
            <a:off x="838198" y="-26146"/>
            <a:ext cx="10515600" cy="1022596"/>
          </a:xfrm>
        </p:spPr>
        <p:txBody>
          <a:bodyPr/>
          <a:lstStyle/>
          <a:p>
            <a:r>
              <a:rPr lang="en-US" dirty="0"/>
              <a:t>Tier 2: Strategies &amp; Mechanisms Part 2</a:t>
            </a:r>
          </a:p>
        </p:txBody>
      </p:sp>
      <p:sp>
        <p:nvSpPr>
          <p:cNvPr id="7" name="Rounded Rectangle 6">
            <a:extLst>
              <a:ext uri="{FF2B5EF4-FFF2-40B4-BE49-F238E27FC236}">
                <a16:creationId xmlns:a16="http://schemas.microsoft.com/office/drawing/2014/main" id="{C3BA2443-81CF-C40D-24FD-10B5DD1FD96A}"/>
              </a:ext>
            </a:extLst>
          </p:cNvPr>
          <p:cNvSpPr/>
          <p:nvPr/>
        </p:nvSpPr>
        <p:spPr>
          <a:xfrm>
            <a:off x="717629" y="5479977"/>
            <a:ext cx="4201606" cy="76314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6. Interprofessional collaboration &amp; teamwork </a:t>
            </a:r>
          </a:p>
        </p:txBody>
      </p:sp>
      <p:sp>
        <p:nvSpPr>
          <p:cNvPr id="8" name="Rounded Rectangle 7">
            <a:extLst>
              <a:ext uri="{FF2B5EF4-FFF2-40B4-BE49-F238E27FC236}">
                <a16:creationId xmlns:a16="http://schemas.microsoft.com/office/drawing/2014/main" id="{76CBCF85-D3AA-F774-81ED-855117C4F4AC}"/>
              </a:ext>
            </a:extLst>
          </p:cNvPr>
          <p:cNvSpPr/>
          <p:nvPr/>
        </p:nvSpPr>
        <p:spPr>
          <a:xfrm>
            <a:off x="717629" y="3688331"/>
            <a:ext cx="4201607" cy="76314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5. Training &amp; mentorship</a:t>
            </a:r>
          </a:p>
        </p:txBody>
      </p:sp>
      <p:sp>
        <p:nvSpPr>
          <p:cNvPr id="9" name="Rounded Rectangle 8">
            <a:extLst>
              <a:ext uri="{FF2B5EF4-FFF2-40B4-BE49-F238E27FC236}">
                <a16:creationId xmlns:a16="http://schemas.microsoft.com/office/drawing/2014/main" id="{E8A55D7B-3E95-0BEA-F8E8-A9797FCC6578}"/>
              </a:ext>
            </a:extLst>
          </p:cNvPr>
          <p:cNvSpPr/>
          <p:nvPr/>
        </p:nvSpPr>
        <p:spPr>
          <a:xfrm>
            <a:off x="599475" y="1921142"/>
            <a:ext cx="4201608" cy="76314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4. Design &amp; distribute clinical and biomedical educational materials</a:t>
            </a:r>
          </a:p>
        </p:txBody>
      </p:sp>
      <p:sp>
        <p:nvSpPr>
          <p:cNvPr id="14" name="Rounded Rectangle 13">
            <a:extLst>
              <a:ext uri="{FF2B5EF4-FFF2-40B4-BE49-F238E27FC236}">
                <a16:creationId xmlns:a16="http://schemas.microsoft.com/office/drawing/2014/main" id="{CAD90C30-6CC2-F9A6-F60B-C6220509E6EC}"/>
              </a:ext>
            </a:extLst>
          </p:cNvPr>
          <p:cNvSpPr/>
          <p:nvPr/>
        </p:nvSpPr>
        <p:spPr>
          <a:xfrm>
            <a:off x="6095998" y="1490203"/>
            <a:ext cx="5859439" cy="1625024"/>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4.Providing standardized, accessible educational resources ensures consistent messaging, improves provider knowledge, which can increase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adoption and fidelity to EBIs,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and supports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long-term adherence to clinical guidelines</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5" name="Rounded Rectangle 14">
            <a:extLst>
              <a:ext uri="{FF2B5EF4-FFF2-40B4-BE49-F238E27FC236}">
                <a16:creationId xmlns:a16="http://schemas.microsoft.com/office/drawing/2014/main" id="{804F449A-2869-D125-1036-4E54FC6A2AE6}"/>
              </a:ext>
            </a:extLst>
          </p:cNvPr>
          <p:cNvSpPr/>
          <p:nvPr/>
        </p:nvSpPr>
        <p:spPr>
          <a:xfrm>
            <a:off x="6095998" y="3257390"/>
            <a:ext cx="5859439" cy="1625025"/>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5.Training and ongoing mentorship builds provider competence, confidence, and accountability,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improving fidelity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to protocols, retention of knowledge, and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increased adoption of EBIs</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 and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sustainability of SSNC practices</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6" name="Rounded Rectangle 15">
            <a:extLst>
              <a:ext uri="{FF2B5EF4-FFF2-40B4-BE49-F238E27FC236}">
                <a16:creationId xmlns:a16="http://schemas.microsoft.com/office/drawing/2014/main" id="{577F8258-FE75-00A9-0D36-A590074E0AAF}"/>
              </a:ext>
            </a:extLst>
          </p:cNvPr>
          <p:cNvSpPr/>
          <p:nvPr/>
        </p:nvSpPr>
        <p:spPr>
          <a:xfrm>
            <a:off x="6095998" y="5024578"/>
            <a:ext cx="5859439" cy="1673945"/>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6.Strengthening collaboration across cadres enhances communication, shared ownership, and problem solving, promoting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fidelity to standards of care, increasing adoption of EBIs across cadres,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and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improving continuity of SSNC delivery</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4" name="Straight Arrow Connector 3">
            <a:extLst>
              <a:ext uri="{FF2B5EF4-FFF2-40B4-BE49-F238E27FC236}">
                <a16:creationId xmlns:a16="http://schemas.microsoft.com/office/drawing/2014/main" id="{544974A4-FB49-EAC1-60FA-3472FC1E4B09}"/>
              </a:ext>
            </a:extLst>
          </p:cNvPr>
          <p:cNvCxnSpPr>
            <a:stCxn id="9" idx="3"/>
            <a:endCxn id="14" idx="1"/>
          </p:cNvCxnSpPr>
          <p:nvPr/>
        </p:nvCxnSpPr>
        <p:spPr>
          <a:xfrm>
            <a:off x="4801083" y="2302715"/>
            <a:ext cx="1294915"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28A8151-1FDD-E101-F13D-7A2BB3D4AD3C}"/>
              </a:ext>
            </a:extLst>
          </p:cNvPr>
          <p:cNvCxnSpPr>
            <a:stCxn id="8" idx="3"/>
            <a:endCxn id="15" idx="1"/>
          </p:cNvCxnSpPr>
          <p:nvPr/>
        </p:nvCxnSpPr>
        <p:spPr>
          <a:xfrm flipV="1">
            <a:off x="4919236" y="4069903"/>
            <a:ext cx="1176762" cy="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2C32DD9-AEA6-823E-0387-491E89708B14}"/>
              </a:ext>
            </a:extLst>
          </p:cNvPr>
          <p:cNvCxnSpPr>
            <a:stCxn id="7" idx="3"/>
            <a:endCxn id="16" idx="1"/>
          </p:cNvCxnSpPr>
          <p:nvPr/>
        </p:nvCxnSpPr>
        <p:spPr>
          <a:xfrm>
            <a:off x="4919235" y="5861550"/>
            <a:ext cx="1176763" cy="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9839D60A-EABD-8108-645E-226DB534EE08}"/>
              </a:ext>
            </a:extLst>
          </p:cNvPr>
          <p:cNvSpPr txBox="1">
            <a:spLocks/>
          </p:cNvSpPr>
          <p:nvPr/>
        </p:nvSpPr>
        <p:spPr>
          <a:xfrm>
            <a:off x="8022280" y="1047200"/>
            <a:ext cx="2006874" cy="44060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Mechanism</a:t>
            </a:r>
          </a:p>
        </p:txBody>
      </p:sp>
      <p:sp>
        <p:nvSpPr>
          <p:cNvPr id="5" name="Subtitle 2">
            <a:extLst>
              <a:ext uri="{FF2B5EF4-FFF2-40B4-BE49-F238E27FC236}">
                <a16:creationId xmlns:a16="http://schemas.microsoft.com/office/drawing/2014/main" id="{EC64ABCA-74FA-FCE1-2AB7-58DB01956BAD}"/>
              </a:ext>
            </a:extLst>
          </p:cNvPr>
          <p:cNvSpPr txBox="1">
            <a:spLocks/>
          </p:cNvSpPr>
          <p:nvPr/>
        </p:nvSpPr>
        <p:spPr>
          <a:xfrm>
            <a:off x="998658" y="1344110"/>
            <a:ext cx="3639547" cy="4406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Strategies used by NEST360</a:t>
            </a:r>
          </a:p>
        </p:txBody>
      </p:sp>
    </p:spTree>
    <p:extLst>
      <p:ext uri="{BB962C8B-B14F-4D97-AF65-F5344CB8AC3E}">
        <p14:creationId xmlns:p14="http://schemas.microsoft.com/office/powerpoint/2010/main" val="1827299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26D46-783E-F8BA-07A9-880770109E7A}"/>
              </a:ext>
            </a:extLst>
          </p:cNvPr>
          <p:cNvSpPr>
            <a:spLocks noGrp="1"/>
          </p:cNvSpPr>
          <p:nvPr>
            <p:ph type="title"/>
          </p:nvPr>
        </p:nvSpPr>
        <p:spPr>
          <a:xfrm>
            <a:off x="838200" y="68697"/>
            <a:ext cx="10515600" cy="985789"/>
          </a:xfrm>
        </p:spPr>
        <p:txBody>
          <a:bodyPr/>
          <a:lstStyle/>
          <a:p>
            <a:r>
              <a:rPr lang="en-US" dirty="0"/>
              <a:t>Tier 2: Strategies and Mechanisms Part 3</a:t>
            </a:r>
          </a:p>
        </p:txBody>
      </p:sp>
      <p:sp>
        <p:nvSpPr>
          <p:cNvPr id="8" name="Rounded Rectangle 7">
            <a:extLst>
              <a:ext uri="{FF2B5EF4-FFF2-40B4-BE49-F238E27FC236}">
                <a16:creationId xmlns:a16="http://schemas.microsoft.com/office/drawing/2014/main" id="{31EF642A-A981-ABE7-7E7B-BA16F2593397}"/>
              </a:ext>
            </a:extLst>
          </p:cNvPr>
          <p:cNvSpPr/>
          <p:nvPr/>
        </p:nvSpPr>
        <p:spPr>
          <a:xfrm>
            <a:off x="483730" y="5471748"/>
            <a:ext cx="4201606" cy="76314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9. Identify &amp; qualify appropriate technology</a:t>
            </a:r>
          </a:p>
        </p:txBody>
      </p:sp>
      <p:sp>
        <p:nvSpPr>
          <p:cNvPr id="9" name="Rounded Rectangle 8">
            <a:extLst>
              <a:ext uri="{FF2B5EF4-FFF2-40B4-BE49-F238E27FC236}">
                <a16:creationId xmlns:a16="http://schemas.microsoft.com/office/drawing/2014/main" id="{A745B906-EF9C-C766-E0A0-AFE00F72F8CA}"/>
              </a:ext>
            </a:extLst>
          </p:cNvPr>
          <p:cNvSpPr/>
          <p:nvPr/>
        </p:nvSpPr>
        <p:spPr>
          <a:xfrm>
            <a:off x="483730" y="3546166"/>
            <a:ext cx="4201606" cy="76314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000000"/>
                </a:solidFill>
                <a:effectLst/>
                <a:uLnTx/>
                <a:uFillTx/>
                <a:latin typeface="Arial" panose="020B0604020202020204"/>
                <a:ea typeface="+mn-ea"/>
                <a:cs typeface="+mn-cs"/>
              </a:rPr>
              <a:t>8. Ensuring the availability of appropriate functional SSNC medical devices</a:t>
            </a:r>
          </a:p>
        </p:txBody>
      </p:sp>
      <p:sp>
        <p:nvSpPr>
          <p:cNvPr id="10" name="Rounded Rectangle 9">
            <a:extLst>
              <a:ext uri="{FF2B5EF4-FFF2-40B4-BE49-F238E27FC236}">
                <a16:creationId xmlns:a16="http://schemas.microsoft.com/office/drawing/2014/main" id="{B5D1ACCA-DB23-9284-D678-35825C412268}"/>
              </a:ext>
            </a:extLst>
          </p:cNvPr>
          <p:cNvSpPr/>
          <p:nvPr/>
        </p:nvSpPr>
        <p:spPr>
          <a:xfrm>
            <a:off x="483730" y="1620584"/>
            <a:ext cx="4201606" cy="76314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7. Motivate staff and empower collaboration </a:t>
            </a:r>
          </a:p>
        </p:txBody>
      </p:sp>
      <p:sp>
        <p:nvSpPr>
          <p:cNvPr id="15" name="Rounded Rectangle 14">
            <a:extLst>
              <a:ext uri="{FF2B5EF4-FFF2-40B4-BE49-F238E27FC236}">
                <a16:creationId xmlns:a16="http://schemas.microsoft.com/office/drawing/2014/main" id="{4FF99268-5590-1231-4920-186A627EC03D}"/>
              </a:ext>
            </a:extLst>
          </p:cNvPr>
          <p:cNvSpPr/>
          <p:nvPr/>
        </p:nvSpPr>
        <p:spPr>
          <a:xfrm>
            <a:off x="5494361" y="1355044"/>
            <a:ext cx="6338248" cy="1325563"/>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7.Recognition, supportive supervision, and empowerment of staff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increases acceptability, motivation, and engagement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leading to greater accountability, reduced burnout, and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higher quality care delivery</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6" name="Rounded Rectangle 15">
            <a:extLst>
              <a:ext uri="{FF2B5EF4-FFF2-40B4-BE49-F238E27FC236}">
                <a16:creationId xmlns:a16="http://schemas.microsoft.com/office/drawing/2014/main" id="{44C0EE37-D025-A876-505D-079FD86E15B2}"/>
              </a:ext>
            </a:extLst>
          </p:cNvPr>
          <p:cNvSpPr/>
          <p:nvPr/>
        </p:nvSpPr>
        <p:spPr>
          <a:xfrm>
            <a:off x="5494361" y="3115227"/>
            <a:ext cx="6338248" cy="1625024"/>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8.Ensuring appropriate, functional technology is available at the right level of care enables providers to delivery life-saving interventions safely and effectively, promoting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feasibility and adoption of EBIs</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 and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reducing gaps in SSNC delivery</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7" name="Rounded Rectangle 16">
            <a:extLst>
              <a:ext uri="{FF2B5EF4-FFF2-40B4-BE49-F238E27FC236}">
                <a16:creationId xmlns:a16="http://schemas.microsoft.com/office/drawing/2014/main" id="{39D2C093-747B-F544-35B6-392704515160}"/>
              </a:ext>
            </a:extLst>
          </p:cNvPr>
          <p:cNvSpPr/>
          <p:nvPr/>
        </p:nvSpPr>
        <p:spPr>
          <a:xfrm>
            <a:off x="5494361" y="5040809"/>
            <a:ext cx="6338248" cy="1625024"/>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9.Identifying, testing, and sharing results of devices that can function in rugged settings</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 increases the feasibility of their use to provide SSNC preventing device graveyards</a:t>
            </a:r>
            <a:r>
              <a:rPr kumimoji="0" lang="en-US" sz="1800" b="0" i="1"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and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increasing the adoption of SSNC EBIs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because devices remain functional and available</a:t>
            </a:r>
          </a:p>
        </p:txBody>
      </p:sp>
      <p:cxnSp>
        <p:nvCxnSpPr>
          <p:cNvPr id="19" name="Straight Arrow Connector 18">
            <a:extLst>
              <a:ext uri="{FF2B5EF4-FFF2-40B4-BE49-F238E27FC236}">
                <a16:creationId xmlns:a16="http://schemas.microsoft.com/office/drawing/2014/main" id="{0FE439BC-8E72-C326-E554-F32629213DD3}"/>
              </a:ext>
            </a:extLst>
          </p:cNvPr>
          <p:cNvCxnSpPr>
            <a:stCxn id="10" idx="3"/>
            <a:endCxn id="15" idx="1"/>
          </p:cNvCxnSpPr>
          <p:nvPr/>
        </p:nvCxnSpPr>
        <p:spPr>
          <a:xfrm>
            <a:off x="4685336" y="2002157"/>
            <a:ext cx="809025" cy="15669"/>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527F15F-7EB1-5E8C-844F-5772BD2FA974}"/>
              </a:ext>
            </a:extLst>
          </p:cNvPr>
          <p:cNvCxnSpPr>
            <a:stCxn id="9" idx="3"/>
            <a:endCxn id="16" idx="1"/>
          </p:cNvCxnSpPr>
          <p:nvPr/>
        </p:nvCxnSpPr>
        <p:spPr>
          <a:xfrm>
            <a:off x="4685336" y="3927739"/>
            <a:ext cx="809025"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C1F1BB8-1613-43FA-58EE-AF68408FA72D}"/>
              </a:ext>
            </a:extLst>
          </p:cNvPr>
          <p:cNvCxnSpPr>
            <a:stCxn id="8" idx="3"/>
            <a:endCxn id="17" idx="1"/>
          </p:cNvCxnSpPr>
          <p:nvPr/>
        </p:nvCxnSpPr>
        <p:spPr>
          <a:xfrm>
            <a:off x="4685336" y="5853321"/>
            <a:ext cx="809025"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8F653AA3-BD3E-3446-AAF8-A5DDFFDEB7D3}"/>
              </a:ext>
            </a:extLst>
          </p:cNvPr>
          <p:cNvSpPr txBox="1">
            <a:spLocks/>
          </p:cNvSpPr>
          <p:nvPr/>
        </p:nvSpPr>
        <p:spPr>
          <a:xfrm>
            <a:off x="7660048" y="917431"/>
            <a:ext cx="2006874" cy="44060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Mechanism</a:t>
            </a:r>
          </a:p>
        </p:txBody>
      </p:sp>
      <p:sp>
        <p:nvSpPr>
          <p:cNvPr id="4" name="Subtitle 2">
            <a:extLst>
              <a:ext uri="{FF2B5EF4-FFF2-40B4-BE49-F238E27FC236}">
                <a16:creationId xmlns:a16="http://schemas.microsoft.com/office/drawing/2014/main" id="{A1DF60A6-2121-D50E-7EC2-6E59FC978012}"/>
              </a:ext>
            </a:extLst>
          </p:cNvPr>
          <p:cNvSpPr txBox="1">
            <a:spLocks/>
          </p:cNvSpPr>
          <p:nvPr/>
        </p:nvSpPr>
        <p:spPr>
          <a:xfrm>
            <a:off x="771970" y="1117235"/>
            <a:ext cx="3639547" cy="4406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Strategies used by NEST360</a:t>
            </a:r>
          </a:p>
        </p:txBody>
      </p:sp>
    </p:spTree>
    <p:extLst>
      <p:ext uri="{BB962C8B-B14F-4D97-AF65-F5344CB8AC3E}">
        <p14:creationId xmlns:p14="http://schemas.microsoft.com/office/powerpoint/2010/main" val="1744395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B4C73-D79F-F759-5D85-D7A7F652D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D4D3C4-1F8C-F56C-B7A4-3194D7202EB2}"/>
              </a:ext>
            </a:extLst>
          </p:cNvPr>
          <p:cNvSpPr>
            <a:spLocks noGrp="1"/>
          </p:cNvSpPr>
          <p:nvPr>
            <p:ph type="title"/>
          </p:nvPr>
        </p:nvSpPr>
        <p:spPr>
          <a:xfrm>
            <a:off x="838200" y="103729"/>
            <a:ext cx="10515600" cy="1021672"/>
          </a:xfrm>
        </p:spPr>
        <p:txBody>
          <a:bodyPr/>
          <a:lstStyle/>
          <a:p>
            <a:r>
              <a:rPr lang="en-US" dirty="0"/>
              <a:t>Tier 2: Strategies and Mechanisms Part 4</a:t>
            </a:r>
          </a:p>
        </p:txBody>
      </p:sp>
      <p:sp>
        <p:nvSpPr>
          <p:cNvPr id="4" name="Rounded Rectangle 3">
            <a:extLst>
              <a:ext uri="{FF2B5EF4-FFF2-40B4-BE49-F238E27FC236}">
                <a16:creationId xmlns:a16="http://schemas.microsoft.com/office/drawing/2014/main" id="{A6C6A18C-53F0-8B79-E6C5-EFD7D6F6F3B7}"/>
              </a:ext>
            </a:extLst>
          </p:cNvPr>
          <p:cNvSpPr/>
          <p:nvPr/>
        </p:nvSpPr>
        <p:spPr>
          <a:xfrm>
            <a:off x="483730" y="5850323"/>
            <a:ext cx="4201606" cy="76314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13. Tailoring local infrastructure</a:t>
            </a:r>
          </a:p>
        </p:txBody>
      </p:sp>
      <p:sp>
        <p:nvSpPr>
          <p:cNvPr id="5" name="Rounded Rectangle 4">
            <a:extLst>
              <a:ext uri="{FF2B5EF4-FFF2-40B4-BE49-F238E27FC236}">
                <a16:creationId xmlns:a16="http://schemas.microsoft.com/office/drawing/2014/main" id="{678BB58D-B78F-0AF9-0251-9946CC99D441}"/>
              </a:ext>
            </a:extLst>
          </p:cNvPr>
          <p:cNvSpPr/>
          <p:nvPr/>
        </p:nvSpPr>
        <p:spPr>
          <a:xfrm>
            <a:off x="483730" y="4505275"/>
            <a:ext cx="4201606" cy="76314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12. Ensure adequate funding</a:t>
            </a:r>
          </a:p>
        </p:txBody>
      </p:sp>
      <p:sp>
        <p:nvSpPr>
          <p:cNvPr id="6" name="Rounded Rectangle 5">
            <a:extLst>
              <a:ext uri="{FF2B5EF4-FFF2-40B4-BE49-F238E27FC236}">
                <a16:creationId xmlns:a16="http://schemas.microsoft.com/office/drawing/2014/main" id="{B01FD253-AD4F-FAC6-92F7-783E896DA751}"/>
              </a:ext>
            </a:extLst>
          </p:cNvPr>
          <p:cNvSpPr/>
          <p:nvPr/>
        </p:nvSpPr>
        <p:spPr>
          <a:xfrm>
            <a:off x="483730" y="3065731"/>
            <a:ext cx="4201606" cy="76314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11. Engage family members in a care process and follow up actions</a:t>
            </a:r>
          </a:p>
        </p:txBody>
      </p:sp>
      <p:sp>
        <p:nvSpPr>
          <p:cNvPr id="7" name="Rounded Rectangle 6">
            <a:extLst>
              <a:ext uri="{FF2B5EF4-FFF2-40B4-BE49-F238E27FC236}">
                <a16:creationId xmlns:a16="http://schemas.microsoft.com/office/drawing/2014/main" id="{6BBF1D2B-BA01-BAC6-BEC3-5DF6035E5FAE}"/>
              </a:ext>
            </a:extLst>
          </p:cNvPr>
          <p:cNvSpPr/>
          <p:nvPr/>
        </p:nvSpPr>
        <p:spPr>
          <a:xfrm>
            <a:off x="483730" y="1566263"/>
            <a:ext cx="4201606" cy="76314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10. Hatch Technologies (Africa-based technology distribution)</a:t>
            </a:r>
          </a:p>
        </p:txBody>
      </p:sp>
      <p:sp>
        <p:nvSpPr>
          <p:cNvPr id="3" name="Rounded Rectangle 2">
            <a:extLst>
              <a:ext uri="{FF2B5EF4-FFF2-40B4-BE49-F238E27FC236}">
                <a16:creationId xmlns:a16="http://schemas.microsoft.com/office/drawing/2014/main" id="{171BD265-F635-80B1-8563-0F3863EEDA2D}"/>
              </a:ext>
            </a:extLst>
          </p:cNvPr>
          <p:cNvSpPr/>
          <p:nvPr/>
        </p:nvSpPr>
        <p:spPr>
          <a:xfrm>
            <a:off x="5063320" y="1257610"/>
            <a:ext cx="6960358" cy="1380452"/>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10.Reliable, context-appropriate technology distribution channels improve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equitable access to devices, reduce downtime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from broken or missing equipment, and promotes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sustainability of SSNC infrastructure in low-resource settings</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 name="Rounded Rectangle 12">
            <a:extLst>
              <a:ext uri="{FF2B5EF4-FFF2-40B4-BE49-F238E27FC236}">
                <a16:creationId xmlns:a16="http://schemas.microsoft.com/office/drawing/2014/main" id="{C9E311E0-8F77-FF30-C7C4-ED3D4F03264C}"/>
              </a:ext>
            </a:extLst>
          </p:cNvPr>
          <p:cNvSpPr/>
          <p:nvPr/>
        </p:nvSpPr>
        <p:spPr>
          <a:xfrm>
            <a:off x="5063320" y="2856585"/>
            <a:ext cx="6960358" cy="1207827"/>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11.Actively involving families in care builds trust,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increases caregiver competence and adherence to recommended practices,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and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promotes continuity of care after discharge,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improving neonatal survival</a:t>
            </a:r>
          </a:p>
        </p:txBody>
      </p:sp>
      <p:sp>
        <p:nvSpPr>
          <p:cNvPr id="14" name="Rounded Rectangle 13">
            <a:extLst>
              <a:ext uri="{FF2B5EF4-FFF2-40B4-BE49-F238E27FC236}">
                <a16:creationId xmlns:a16="http://schemas.microsoft.com/office/drawing/2014/main" id="{9B4939DC-EC1A-E26F-B291-AE3F2AF73435}"/>
              </a:ext>
            </a:extLst>
          </p:cNvPr>
          <p:cNvSpPr/>
          <p:nvPr/>
        </p:nvSpPr>
        <p:spPr>
          <a:xfrm>
            <a:off x="5063320" y="4282935"/>
            <a:ext cx="6960357" cy="1207827"/>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12.Securing and sustaining funding streams enables consistent procurement of supplies,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maintenance of infrastructure,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and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retention of staff capacity,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ensuring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sustainability of SSNC services</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5" name="Rounded Rectangle 14">
            <a:extLst>
              <a:ext uri="{FF2B5EF4-FFF2-40B4-BE49-F238E27FC236}">
                <a16:creationId xmlns:a16="http://schemas.microsoft.com/office/drawing/2014/main" id="{77F7834F-3C47-A00C-701A-45105CF5BA75}"/>
              </a:ext>
            </a:extLst>
          </p:cNvPr>
          <p:cNvSpPr/>
          <p:nvPr/>
        </p:nvSpPr>
        <p:spPr>
          <a:xfrm>
            <a:off x="5063320" y="5699604"/>
            <a:ext cx="6960357" cy="1064584"/>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13.Tailoring local infrastructure creates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safer, more efficient care environments, improving feasibility, quality,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and </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sustainability of SSNC services</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17" name="Straight Arrow Connector 16">
            <a:extLst>
              <a:ext uri="{FF2B5EF4-FFF2-40B4-BE49-F238E27FC236}">
                <a16:creationId xmlns:a16="http://schemas.microsoft.com/office/drawing/2014/main" id="{E1522788-4D38-938D-A409-86ACB82D4719}"/>
              </a:ext>
            </a:extLst>
          </p:cNvPr>
          <p:cNvCxnSpPr>
            <a:stCxn id="4" idx="3"/>
            <a:endCxn id="15" idx="1"/>
          </p:cNvCxnSpPr>
          <p:nvPr/>
        </p:nvCxnSpPr>
        <p:spPr>
          <a:xfrm>
            <a:off x="4685336" y="6231896"/>
            <a:ext cx="377984"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BAFB4CC-53F5-DA69-3C1E-1C2D595161E4}"/>
              </a:ext>
            </a:extLst>
          </p:cNvPr>
          <p:cNvCxnSpPr>
            <a:stCxn id="5" idx="3"/>
            <a:endCxn id="14" idx="1"/>
          </p:cNvCxnSpPr>
          <p:nvPr/>
        </p:nvCxnSpPr>
        <p:spPr>
          <a:xfrm>
            <a:off x="4685336" y="4886848"/>
            <a:ext cx="377984" cy="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26CEA90-2E27-BDD8-D297-19DA0A9C43A2}"/>
              </a:ext>
            </a:extLst>
          </p:cNvPr>
          <p:cNvCxnSpPr>
            <a:stCxn id="6" idx="3"/>
            <a:endCxn id="13" idx="1"/>
          </p:cNvCxnSpPr>
          <p:nvPr/>
        </p:nvCxnSpPr>
        <p:spPr>
          <a:xfrm>
            <a:off x="4685336" y="3447304"/>
            <a:ext cx="377984" cy="13195"/>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04011BB-80F4-193A-26F6-9DB0EFA237D7}"/>
              </a:ext>
            </a:extLst>
          </p:cNvPr>
          <p:cNvCxnSpPr>
            <a:stCxn id="7" idx="3"/>
            <a:endCxn id="3" idx="1"/>
          </p:cNvCxnSpPr>
          <p:nvPr/>
        </p:nvCxnSpPr>
        <p:spPr>
          <a:xfrm>
            <a:off x="4685336" y="1947836"/>
            <a:ext cx="377984"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8" name="Subtitle 2">
            <a:extLst>
              <a:ext uri="{FF2B5EF4-FFF2-40B4-BE49-F238E27FC236}">
                <a16:creationId xmlns:a16="http://schemas.microsoft.com/office/drawing/2014/main" id="{CBA14B8B-87D4-9B32-2686-8D82EEDE9F34}"/>
              </a:ext>
            </a:extLst>
          </p:cNvPr>
          <p:cNvSpPr txBox="1">
            <a:spLocks/>
          </p:cNvSpPr>
          <p:nvPr/>
        </p:nvSpPr>
        <p:spPr>
          <a:xfrm>
            <a:off x="7540061" y="875709"/>
            <a:ext cx="2006874" cy="44060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Mechanism</a:t>
            </a:r>
          </a:p>
        </p:txBody>
      </p:sp>
      <p:sp>
        <p:nvSpPr>
          <p:cNvPr id="9" name="Subtitle 2">
            <a:extLst>
              <a:ext uri="{FF2B5EF4-FFF2-40B4-BE49-F238E27FC236}">
                <a16:creationId xmlns:a16="http://schemas.microsoft.com/office/drawing/2014/main" id="{81347574-6391-3E75-C86A-8BE88CCD0720}"/>
              </a:ext>
            </a:extLst>
          </p:cNvPr>
          <p:cNvSpPr txBox="1">
            <a:spLocks/>
          </p:cNvSpPr>
          <p:nvPr/>
        </p:nvSpPr>
        <p:spPr>
          <a:xfrm>
            <a:off x="764759" y="1125401"/>
            <a:ext cx="3639547" cy="4406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Strategies used by NEST360</a:t>
            </a:r>
          </a:p>
        </p:txBody>
      </p:sp>
    </p:spTree>
    <p:extLst>
      <p:ext uri="{BB962C8B-B14F-4D97-AF65-F5344CB8AC3E}">
        <p14:creationId xmlns:p14="http://schemas.microsoft.com/office/powerpoint/2010/main" val="2286325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D6CAE-8E25-CFD2-67A3-F387747A96DF}"/>
              </a:ext>
            </a:extLst>
          </p:cNvPr>
          <p:cNvSpPr>
            <a:spLocks noGrp="1"/>
          </p:cNvSpPr>
          <p:nvPr>
            <p:ph type="title"/>
          </p:nvPr>
        </p:nvSpPr>
        <p:spPr>
          <a:xfrm>
            <a:off x="838200" y="365125"/>
            <a:ext cx="10515600" cy="1004651"/>
          </a:xfrm>
          <a:solidFill>
            <a:schemeClr val="accent2">
              <a:lumMod val="75000"/>
            </a:schemeClr>
          </a:solidFill>
        </p:spPr>
        <p:txBody>
          <a:bodyPr/>
          <a:lstStyle/>
          <a:p>
            <a:r>
              <a:rPr lang="en-US" dirty="0">
                <a:solidFill>
                  <a:schemeClr val="bg1"/>
                </a:solidFill>
              </a:rPr>
              <a:t>Tier 2: Outcomes</a:t>
            </a:r>
          </a:p>
        </p:txBody>
      </p:sp>
      <p:sp>
        <p:nvSpPr>
          <p:cNvPr id="3" name="Content Placeholder 2">
            <a:extLst>
              <a:ext uri="{FF2B5EF4-FFF2-40B4-BE49-F238E27FC236}">
                <a16:creationId xmlns:a16="http://schemas.microsoft.com/office/drawing/2014/main" id="{4FA90A85-6ABA-B31E-7B36-0CEFD39E133D}"/>
              </a:ext>
            </a:extLst>
          </p:cNvPr>
          <p:cNvSpPr>
            <a:spLocks noGrp="1"/>
          </p:cNvSpPr>
          <p:nvPr>
            <p:ph idx="1"/>
          </p:nvPr>
        </p:nvSpPr>
        <p:spPr>
          <a:xfrm>
            <a:off x="7391876" y="1774411"/>
            <a:ext cx="4560726" cy="4938849"/>
          </a:xfrm>
        </p:spPr>
        <p:txBody>
          <a:bodyPr>
            <a:noAutofit/>
          </a:bodyPr>
          <a:lstStyle/>
          <a:p>
            <a:r>
              <a:rPr lang="en-US" sz="1600" b="1" dirty="0"/>
              <a:t>Leadership and governance (examples)</a:t>
            </a:r>
          </a:p>
          <a:p>
            <a:pPr lvl="1"/>
            <a:r>
              <a:rPr lang="en-US" sz="1600" dirty="0"/>
              <a:t>National-level: SSNC and biomed allocations in annual budget</a:t>
            </a:r>
          </a:p>
          <a:p>
            <a:pPr lvl="1"/>
            <a:r>
              <a:rPr lang="en-US" sz="1600" dirty="0"/>
              <a:t>Hospital-level: </a:t>
            </a:r>
          </a:p>
          <a:p>
            <a:r>
              <a:rPr lang="en-US" sz="1600" b="1" dirty="0"/>
              <a:t>Data systems (examples)</a:t>
            </a:r>
          </a:p>
          <a:p>
            <a:pPr lvl="1"/>
            <a:r>
              <a:rPr lang="en-US" sz="1600" dirty="0"/>
              <a:t>Global-level: # of MOH NEST-IT logins</a:t>
            </a:r>
          </a:p>
          <a:p>
            <a:pPr lvl="1"/>
            <a:r>
              <a:rPr lang="en-US" sz="1600" dirty="0"/>
              <a:t>National-level: % of countries logging into NEST-IT monthly</a:t>
            </a:r>
          </a:p>
          <a:p>
            <a:pPr lvl="1"/>
            <a:r>
              <a:rPr lang="en-US" sz="1600" dirty="0"/>
              <a:t>Hospital-level: Data entry delays and data validity</a:t>
            </a:r>
          </a:p>
          <a:p>
            <a:r>
              <a:rPr lang="en-US" sz="1600" b="1" dirty="0"/>
              <a:t>Human resources (examples)</a:t>
            </a:r>
          </a:p>
          <a:p>
            <a:pPr lvl="1"/>
            <a:r>
              <a:rPr lang="en-US" sz="1600" dirty="0"/>
              <a:t>Global-level: # of clinicians that have receive NEST SSNC training</a:t>
            </a:r>
          </a:p>
          <a:p>
            <a:pPr lvl="1"/>
            <a:r>
              <a:rPr lang="en-US" sz="1600" dirty="0"/>
              <a:t>National-level: % of hospitals with SSNC trained staff</a:t>
            </a:r>
          </a:p>
          <a:p>
            <a:pPr lvl="1"/>
            <a:r>
              <a:rPr lang="en-US" sz="1600" dirty="0"/>
              <a:t>Hospital-level: Trained biomed at the hospital (Y/N)</a:t>
            </a:r>
          </a:p>
        </p:txBody>
      </p:sp>
      <p:sp>
        <p:nvSpPr>
          <p:cNvPr id="4" name="Content Placeholder 2">
            <a:extLst>
              <a:ext uri="{FF2B5EF4-FFF2-40B4-BE49-F238E27FC236}">
                <a16:creationId xmlns:a16="http://schemas.microsoft.com/office/drawing/2014/main" id="{69AF0C26-DAB1-3D47-C9EB-4DB74800AC00}"/>
              </a:ext>
            </a:extLst>
          </p:cNvPr>
          <p:cNvSpPr txBox="1">
            <a:spLocks/>
          </p:cNvSpPr>
          <p:nvPr/>
        </p:nvSpPr>
        <p:spPr>
          <a:xfrm>
            <a:off x="838200" y="2109352"/>
            <a:ext cx="3246309" cy="4268969"/>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200"/>
              </a:spcBef>
              <a:spcAft>
                <a:spcPts val="200"/>
              </a:spcAft>
              <a:buSzPct val="125000"/>
              <a:buFont typeface="Arial" panose="020B0604020202020204" pitchFamily="34" charset="0"/>
              <a:buChar char="•"/>
              <a:defRPr sz="2600" kern="1200">
                <a:solidFill>
                  <a:srgbClr val="333333"/>
                </a:solidFill>
                <a:latin typeface="+mn-lt"/>
                <a:ea typeface="+mn-ea"/>
                <a:cs typeface="+mn-cs"/>
              </a:defRPr>
            </a:lvl1pPr>
            <a:lvl2pPr marL="685800" indent="-228600" algn="l" defTabSz="914400" rtl="0" eaLnBrk="1" latinLnBrk="0" hangingPunct="1">
              <a:lnSpc>
                <a:spcPct val="100000"/>
              </a:lnSpc>
              <a:spcBef>
                <a:spcPts val="200"/>
              </a:spcBef>
              <a:spcAft>
                <a:spcPts val="200"/>
              </a:spcAft>
              <a:buSzPct val="100000"/>
              <a:buFont typeface="Courier New" panose="02070309020205020404" pitchFamily="49" charset="0"/>
              <a:buChar char="o"/>
              <a:defRPr sz="2400" kern="1200">
                <a:solidFill>
                  <a:srgbClr val="333333"/>
                </a:solidFill>
                <a:latin typeface="+mn-lt"/>
                <a:ea typeface="+mn-ea"/>
                <a:cs typeface="+mn-cs"/>
              </a:defRPr>
            </a:lvl2pPr>
            <a:lvl3pPr marL="1143000" indent="-228600" algn="l" defTabSz="914400" rtl="0" eaLnBrk="1" latinLnBrk="0" hangingPunct="1">
              <a:lnSpc>
                <a:spcPct val="100000"/>
              </a:lnSpc>
              <a:spcBef>
                <a:spcPts val="200"/>
              </a:spcBef>
              <a:spcAft>
                <a:spcPts val="200"/>
              </a:spcAft>
              <a:buFont typeface="Wingdings" pitchFamily="2" charset="2"/>
              <a:buChar char="§"/>
              <a:defRPr sz="2000" kern="1200">
                <a:solidFill>
                  <a:srgbClr val="333333"/>
                </a:solidFill>
                <a:latin typeface="+mn-lt"/>
                <a:ea typeface="+mn-ea"/>
                <a:cs typeface="+mn-cs"/>
              </a:defRPr>
            </a:lvl3pPr>
            <a:lvl4pPr marL="1600200" indent="-228600" algn="l" defTabSz="914400" rtl="0" eaLnBrk="1" latinLnBrk="0" hangingPunct="1">
              <a:lnSpc>
                <a:spcPct val="100000"/>
              </a:lnSpc>
              <a:spcBef>
                <a:spcPts val="200"/>
              </a:spcBef>
              <a:spcAft>
                <a:spcPts val="200"/>
              </a:spcAft>
              <a:buSzPct val="115000"/>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0" hangingPunct="1">
              <a:lnSpc>
                <a:spcPct val="100000"/>
              </a:lnSpc>
              <a:spcBef>
                <a:spcPts val="200"/>
              </a:spcBef>
              <a:spcAft>
                <a:spcPts val="200"/>
              </a:spcAft>
              <a:buFont typeface="Courier New" panose="02070309020205020404" pitchFamily="49" charset="0"/>
              <a:buChar char="o"/>
              <a:defRPr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200"/>
              </a:spcBef>
              <a:spcAft>
                <a:spcPts val="200"/>
              </a:spcAft>
              <a:buClrTx/>
              <a:buSzPct val="125000"/>
              <a:buFont typeface="Arial" panose="020B0604020202020204" pitchFamily="34" charset="0"/>
              <a:buChar char="•"/>
              <a:tabLst/>
              <a:defRPr/>
            </a:pPr>
            <a:r>
              <a:rPr kumimoji="0" lang="en-US" sz="1500" b="1" i="0" u="none" strike="noStrike" kern="1200" cap="none" spc="0" normalizeH="0" baseline="0" noProof="0" dirty="0">
                <a:ln>
                  <a:noFill/>
                </a:ln>
                <a:solidFill>
                  <a:srgbClr val="333333"/>
                </a:solidFill>
                <a:effectLst/>
                <a:uLnTx/>
                <a:uFillTx/>
                <a:latin typeface="Arial" panose="020B0604020202020204"/>
                <a:ea typeface="+mn-ea"/>
                <a:cs typeface="+mn-cs"/>
              </a:rPr>
              <a:t>Linkage to maternal care</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300" b="0" i="0" u="none" strike="noStrike" kern="1200" cap="none" spc="0" normalizeH="0" baseline="0" noProof="0" dirty="0">
                <a:ln>
                  <a:noFill/>
                </a:ln>
                <a:solidFill>
                  <a:srgbClr val="333333"/>
                </a:solidFill>
                <a:effectLst/>
                <a:uLnTx/>
                <a:uFillTx/>
                <a:latin typeface="Arial" panose="020B0604020202020204"/>
                <a:ea typeface="+mn-ea"/>
                <a:cs typeface="+mn-cs"/>
              </a:rPr>
              <a:t>Global-level</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300" b="0" i="0" u="none" strike="noStrike" kern="1200" cap="none" spc="0" normalizeH="0" baseline="0" noProof="0" dirty="0">
                <a:ln>
                  <a:noFill/>
                </a:ln>
                <a:solidFill>
                  <a:srgbClr val="333333"/>
                </a:solidFill>
                <a:effectLst/>
                <a:uLnTx/>
                <a:uFillTx/>
                <a:latin typeface="Arial" panose="020B0604020202020204"/>
                <a:ea typeface="+mn-ea"/>
                <a:cs typeface="+mn-cs"/>
              </a:rPr>
              <a:t>National-level</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300" b="0" i="0" u="none" strike="noStrike" kern="1200" cap="none" spc="0" normalizeH="0" baseline="0" noProof="0" dirty="0">
                <a:ln>
                  <a:noFill/>
                </a:ln>
                <a:solidFill>
                  <a:srgbClr val="333333"/>
                </a:solidFill>
                <a:effectLst/>
                <a:uLnTx/>
                <a:uFillTx/>
                <a:latin typeface="Arial" panose="020B0604020202020204"/>
                <a:ea typeface="+mn-ea"/>
                <a:cs typeface="+mn-cs"/>
              </a:rPr>
              <a:t>Hospital-level</a:t>
            </a:r>
          </a:p>
          <a:p>
            <a:pPr marL="228600" marR="0" lvl="0" indent="-228600" algn="l" defTabSz="914400" rtl="0" eaLnBrk="1" fontAlgn="auto" latinLnBrk="0" hangingPunct="1">
              <a:lnSpc>
                <a:spcPct val="100000"/>
              </a:lnSpc>
              <a:spcBef>
                <a:spcPts val="200"/>
              </a:spcBef>
              <a:spcAft>
                <a:spcPts val="200"/>
              </a:spcAft>
              <a:buClrTx/>
              <a:buSzPct val="125000"/>
              <a:buFont typeface="Arial" panose="020B0604020202020204" pitchFamily="34" charset="0"/>
              <a:buChar char="•"/>
              <a:tabLst/>
              <a:defRPr/>
            </a:pPr>
            <a:r>
              <a:rPr kumimoji="0" lang="en-US" sz="1500" b="1" i="0" u="none" strike="noStrike" kern="1200" cap="none" spc="0" normalizeH="0" baseline="0" noProof="0" dirty="0">
                <a:ln>
                  <a:noFill/>
                </a:ln>
                <a:solidFill>
                  <a:srgbClr val="333333"/>
                </a:solidFill>
                <a:effectLst/>
                <a:uLnTx/>
                <a:uFillTx/>
                <a:latin typeface="Arial" panose="020B0604020202020204"/>
                <a:ea typeface="+mn-ea"/>
                <a:cs typeface="+mn-cs"/>
              </a:rPr>
              <a:t>Family centered care</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300" b="0" i="0" u="none" strike="noStrike" kern="1200" cap="none" spc="0" normalizeH="0" baseline="0" noProof="0" dirty="0">
                <a:ln>
                  <a:noFill/>
                </a:ln>
                <a:solidFill>
                  <a:srgbClr val="333333"/>
                </a:solidFill>
                <a:effectLst/>
                <a:uLnTx/>
                <a:uFillTx/>
                <a:latin typeface="Arial" panose="020B0604020202020204"/>
                <a:ea typeface="+mn-ea"/>
                <a:cs typeface="+mn-cs"/>
              </a:rPr>
              <a:t>Global-level</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300" b="0" i="0" u="none" strike="noStrike" kern="1200" cap="none" spc="0" normalizeH="0" baseline="0" noProof="0" dirty="0">
                <a:ln>
                  <a:noFill/>
                </a:ln>
                <a:solidFill>
                  <a:srgbClr val="333333"/>
                </a:solidFill>
                <a:effectLst/>
                <a:uLnTx/>
                <a:uFillTx/>
                <a:latin typeface="Arial" panose="020B0604020202020204"/>
                <a:ea typeface="+mn-ea"/>
                <a:cs typeface="+mn-cs"/>
              </a:rPr>
              <a:t>National-level</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300" b="0" i="0" u="none" strike="noStrike" kern="1200" cap="none" spc="0" normalizeH="0" baseline="0" noProof="0" dirty="0">
                <a:ln>
                  <a:noFill/>
                </a:ln>
                <a:solidFill>
                  <a:srgbClr val="333333"/>
                </a:solidFill>
                <a:effectLst/>
                <a:uLnTx/>
                <a:uFillTx/>
                <a:latin typeface="Arial" panose="020B0604020202020204"/>
                <a:ea typeface="+mn-ea"/>
                <a:cs typeface="+mn-cs"/>
              </a:rPr>
              <a:t>Hospital-level</a:t>
            </a:r>
          </a:p>
          <a:p>
            <a:pPr marL="228600" marR="0" lvl="0" indent="-228600" algn="l" defTabSz="914400" rtl="0" eaLnBrk="1" fontAlgn="auto" latinLnBrk="0" hangingPunct="1">
              <a:lnSpc>
                <a:spcPct val="100000"/>
              </a:lnSpc>
              <a:spcBef>
                <a:spcPts val="200"/>
              </a:spcBef>
              <a:spcAft>
                <a:spcPts val="200"/>
              </a:spcAft>
              <a:buClrTx/>
              <a:buSzPct val="125000"/>
              <a:buFont typeface="Arial" panose="020B0604020202020204" pitchFamily="34" charset="0"/>
              <a:buChar char="•"/>
              <a:tabLst/>
              <a:defRPr/>
            </a:pPr>
            <a:r>
              <a:rPr kumimoji="0" lang="en-US" sz="1500" b="1" i="0" u="none" strike="noStrike" kern="1200" cap="none" spc="0" normalizeH="0" baseline="0" noProof="0" dirty="0">
                <a:ln>
                  <a:noFill/>
                </a:ln>
                <a:solidFill>
                  <a:srgbClr val="333333"/>
                </a:solidFill>
                <a:effectLst/>
                <a:uLnTx/>
                <a:uFillTx/>
                <a:latin typeface="Arial" panose="020B0604020202020204"/>
                <a:ea typeface="+mn-ea"/>
                <a:cs typeface="+mn-cs"/>
              </a:rPr>
              <a:t>Post-discharge follow-up</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300" b="0" i="0" u="none" strike="noStrike" kern="1200" cap="none" spc="0" normalizeH="0" baseline="0" noProof="0" dirty="0">
                <a:ln>
                  <a:noFill/>
                </a:ln>
                <a:solidFill>
                  <a:srgbClr val="333333"/>
                </a:solidFill>
                <a:effectLst/>
                <a:uLnTx/>
                <a:uFillTx/>
                <a:latin typeface="Arial" panose="020B0604020202020204"/>
                <a:ea typeface="+mn-ea"/>
                <a:cs typeface="+mn-cs"/>
              </a:rPr>
              <a:t>Global-level</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300" b="0" i="0" u="none" strike="noStrike" kern="1200" cap="none" spc="0" normalizeH="0" baseline="0" noProof="0" dirty="0">
                <a:ln>
                  <a:noFill/>
                </a:ln>
                <a:solidFill>
                  <a:srgbClr val="333333"/>
                </a:solidFill>
                <a:effectLst/>
                <a:uLnTx/>
                <a:uFillTx/>
                <a:latin typeface="Arial" panose="020B0604020202020204"/>
                <a:ea typeface="+mn-ea"/>
                <a:cs typeface="+mn-cs"/>
              </a:rPr>
              <a:t>National-level</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300" b="0" i="0" u="none" strike="noStrike" kern="1200" cap="none" spc="0" normalizeH="0" baseline="0" noProof="0" dirty="0">
                <a:ln>
                  <a:noFill/>
                </a:ln>
                <a:solidFill>
                  <a:srgbClr val="333333"/>
                </a:solidFill>
                <a:effectLst/>
                <a:uLnTx/>
                <a:uFillTx/>
                <a:latin typeface="Arial" panose="020B0604020202020204"/>
                <a:ea typeface="+mn-ea"/>
                <a:cs typeface="+mn-cs"/>
              </a:rPr>
              <a:t>Hospital-level</a:t>
            </a:r>
          </a:p>
          <a:p>
            <a:pPr marL="285750" marR="0" lvl="0" indent="-285750" algn="l" defTabSz="914400" rtl="0" eaLnBrk="1" fontAlgn="auto" latinLnBrk="0" hangingPunct="1">
              <a:lnSpc>
                <a:spcPct val="100000"/>
              </a:lnSpc>
              <a:spcBef>
                <a:spcPts val="200"/>
              </a:spcBef>
              <a:spcAft>
                <a:spcPts val="200"/>
              </a:spcAft>
              <a:buClrTx/>
              <a:buSzPct val="125000"/>
              <a:buFont typeface="Arial" panose="020B0604020202020204" pitchFamily="34" charset="0"/>
              <a:buChar char="•"/>
              <a:tabLst/>
              <a:defRPr/>
            </a:pPr>
            <a:r>
              <a:rPr kumimoji="0" lang="en-US" sz="1500" b="1" i="0" u="none" strike="noStrike" kern="1200" cap="none" spc="0" normalizeH="0" baseline="0" noProof="0" dirty="0">
                <a:ln>
                  <a:noFill/>
                </a:ln>
                <a:solidFill>
                  <a:srgbClr val="000000"/>
                </a:solidFill>
                <a:effectLst/>
                <a:uLnTx/>
                <a:uFillTx/>
                <a:latin typeface="Arial" panose="020B0604020202020204"/>
                <a:ea typeface="+mn-ea"/>
                <a:cs typeface="+mn-cs"/>
              </a:rPr>
              <a:t>Quality improvement</a:t>
            </a:r>
          </a:p>
          <a:p>
            <a:pPr marL="742950" marR="0" lvl="1" indent="-28575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Global-level</a:t>
            </a:r>
          </a:p>
          <a:p>
            <a:pPr marL="742950" marR="0" lvl="1" indent="-28575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National-level</a:t>
            </a:r>
          </a:p>
          <a:p>
            <a:pPr marL="742950" marR="0" lvl="1" indent="-28575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Hospital-level</a:t>
            </a:r>
          </a:p>
          <a:p>
            <a:pPr marL="228600" marR="0" lvl="0" indent="-228600" algn="l" defTabSz="914400" rtl="0" eaLnBrk="1" fontAlgn="auto" latinLnBrk="0" hangingPunct="1">
              <a:lnSpc>
                <a:spcPct val="100000"/>
              </a:lnSpc>
              <a:spcBef>
                <a:spcPts val="200"/>
              </a:spcBef>
              <a:spcAft>
                <a:spcPts val="200"/>
              </a:spcAft>
              <a:buClrTx/>
              <a:buSzPct val="125000"/>
              <a:buFont typeface="Arial" panose="020B0604020202020204" pitchFamily="34" charset="0"/>
              <a:buChar char="•"/>
              <a:tabLst/>
              <a:defRPr/>
            </a:pPr>
            <a:endParaRPr kumimoji="0" lang="en-US" sz="2600" b="0" i="0" u="none" strike="noStrike" kern="1200" cap="none" spc="0" normalizeH="0" baseline="0" noProof="0" dirty="0">
              <a:ln>
                <a:noFill/>
              </a:ln>
              <a:solidFill>
                <a:srgbClr val="333333"/>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8ED03F44-3ED7-8E67-A75D-1C8890086FD7}"/>
              </a:ext>
            </a:extLst>
          </p:cNvPr>
          <p:cNvSpPr txBox="1"/>
          <p:nvPr/>
        </p:nvSpPr>
        <p:spPr>
          <a:xfrm>
            <a:off x="4110153" y="2109352"/>
            <a:ext cx="3803129" cy="40934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srgbClr val="000000"/>
                </a:solidFill>
                <a:effectLst/>
                <a:uLnTx/>
                <a:uFillTx/>
                <a:latin typeface="Arial" panose="020B0604020202020204"/>
                <a:ea typeface="+mn-ea"/>
                <a:cs typeface="+mn-cs"/>
              </a:rPr>
              <a:t>Equipment and commodities</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Global-level</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National-level</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Hospital-level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srgbClr val="000000"/>
                </a:solidFill>
                <a:effectLst/>
                <a:uLnTx/>
                <a:uFillTx/>
                <a:latin typeface="Arial" panose="020B0604020202020204"/>
                <a:ea typeface="+mn-ea"/>
                <a:cs typeface="+mn-cs"/>
              </a:rPr>
              <a:t>Referral process</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Global-level</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National-level</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Hospital-level</a:t>
            </a:r>
            <a:endPar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srgbClr val="000000"/>
                </a:solidFill>
                <a:effectLst/>
                <a:uLnTx/>
                <a:uFillTx/>
                <a:latin typeface="Arial" panose="020B0604020202020204"/>
                <a:ea typeface="+mn-ea"/>
                <a:cs typeface="+mn-cs"/>
              </a:rPr>
              <a:t>Infrastructure</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Global-level</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National-level</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Hospital-level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srgbClr val="000000"/>
                </a:solidFill>
                <a:effectLst/>
                <a:uLnTx/>
                <a:uFillTx/>
                <a:latin typeface="Arial" panose="020B0604020202020204"/>
                <a:ea typeface="+mn-ea"/>
                <a:cs typeface="+mn-cs"/>
              </a:rPr>
              <a:t>Financing</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Global-level</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National-level</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Hospital-level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srgbClr val="000000"/>
                </a:solidFill>
                <a:effectLst/>
                <a:uLnTx/>
                <a:uFillTx/>
                <a:latin typeface="Arial" panose="020B0604020202020204"/>
                <a:ea typeface="+mn-ea"/>
                <a:cs typeface="+mn-cs"/>
              </a:rPr>
              <a:t>Impact</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Coverage rates</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Mortality change</a:t>
            </a:r>
          </a:p>
        </p:txBody>
      </p:sp>
    </p:spTree>
    <p:extLst>
      <p:ext uri="{BB962C8B-B14F-4D97-AF65-F5344CB8AC3E}">
        <p14:creationId xmlns:p14="http://schemas.microsoft.com/office/powerpoint/2010/main" val="2680893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A5C42-4D20-49B6-9CC1-3C4D7FF503B8}"/>
              </a:ext>
            </a:extLst>
          </p:cNvPr>
          <p:cNvPicPr>
            <a:picLocks noChangeAspect="1"/>
          </p:cNvPicPr>
          <p:nvPr/>
        </p:nvPicPr>
        <p:blipFill>
          <a:blip r:embed="rId3"/>
          <a:stretch>
            <a:fillRect/>
          </a:stretch>
        </p:blipFill>
        <p:spPr>
          <a:xfrm>
            <a:off x="5018690" y="0"/>
            <a:ext cx="7173310" cy="6858000"/>
          </a:xfrm>
          <a:prstGeom prst="rect">
            <a:avLst/>
          </a:prstGeom>
        </p:spPr>
      </p:pic>
      <p:sp>
        <p:nvSpPr>
          <p:cNvPr id="4" name="Title 3">
            <a:extLst>
              <a:ext uri="{FF2B5EF4-FFF2-40B4-BE49-F238E27FC236}">
                <a16:creationId xmlns:a16="http://schemas.microsoft.com/office/drawing/2014/main" id="{E94E9DD7-F58B-6F09-2052-1CADDD0A7994}"/>
              </a:ext>
            </a:extLst>
          </p:cNvPr>
          <p:cNvSpPr>
            <a:spLocks noGrp="1"/>
          </p:cNvSpPr>
          <p:nvPr>
            <p:ph type="title"/>
          </p:nvPr>
        </p:nvSpPr>
        <p:spPr>
          <a:xfrm>
            <a:off x="831850" y="877525"/>
            <a:ext cx="3138266" cy="1391012"/>
          </a:xfrm>
        </p:spPr>
        <p:txBody>
          <a:bodyPr>
            <a:normAutofit/>
          </a:bodyPr>
          <a:lstStyle/>
          <a:p>
            <a:r>
              <a:rPr lang="en-US" sz="3600" dirty="0"/>
              <a:t>Tier 3</a:t>
            </a:r>
          </a:p>
        </p:txBody>
      </p:sp>
      <p:sp>
        <p:nvSpPr>
          <p:cNvPr id="7" name="Rectangle 6">
            <a:extLst>
              <a:ext uri="{FF2B5EF4-FFF2-40B4-BE49-F238E27FC236}">
                <a16:creationId xmlns:a16="http://schemas.microsoft.com/office/drawing/2014/main" id="{EE04EBFE-94B6-EDA7-697F-0147633B1213}"/>
              </a:ext>
            </a:extLst>
          </p:cNvPr>
          <p:cNvSpPr/>
          <p:nvPr/>
        </p:nvSpPr>
        <p:spPr>
          <a:xfrm>
            <a:off x="6714086" y="1696544"/>
            <a:ext cx="3782518" cy="227850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Implementation factors are labeled as a barrier or facilitator based on NEST’s experience, linked to strategies, and we explore the level of control we had over each factor</a:t>
            </a:r>
          </a:p>
        </p:txBody>
      </p:sp>
      <p:sp>
        <p:nvSpPr>
          <p:cNvPr id="8" name="Text Placeholder 4">
            <a:extLst>
              <a:ext uri="{FF2B5EF4-FFF2-40B4-BE49-F238E27FC236}">
                <a16:creationId xmlns:a16="http://schemas.microsoft.com/office/drawing/2014/main" id="{36D72BFB-EA21-D831-BEA0-0BA22F31FD64}"/>
              </a:ext>
            </a:extLst>
          </p:cNvPr>
          <p:cNvSpPr txBox="1">
            <a:spLocks/>
          </p:cNvSpPr>
          <p:nvPr/>
        </p:nvSpPr>
        <p:spPr>
          <a:xfrm>
            <a:off x="831850" y="2835797"/>
            <a:ext cx="3138266" cy="325385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2200" b="0"/>
              <a:t>This is where we report what NEST did and give practical resources for what others can do </a:t>
            </a:r>
            <a:endParaRPr lang="en-US" sz="2200" b="0" dirty="0"/>
          </a:p>
        </p:txBody>
      </p:sp>
    </p:spTree>
    <p:extLst>
      <p:ext uri="{BB962C8B-B14F-4D97-AF65-F5344CB8AC3E}">
        <p14:creationId xmlns:p14="http://schemas.microsoft.com/office/powerpoint/2010/main" val="213072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B10DB-D79B-69A5-F584-73F43033FB8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F538D80-2290-A6FB-7827-B07452D473A2}"/>
              </a:ext>
            </a:extLst>
          </p:cNvPr>
          <p:cNvPicPr>
            <a:picLocks noChangeAspect="1"/>
          </p:cNvPicPr>
          <p:nvPr/>
        </p:nvPicPr>
        <p:blipFill>
          <a:blip r:embed="rId2"/>
          <a:stretch>
            <a:fillRect/>
          </a:stretch>
        </p:blipFill>
        <p:spPr>
          <a:xfrm>
            <a:off x="5018690" y="0"/>
            <a:ext cx="7173310" cy="6858000"/>
          </a:xfrm>
          <a:prstGeom prst="rect">
            <a:avLst/>
          </a:prstGeom>
        </p:spPr>
      </p:pic>
      <p:sp>
        <p:nvSpPr>
          <p:cNvPr id="4" name="Title 3">
            <a:extLst>
              <a:ext uri="{FF2B5EF4-FFF2-40B4-BE49-F238E27FC236}">
                <a16:creationId xmlns:a16="http://schemas.microsoft.com/office/drawing/2014/main" id="{FD7E3CF0-EDF8-0ACE-6E31-C83F2B12C6DC}"/>
              </a:ext>
            </a:extLst>
          </p:cNvPr>
          <p:cNvSpPr>
            <a:spLocks noGrp="1"/>
          </p:cNvSpPr>
          <p:nvPr>
            <p:ph type="title"/>
          </p:nvPr>
        </p:nvSpPr>
        <p:spPr>
          <a:xfrm>
            <a:off x="831850" y="877525"/>
            <a:ext cx="3138266" cy="1391012"/>
          </a:xfrm>
        </p:spPr>
        <p:txBody>
          <a:bodyPr>
            <a:normAutofit/>
          </a:bodyPr>
          <a:lstStyle/>
          <a:p>
            <a:r>
              <a:rPr lang="en-US" sz="3600" dirty="0"/>
              <a:t>Tier 3</a:t>
            </a:r>
          </a:p>
        </p:txBody>
      </p:sp>
      <p:sp>
        <p:nvSpPr>
          <p:cNvPr id="7" name="Rectangle 6">
            <a:extLst>
              <a:ext uri="{FF2B5EF4-FFF2-40B4-BE49-F238E27FC236}">
                <a16:creationId xmlns:a16="http://schemas.microsoft.com/office/drawing/2014/main" id="{8FB66E62-79ED-483A-AEC7-9A7EE74B5D54}"/>
              </a:ext>
            </a:extLst>
          </p:cNvPr>
          <p:cNvSpPr/>
          <p:nvPr/>
        </p:nvSpPr>
        <p:spPr>
          <a:xfrm>
            <a:off x="3127431" y="4214275"/>
            <a:ext cx="3782518" cy="134911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Discrete implementation strategies are listed under the general group of strategies </a:t>
            </a:r>
          </a:p>
        </p:txBody>
      </p:sp>
      <p:sp>
        <p:nvSpPr>
          <p:cNvPr id="6" name="Text Placeholder 4">
            <a:extLst>
              <a:ext uri="{FF2B5EF4-FFF2-40B4-BE49-F238E27FC236}">
                <a16:creationId xmlns:a16="http://schemas.microsoft.com/office/drawing/2014/main" id="{F1A61EE6-E040-A035-1F6C-5E844C14CA70}"/>
              </a:ext>
            </a:extLst>
          </p:cNvPr>
          <p:cNvSpPr>
            <a:spLocks noGrp="1"/>
          </p:cNvSpPr>
          <p:nvPr>
            <p:ph type="body" idx="1"/>
          </p:nvPr>
        </p:nvSpPr>
        <p:spPr>
          <a:xfrm>
            <a:off x="831850" y="2835797"/>
            <a:ext cx="3138266" cy="3253853"/>
          </a:xfrm>
        </p:spPr>
        <p:txBody>
          <a:bodyPr>
            <a:normAutofit/>
          </a:bodyPr>
          <a:lstStyle/>
          <a:p>
            <a:r>
              <a:rPr lang="en-US" sz="2200" b="0" dirty="0"/>
              <a:t>This is where we report what NEST did and give practical resources for what others can do </a:t>
            </a:r>
          </a:p>
        </p:txBody>
      </p:sp>
    </p:spTree>
    <p:extLst>
      <p:ext uri="{BB962C8B-B14F-4D97-AF65-F5344CB8AC3E}">
        <p14:creationId xmlns:p14="http://schemas.microsoft.com/office/powerpoint/2010/main" val="1974139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4C548-7770-35CA-49A0-A11BB5C3F49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E550D56-0D4C-07F3-8AFB-8451E98A7037}"/>
              </a:ext>
            </a:extLst>
          </p:cNvPr>
          <p:cNvPicPr>
            <a:picLocks noChangeAspect="1"/>
          </p:cNvPicPr>
          <p:nvPr/>
        </p:nvPicPr>
        <p:blipFill>
          <a:blip r:embed="rId2"/>
          <a:stretch>
            <a:fillRect/>
          </a:stretch>
        </p:blipFill>
        <p:spPr>
          <a:xfrm>
            <a:off x="5018690" y="0"/>
            <a:ext cx="7173310" cy="6858000"/>
          </a:xfrm>
          <a:prstGeom prst="rect">
            <a:avLst/>
          </a:prstGeom>
        </p:spPr>
      </p:pic>
      <p:sp>
        <p:nvSpPr>
          <p:cNvPr id="4" name="Title 3">
            <a:extLst>
              <a:ext uri="{FF2B5EF4-FFF2-40B4-BE49-F238E27FC236}">
                <a16:creationId xmlns:a16="http://schemas.microsoft.com/office/drawing/2014/main" id="{A001670A-2179-A779-3F89-6F21E27E3FD5}"/>
              </a:ext>
            </a:extLst>
          </p:cNvPr>
          <p:cNvSpPr>
            <a:spLocks noGrp="1"/>
          </p:cNvSpPr>
          <p:nvPr>
            <p:ph type="title"/>
          </p:nvPr>
        </p:nvSpPr>
        <p:spPr>
          <a:xfrm>
            <a:off x="831850" y="877525"/>
            <a:ext cx="3138266" cy="1391012"/>
          </a:xfrm>
        </p:spPr>
        <p:txBody>
          <a:bodyPr>
            <a:normAutofit/>
          </a:bodyPr>
          <a:lstStyle/>
          <a:p>
            <a:r>
              <a:rPr lang="en-US" sz="3600" dirty="0"/>
              <a:t>Tier 3</a:t>
            </a:r>
          </a:p>
        </p:txBody>
      </p:sp>
      <p:sp>
        <p:nvSpPr>
          <p:cNvPr id="7" name="Rectangle 6">
            <a:extLst>
              <a:ext uri="{FF2B5EF4-FFF2-40B4-BE49-F238E27FC236}">
                <a16:creationId xmlns:a16="http://schemas.microsoft.com/office/drawing/2014/main" id="{DF2D28BA-45D7-4057-716F-6893A559C561}"/>
              </a:ext>
            </a:extLst>
          </p:cNvPr>
          <p:cNvSpPr/>
          <p:nvPr/>
        </p:nvSpPr>
        <p:spPr>
          <a:xfrm>
            <a:off x="4822827" y="3788165"/>
            <a:ext cx="3782518" cy="134911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Each strategy group has a description for how those activities impacted the global, country, and hospital level</a:t>
            </a:r>
          </a:p>
        </p:txBody>
      </p:sp>
      <p:sp>
        <p:nvSpPr>
          <p:cNvPr id="8" name="Text Placeholder 4">
            <a:extLst>
              <a:ext uri="{FF2B5EF4-FFF2-40B4-BE49-F238E27FC236}">
                <a16:creationId xmlns:a16="http://schemas.microsoft.com/office/drawing/2014/main" id="{C3156761-DE2B-7AA4-96A2-7A80CACF0E23}"/>
              </a:ext>
            </a:extLst>
          </p:cNvPr>
          <p:cNvSpPr txBox="1">
            <a:spLocks/>
          </p:cNvSpPr>
          <p:nvPr/>
        </p:nvSpPr>
        <p:spPr>
          <a:xfrm>
            <a:off x="831850" y="2835797"/>
            <a:ext cx="3138266" cy="325385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2200" b="0"/>
              <a:t>This is where we report what NEST did and give practical resources for what others can do </a:t>
            </a:r>
            <a:endParaRPr lang="en-US" sz="2200" b="0" dirty="0"/>
          </a:p>
        </p:txBody>
      </p:sp>
    </p:spTree>
    <p:extLst>
      <p:ext uri="{BB962C8B-B14F-4D97-AF65-F5344CB8AC3E}">
        <p14:creationId xmlns:p14="http://schemas.microsoft.com/office/powerpoint/2010/main" val="446683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CEB41-CF4C-4D53-2354-5213AC08AAC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6D7321B-FA99-D92A-8E76-880C010A5C2F}"/>
              </a:ext>
            </a:extLst>
          </p:cNvPr>
          <p:cNvPicPr>
            <a:picLocks noChangeAspect="1"/>
          </p:cNvPicPr>
          <p:nvPr/>
        </p:nvPicPr>
        <p:blipFill>
          <a:blip r:embed="rId2"/>
          <a:stretch>
            <a:fillRect/>
          </a:stretch>
        </p:blipFill>
        <p:spPr>
          <a:xfrm>
            <a:off x="5018690" y="0"/>
            <a:ext cx="7173310" cy="6858000"/>
          </a:xfrm>
          <a:prstGeom prst="rect">
            <a:avLst/>
          </a:prstGeom>
        </p:spPr>
      </p:pic>
      <p:sp>
        <p:nvSpPr>
          <p:cNvPr id="4" name="Title 3">
            <a:extLst>
              <a:ext uri="{FF2B5EF4-FFF2-40B4-BE49-F238E27FC236}">
                <a16:creationId xmlns:a16="http://schemas.microsoft.com/office/drawing/2014/main" id="{A027F85C-6F1D-B031-54A7-CFD8D1A54581}"/>
              </a:ext>
            </a:extLst>
          </p:cNvPr>
          <p:cNvSpPr>
            <a:spLocks noGrp="1"/>
          </p:cNvSpPr>
          <p:nvPr>
            <p:ph type="title"/>
          </p:nvPr>
        </p:nvSpPr>
        <p:spPr>
          <a:xfrm>
            <a:off x="831850" y="877525"/>
            <a:ext cx="3138266" cy="1391012"/>
          </a:xfrm>
        </p:spPr>
        <p:txBody>
          <a:bodyPr>
            <a:normAutofit/>
          </a:bodyPr>
          <a:lstStyle/>
          <a:p>
            <a:r>
              <a:rPr lang="en-US" sz="3600" dirty="0"/>
              <a:t>TIER 3 GRAPHIC</a:t>
            </a:r>
          </a:p>
        </p:txBody>
      </p:sp>
      <p:sp>
        <p:nvSpPr>
          <p:cNvPr id="7" name="Rectangle 6">
            <a:extLst>
              <a:ext uri="{FF2B5EF4-FFF2-40B4-BE49-F238E27FC236}">
                <a16:creationId xmlns:a16="http://schemas.microsoft.com/office/drawing/2014/main" id="{63129A28-0B78-F954-415B-9366CA6D4EF3}"/>
              </a:ext>
            </a:extLst>
          </p:cNvPr>
          <p:cNvSpPr/>
          <p:nvPr/>
        </p:nvSpPr>
        <p:spPr>
          <a:xfrm>
            <a:off x="6714086" y="3169685"/>
            <a:ext cx="3782518" cy="1798821"/>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We provide a detailed explanation of the outcomes that NEST360 tracked including numerator, denominator, definition, and frequency of measurement </a:t>
            </a:r>
          </a:p>
        </p:txBody>
      </p:sp>
      <p:sp>
        <p:nvSpPr>
          <p:cNvPr id="8" name="Text Placeholder 4">
            <a:extLst>
              <a:ext uri="{FF2B5EF4-FFF2-40B4-BE49-F238E27FC236}">
                <a16:creationId xmlns:a16="http://schemas.microsoft.com/office/drawing/2014/main" id="{C8B6FE2E-4558-DEE7-BE39-761B537D123A}"/>
              </a:ext>
            </a:extLst>
          </p:cNvPr>
          <p:cNvSpPr>
            <a:spLocks noGrp="1"/>
          </p:cNvSpPr>
          <p:nvPr>
            <p:ph type="body" idx="1"/>
          </p:nvPr>
        </p:nvSpPr>
        <p:spPr>
          <a:xfrm>
            <a:off x="831850" y="2835797"/>
            <a:ext cx="3138266" cy="3253853"/>
          </a:xfrm>
        </p:spPr>
        <p:txBody>
          <a:bodyPr>
            <a:normAutofit/>
          </a:bodyPr>
          <a:lstStyle/>
          <a:p>
            <a:r>
              <a:rPr lang="en-US" sz="2200" b="0" dirty="0"/>
              <a:t>This is where we report what NEST did and give practical resources for what others can do </a:t>
            </a:r>
          </a:p>
        </p:txBody>
      </p:sp>
    </p:spTree>
    <p:extLst>
      <p:ext uri="{BB962C8B-B14F-4D97-AF65-F5344CB8AC3E}">
        <p14:creationId xmlns:p14="http://schemas.microsoft.com/office/powerpoint/2010/main" val="901697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4568D-B8CE-25FD-A23D-7B845162CC20}"/>
              </a:ext>
            </a:extLst>
          </p:cNvPr>
          <p:cNvSpPr>
            <a:spLocks noGrp="1"/>
          </p:cNvSpPr>
          <p:nvPr>
            <p:ph type="title"/>
          </p:nvPr>
        </p:nvSpPr>
        <p:spPr>
          <a:xfrm>
            <a:off x="838200" y="365126"/>
            <a:ext cx="10515600" cy="971680"/>
          </a:xfrm>
          <a:solidFill>
            <a:schemeClr val="accent1">
              <a:lumMod val="20000"/>
              <a:lumOff val="80000"/>
            </a:schemeClr>
          </a:solidFill>
        </p:spPr>
        <p:txBody>
          <a:bodyPr/>
          <a:lstStyle/>
          <a:p>
            <a:r>
              <a:rPr lang="en-US" dirty="0">
                <a:solidFill>
                  <a:schemeClr val="bg1"/>
                </a:solidFill>
              </a:rPr>
              <a:t>Tier 3: Implementation Factors Part 1</a:t>
            </a:r>
          </a:p>
        </p:txBody>
      </p:sp>
      <p:sp>
        <p:nvSpPr>
          <p:cNvPr id="7" name="Rectangle 6">
            <a:extLst>
              <a:ext uri="{FF2B5EF4-FFF2-40B4-BE49-F238E27FC236}">
                <a16:creationId xmlns:a16="http://schemas.microsoft.com/office/drawing/2014/main" id="{5A65AB06-A54B-8B24-3CB0-890AE2FF70F9}"/>
              </a:ext>
            </a:extLst>
          </p:cNvPr>
          <p:cNvSpPr/>
          <p:nvPr/>
        </p:nvSpPr>
        <p:spPr>
          <a:xfrm>
            <a:off x="8674869" y="2584197"/>
            <a:ext cx="3517131" cy="3018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Arial" panose="020B0604020202020204"/>
                <a:ea typeface="+mn-ea"/>
                <a:cs typeface="+mn-cs"/>
              </a:rPr>
              <a:t>Up arrow- Facilitator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Arial" panose="020B0604020202020204"/>
                <a:ea typeface="+mn-ea"/>
                <a:cs typeface="+mn-cs"/>
              </a:rPr>
              <a:t>Down arrow- Barrier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Arial" panose="020B0604020202020204"/>
                <a:ea typeface="+mn-ea"/>
                <a:cs typeface="+mn-cs"/>
              </a:rPr>
              <a:t>Number- Corresponds to a group of strategies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Arial" panose="020B0604020202020204"/>
                <a:ea typeface="+mn-ea"/>
                <a:cs typeface="+mn-cs"/>
              </a:rPr>
              <a:t>Green- In sphere of influence &amp; control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Arial" panose="020B0604020202020204"/>
                <a:ea typeface="+mn-ea"/>
                <a:cs typeface="+mn-cs"/>
              </a:rPr>
              <a:t>Blue- In sphere of influence, outside sphere of control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Arial" panose="020B0604020202020204"/>
                <a:ea typeface="+mn-ea"/>
                <a:cs typeface="+mn-cs"/>
              </a:rPr>
              <a:t>Purple- Outside sphere of influence &amp; control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9" name="Content Placeholder 2">
            <a:extLst>
              <a:ext uri="{FF2B5EF4-FFF2-40B4-BE49-F238E27FC236}">
                <a16:creationId xmlns:a16="http://schemas.microsoft.com/office/drawing/2014/main" id="{66A6B159-C6D2-9E30-73B3-C76423D12065}"/>
              </a:ext>
            </a:extLst>
          </p:cNvPr>
          <p:cNvSpPr txBox="1">
            <a:spLocks/>
          </p:cNvSpPr>
          <p:nvPr/>
        </p:nvSpPr>
        <p:spPr>
          <a:xfrm>
            <a:off x="758252" y="1336805"/>
            <a:ext cx="7892883" cy="551369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200"/>
              </a:spcBef>
              <a:spcAft>
                <a:spcPts val="200"/>
              </a:spcAft>
              <a:buSzPct val="125000"/>
              <a:buFont typeface="Arial" panose="020B0604020202020204" pitchFamily="34" charset="0"/>
              <a:buChar char="•"/>
              <a:defRPr sz="2600" kern="1200">
                <a:solidFill>
                  <a:srgbClr val="333333"/>
                </a:solidFill>
                <a:latin typeface="+mn-lt"/>
                <a:ea typeface="+mn-ea"/>
                <a:cs typeface="+mn-cs"/>
              </a:defRPr>
            </a:lvl1pPr>
            <a:lvl2pPr marL="685800" indent="-228600" algn="l" defTabSz="914400" rtl="0" eaLnBrk="1" latinLnBrk="0" hangingPunct="1">
              <a:lnSpc>
                <a:spcPct val="100000"/>
              </a:lnSpc>
              <a:spcBef>
                <a:spcPts val="200"/>
              </a:spcBef>
              <a:spcAft>
                <a:spcPts val="200"/>
              </a:spcAft>
              <a:buSzPct val="100000"/>
              <a:buFont typeface="Courier New" panose="02070309020205020404" pitchFamily="49" charset="0"/>
              <a:buChar char="o"/>
              <a:defRPr sz="2400" kern="1200">
                <a:solidFill>
                  <a:srgbClr val="333333"/>
                </a:solidFill>
                <a:latin typeface="+mn-lt"/>
                <a:ea typeface="+mn-ea"/>
                <a:cs typeface="+mn-cs"/>
              </a:defRPr>
            </a:lvl2pPr>
            <a:lvl3pPr marL="1143000" indent="-228600" algn="l" defTabSz="914400" rtl="0" eaLnBrk="1" latinLnBrk="0" hangingPunct="1">
              <a:lnSpc>
                <a:spcPct val="100000"/>
              </a:lnSpc>
              <a:spcBef>
                <a:spcPts val="200"/>
              </a:spcBef>
              <a:spcAft>
                <a:spcPts val="200"/>
              </a:spcAft>
              <a:buFont typeface="Wingdings" pitchFamily="2" charset="2"/>
              <a:buChar char="§"/>
              <a:defRPr sz="2000" kern="1200">
                <a:solidFill>
                  <a:srgbClr val="333333"/>
                </a:solidFill>
                <a:latin typeface="+mn-lt"/>
                <a:ea typeface="+mn-ea"/>
                <a:cs typeface="+mn-cs"/>
              </a:defRPr>
            </a:lvl3pPr>
            <a:lvl4pPr marL="1600200" indent="-228600" algn="l" defTabSz="914400" rtl="0" eaLnBrk="1" latinLnBrk="0" hangingPunct="1">
              <a:lnSpc>
                <a:spcPct val="100000"/>
              </a:lnSpc>
              <a:spcBef>
                <a:spcPts val="200"/>
              </a:spcBef>
              <a:spcAft>
                <a:spcPts val="200"/>
              </a:spcAft>
              <a:buSzPct val="115000"/>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0" hangingPunct="1">
              <a:lnSpc>
                <a:spcPct val="100000"/>
              </a:lnSpc>
              <a:spcBef>
                <a:spcPts val="200"/>
              </a:spcBef>
              <a:spcAft>
                <a:spcPts val="200"/>
              </a:spcAft>
              <a:buFont typeface="Courier New" panose="02070309020205020404" pitchFamily="49" charset="0"/>
              <a:buChar char="o"/>
              <a:defRPr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200"/>
              </a:spcBef>
              <a:spcAft>
                <a:spcPts val="200"/>
              </a:spcAft>
              <a:buClrTx/>
              <a:buSzPct val="125000"/>
              <a:buFont typeface="Arial" panose="020B0604020202020204" pitchFamily="34" charset="0"/>
              <a:buChar char="•"/>
              <a:tabLst/>
              <a:defRPr/>
            </a:pPr>
            <a:r>
              <a:rPr kumimoji="0" lang="en-US" sz="1600" b="1" i="0" u="none" strike="noStrike" kern="1200" cap="none" spc="0" normalizeH="0" baseline="0" noProof="0" dirty="0">
                <a:ln>
                  <a:noFill/>
                </a:ln>
                <a:solidFill>
                  <a:srgbClr val="333333"/>
                </a:solidFill>
                <a:effectLst/>
                <a:uLnTx/>
                <a:uFillTx/>
                <a:latin typeface="Arial" panose="020B0604020202020204"/>
                <a:ea typeface="+mn-ea"/>
                <a:cs typeface="+mn-cs"/>
              </a:rPr>
              <a:t>Data Systems</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067429"/>
                </a:solidFill>
                <a:effectLst/>
                <a:uLnTx/>
                <a:uFillTx/>
                <a:latin typeface="Arial" panose="020B0604020202020204"/>
                <a:ea typeface="+mn-ea"/>
                <a:cs typeface="+mn-cs"/>
              </a:rPr>
              <a:t>Fragmented neonatal health forms, registers, and data systems at facility level capturing SSNC sensitive indicators ↓ (3) </a:t>
            </a:r>
            <a:endParaRPr kumimoji="0" lang="en-US" sz="1400" b="0" i="0" u="none" strike="noStrike" kern="1200" cap="none" spc="0" normalizeH="0" baseline="0" noProof="0" dirty="0">
              <a:ln>
                <a:noFill/>
              </a:ln>
              <a:solidFill>
                <a:srgbClr val="333333"/>
              </a:solidFill>
              <a:effectLs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067429"/>
                </a:solidFill>
                <a:effectLst/>
                <a:uLnTx/>
                <a:uFillTx/>
                <a:latin typeface="Arial" panose="020B0604020202020204"/>
                <a:ea typeface="+mn-ea"/>
                <a:cs typeface="+mn-cs"/>
              </a:rPr>
              <a:t>No SSNC sensitive indicators at facility and national levels ↓ (3) </a:t>
            </a:r>
            <a:endParaRPr kumimoji="0" lang="en-US" sz="1400" b="0" i="0" u="none" strike="noStrike" kern="1200" cap="none" spc="0" normalizeH="0" baseline="0" noProof="0" dirty="0">
              <a:ln>
                <a:noFill/>
              </a:ln>
              <a:solidFill>
                <a:srgbClr val="333333"/>
              </a:solidFill>
              <a:effectLs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067429"/>
                </a:solidFill>
                <a:effectLst/>
                <a:uLnTx/>
                <a:uFillTx/>
                <a:latin typeface="Arial" panose="020B0604020202020204"/>
                <a:ea typeface="+mn-ea"/>
                <a:cs typeface="+mn-cs"/>
              </a:rPr>
              <a:t>Poor data access and utilization ↓ (1,2,3)</a:t>
            </a:r>
            <a:endParaRPr kumimoji="0" lang="en-US" sz="1400" b="0" i="0" u="none" strike="noStrike" kern="1200" cap="none" spc="0" normalizeH="0" baseline="0" noProof="0" dirty="0">
              <a:ln>
                <a:noFill/>
              </a:ln>
              <a:solidFill>
                <a:srgbClr val="333333"/>
              </a:solidFill>
              <a:effectLs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067429"/>
                </a:solidFill>
                <a:effectLst/>
                <a:uLnTx/>
                <a:uFillTx/>
                <a:latin typeface="Arial" panose="020B0604020202020204"/>
                <a:ea typeface="+mn-ea"/>
                <a:cs typeface="+mn-cs"/>
              </a:rPr>
              <a:t>Poor data quality ↓ (2,5) </a:t>
            </a:r>
            <a:endParaRPr kumimoji="0" lang="en-US" sz="1400" b="0" i="0" u="none" strike="noStrike" kern="1200" cap="none" spc="0" normalizeH="0" baseline="0" noProof="0" dirty="0">
              <a:ln>
                <a:noFill/>
              </a:ln>
              <a:solidFill>
                <a:srgbClr val="333333"/>
              </a:solidFill>
              <a:effectLs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305BAB"/>
                </a:solidFill>
                <a:effectLst/>
                <a:uLnTx/>
                <a:uFillTx/>
                <a:latin typeface="Arial" panose="020B0604020202020204"/>
                <a:ea typeface="+mn-ea"/>
                <a:cs typeface="+mn-cs"/>
              </a:rPr>
              <a:t>Poor data management and governance↓ (1,3</a:t>
            </a:r>
            <a:r>
              <a:rPr kumimoji="0" lang="en-US" sz="1400" b="0" i="0" u="none" strike="noStrike" kern="1200" cap="none" spc="0" normalizeH="0" baseline="0" noProof="0" dirty="0">
                <a:ln>
                  <a:noFill/>
                </a:ln>
                <a:solidFill>
                  <a:srgbClr val="305BAB"/>
                </a:solidFill>
                <a:effectLst/>
                <a:highlight>
                  <a:srgbClr val="FFFF00"/>
                </a:highlight>
                <a:uLnTx/>
                <a:uFillTx/>
                <a:latin typeface="Arial" panose="020B0604020202020204"/>
                <a:ea typeface="+mn-ea"/>
                <a:cs typeface="+mn-cs"/>
              </a:rPr>
              <a:t>) </a:t>
            </a:r>
            <a:r>
              <a:rPr kumimoji="0" lang="en-US" sz="1400" b="1" i="0" u="none" strike="noStrike" kern="1200" cap="none" spc="0" normalizeH="0" baseline="0" noProof="0" dirty="0">
                <a:ln>
                  <a:noFill/>
                </a:ln>
                <a:solidFill>
                  <a:srgbClr val="305BAB"/>
                </a:solidFill>
                <a:effectLst/>
                <a:highlight>
                  <a:srgbClr val="FFFF00"/>
                </a:highlight>
                <a:uLnTx/>
                <a:uFillTx/>
                <a:latin typeface="Arial" panose="020B0604020202020204"/>
                <a:ea typeface="+mn-ea"/>
                <a:cs typeface="+mn-cs"/>
              </a:rPr>
              <a:t>or is this in influence and in control?</a:t>
            </a:r>
            <a:endParaRPr kumimoji="0" lang="en-US" sz="1400" b="1" i="0" u="none" strike="noStrike" kern="1200" cap="none" spc="0" normalizeH="0" baseline="0" noProof="0" dirty="0">
              <a:ln>
                <a:noFill/>
              </a:ln>
              <a:solidFill>
                <a:srgbClr val="333333"/>
              </a:solidFill>
              <a:effectLst/>
              <a:highlight>
                <a:srgbClr val="FFFF00"/>
              </a:highligh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305BAB"/>
                </a:solidFill>
                <a:effectLst/>
                <a:uLnTx/>
                <a:uFillTx/>
                <a:latin typeface="Arial" panose="020B0604020202020204"/>
                <a:ea typeface="+mn-ea"/>
                <a:cs typeface="+mn-cs"/>
              </a:rPr>
              <a:t>Lack of dedicated neonatal data clerk ↓ (1,12) </a:t>
            </a:r>
            <a:r>
              <a:rPr kumimoji="0" lang="en-US" sz="1400" b="1" i="0" u="none" strike="noStrike" kern="1200" cap="none" spc="0" normalizeH="0" baseline="0" noProof="0" dirty="0">
                <a:ln>
                  <a:noFill/>
                </a:ln>
                <a:solidFill>
                  <a:srgbClr val="305BAB"/>
                </a:solidFill>
                <a:effectLst/>
                <a:highlight>
                  <a:srgbClr val="FFFF00"/>
                </a:highlight>
                <a:uLnTx/>
                <a:uFillTx/>
                <a:latin typeface="Arial" panose="020B0604020202020204"/>
                <a:ea typeface="+mn-ea"/>
                <a:cs typeface="+mn-cs"/>
              </a:rPr>
              <a:t>or is this in influence and in control?</a:t>
            </a:r>
            <a:endParaRPr kumimoji="0" lang="en-US" sz="1400" b="0" i="0" u="none" strike="noStrike" kern="1200" cap="none" spc="0" normalizeH="0" baseline="0" noProof="0" dirty="0">
              <a:ln>
                <a:noFill/>
              </a:ln>
              <a:solidFill>
                <a:srgbClr val="333333"/>
              </a:solidFill>
              <a:effectLst/>
              <a:highlight>
                <a:srgbClr val="FFFF00"/>
              </a:highlight>
              <a:uLnTx/>
              <a:uFillTx/>
              <a:latin typeface="Arial" panose="020B0604020202020204"/>
              <a:ea typeface="+mn-ea"/>
              <a:cs typeface="+mn-cs"/>
            </a:endParaRPr>
          </a:p>
          <a:p>
            <a:pPr marL="228600" marR="0" lvl="0" indent="-228600" algn="l" defTabSz="914400" rtl="0" eaLnBrk="1" fontAlgn="auto" latinLnBrk="0" hangingPunct="1">
              <a:lnSpc>
                <a:spcPct val="100000"/>
              </a:lnSpc>
              <a:spcBef>
                <a:spcPts val="200"/>
              </a:spcBef>
              <a:spcAft>
                <a:spcPts val="200"/>
              </a:spcAft>
              <a:buClrTx/>
              <a:buSzPct val="125000"/>
              <a:buFont typeface="Arial" panose="020B0604020202020204" pitchFamily="34" charset="0"/>
              <a:buChar char="•"/>
              <a:tabLst/>
              <a:defRPr/>
            </a:pPr>
            <a:r>
              <a:rPr kumimoji="0" lang="en-US" sz="1600" b="1" i="0" u="none" strike="noStrike" kern="1200" cap="none" spc="0" normalizeH="0" baseline="0" noProof="0" dirty="0">
                <a:ln>
                  <a:noFill/>
                </a:ln>
                <a:solidFill>
                  <a:srgbClr val="333333"/>
                </a:solidFill>
                <a:effectLst/>
                <a:uLnTx/>
                <a:uFillTx/>
                <a:latin typeface="Arial" panose="020B0604020202020204"/>
                <a:ea typeface="+mn-ea"/>
                <a:cs typeface="+mn-cs"/>
              </a:rPr>
              <a:t>Human Resources</a:t>
            </a: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067429"/>
                </a:solidFill>
                <a:effectLst/>
                <a:uLnTx/>
                <a:uFillTx/>
                <a:latin typeface="Arial" panose="020B0604020202020204"/>
                <a:ea typeface="+mn-ea"/>
                <a:cs typeface="+mn-cs"/>
              </a:rPr>
              <a:t>Poor health workers attitudes/interest in SSNC ↓ (1,5,6,7)</a:t>
            </a:r>
            <a:endParaRPr kumimoji="0" lang="en-US" sz="1400" b="0" i="0" u="none" strike="noStrike" kern="1200" cap="none" spc="0" normalizeH="0" baseline="0" noProof="0" dirty="0">
              <a:ln>
                <a:noFill/>
              </a:ln>
              <a:solidFill>
                <a:srgbClr val="333333"/>
              </a:solidFill>
              <a:effectLs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067429"/>
                </a:solidFill>
                <a:effectLst/>
                <a:uLnTx/>
                <a:uFillTx/>
                <a:latin typeface="Arial" panose="020B0604020202020204"/>
                <a:ea typeface="+mn-ea"/>
                <a:cs typeface="+mn-cs"/>
              </a:rPr>
              <a:t>Poor health workers competence/confidence in SSNC ↓ ( 1,5,6,7)</a:t>
            </a:r>
            <a:endParaRPr kumimoji="0" lang="en-US" sz="1400" b="0" i="0" u="none" strike="noStrike" kern="1200" cap="none" spc="0" normalizeH="0" baseline="0" noProof="0" dirty="0">
              <a:ln>
                <a:noFill/>
              </a:ln>
              <a:solidFill>
                <a:srgbClr val="333333"/>
              </a:solidFill>
              <a:effectLs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067429"/>
                </a:solidFill>
                <a:effectLst/>
                <a:uLnTx/>
                <a:uFillTx/>
                <a:latin typeface="Arial" panose="020B0604020202020204"/>
                <a:ea typeface="+mn-ea"/>
                <a:cs typeface="+mn-cs"/>
              </a:rPr>
              <a:t>Inconsistent preservice training in SSNC ↓ (1) </a:t>
            </a:r>
            <a:endParaRPr kumimoji="0" lang="en-US" sz="1400" b="0" i="0" u="none" strike="noStrike" kern="1200" cap="none" spc="0" normalizeH="0" baseline="0" noProof="0" dirty="0">
              <a:ln>
                <a:noFill/>
              </a:ln>
              <a:solidFill>
                <a:srgbClr val="333333"/>
              </a:solidFill>
              <a:effectLs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067429"/>
                </a:solidFill>
                <a:effectLst/>
                <a:uLnTx/>
                <a:uFillTx/>
                <a:latin typeface="Arial" panose="020B0604020202020204"/>
                <a:ea typeface="+mn-ea"/>
                <a:cs typeface="+mn-cs"/>
              </a:rPr>
              <a:t>Training available for SSNC ↑/ ↓ (5) </a:t>
            </a:r>
            <a:endParaRPr kumimoji="0" lang="en-US" sz="1400" b="0" i="0" u="none" strike="noStrike" kern="1200" cap="none" spc="0" normalizeH="0" baseline="0" noProof="0" dirty="0">
              <a:ln>
                <a:noFill/>
              </a:ln>
              <a:solidFill>
                <a:srgbClr val="333333"/>
              </a:solidFill>
              <a:effectLs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067429"/>
                </a:solidFill>
                <a:effectLst/>
                <a:uLnTx/>
                <a:uFillTx/>
                <a:latin typeface="Arial" panose="020B0604020202020204"/>
                <a:ea typeface="+mn-ea"/>
                <a:cs typeface="+mn-cs"/>
              </a:rPr>
              <a:t>Inconsistent BMET training ↓ (5) </a:t>
            </a:r>
            <a:endParaRPr kumimoji="0" lang="en-US" sz="1400" b="0" i="0" u="none" strike="noStrike" kern="1200" cap="none" spc="0" normalizeH="0" baseline="0" noProof="0" dirty="0">
              <a:ln>
                <a:noFill/>
              </a:ln>
              <a:solidFill>
                <a:srgbClr val="333333"/>
              </a:solidFill>
              <a:effectLs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067429"/>
                </a:solidFill>
                <a:effectLst/>
                <a:uLnTx/>
                <a:uFillTx/>
                <a:latin typeface="Arial" panose="020B0604020202020204"/>
                <a:ea typeface="+mn-ea"/>
                <a:cs typeface="+mn-cs"/>
              </a:rPr>
              <a:t>HC Provider awareness /knowledge ↑ / ↓ (2,4,5,6)</a:t>
            </a:r>
            <a:endParaRPr kumimoji="0" lang="en-US" sz="1400" b="0" i="0" u="none" strike="noStrike" kern="1200" cap="none" spc="0" normalizeH="0" baseline="0" noProof="0" dirty="0">
              <a:ln>
                <a:noFill/>
              </a:ln>
              <a:solidFill>
                <a:srgbClr val="333333"/>
              </a:solidFill>
              <a:effectLs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067429"/>
                </a:solidFill>
                <a:effectLst/>
                <a:uLnTx/>
                <a:uFillTx/>
                <a:latin typeface="Arial" panose="020B0604020202020204"/>
                <a:ea typeface="+mn-ea"/>
                <a:cs typeface="+mn-cs"/>
              </a:rPr>
              <a:t>Supporting staff not following IPC guidelines (janitors, guard, support runners) ↓ (2,5,6)</a:t>
            </a:r>
            <a:endParaRPr kumimoji="0" lang="en-US" sz="1400" b="0" i="0" u="none" strike="noStrike" kern="1200" cap="none" spc="0" normalizeH="0" baseline="0" noProof="0" dirty="0">
              <a:ln>
                <a:noFill/>
              </a:ln>
              <a:solidFill>
                <a:srgbClr val="333333"/>
              </a:solidFill>
              <a:effectLs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305BAB"/>
                </a:solidFill>
                <a:effectLst/>
                <a:uLnTx/>
                <a:uFillTx/>
                <a:latin typeface="Arial" panose="020B0604020202020204"/>
                <a:ea typeface="+mn-ea"/>
                <a:cs typeface="+mn-cs"/>
              </a:rPr>
              <a:t>BMETs unavailable ↓ (3,5) </a:t>
            </a:r>
            <a:endParaRPr kumimoji="0" lang="en-US" sz="1400" b="1" i="0" u="none" strike="noStrike" kern="1200" cap="none" spc="0" normalizeH="0" baseline="0" noProof="0" dirty="0">
              <a:ln>
                <a:noFill/>
              </a:ln>
              <a:solidFill>
                <a:srgbClr val="305BAB"/>
              </a:solidFill>
              <a:effectLst/>
              <a:highlight>
                <a:srgbClr val="FFFF00"/>
              </a:highligh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305BAB"/>
                </a:solidFill>
                <a:effectLst/>
                <a:uLnTx/>
                <a:uFillTx/>
                <a:latin typeface="Arial" panose="020B0604020202020204"/>
                <a:ea typeface="+mn-ea"/>
                <a:cs typeface="+mn-cs"/>
              </a:rPr>
              <a:t>Inadequate number of health workers ↓ (3,5) </a:t>
            </a:r>
            <a:r>
              <a:rPr kumimoji="0" lang="en-US" sz="1400" b="1" i="0" u="none" strike="noStrike" kern="1200" cap="none" spc="0" normalizeH="0" baseline="0" noProof="0" dirty="0">
                <a:ln>
                  <a:noFill/>
                </a:ln>
                <a:solidFill>
                  <a:srgbClr val="305BAB"/>
                </a:solidFill>
                <a:effectLst/>
                <a:highlight>
                  <a:srgbClr val="FFFF00"/>
                </a:highlight>
                <a:uLnTx/>
                <a:uFillTx/>
                <a:latin typeface="Arial" panose="020B0604020202020204"/>
                <a:ea typeface="+mn-ea"/>
                <a:cs typeface="+mn-cs"/>
              </a:rPr>
              <a:t>or is this out of influence and out of control?</a:t>
            </a:r>
            <a:endParaRPr kumimoji="0" lang="en-US" sz="1400" b="1" i="0" u="none" strike="noStrike" kern="1200" cap="none" spc="0" normalizeH="0" baseline="0" noProof="0" dirty="0">
              <a:ln>
                <a:noFill/>
              </a:ln>
              <a:solidFill>
                <a:srgbClr val="333333"/>
              </a:solidFill>
              <a:effectLst/>
              <a:highlight>
                <a:srgbClr val="FFFF00"/>
              </a:highlight>
              <a:uLnTx/>
              <a:uFillTx/>
              <a:latin typeface="Arial" panose="020B0604020202020204"/>
              <a:ea typeface="+mn-ea"/>
              <a:cs typeface="+mn-cs"/>
            </a:endParaRPr>
          </a:p>
          <a:p>
            <a:pPr marL="685800" marR="0" lvl="1" indent="-228600" algn="l" defTabSz="914400" rtl="0" eaLnBrk="1" fontAlgn="auto" latinLnBrk="0" hangingPunct="1">
              <a:lnSpc>
                <a:spcPct val="100000"/>
              </a:lnSpc>
              <a:spcBef>
                <a:spcPts val="200"/>
              </a:spcBef>
              <a:spcAft>
                <a:spcPts val="200"/>
              </a:spcAft>
              <a:buClrTx/>
              <a:buSzPct val="100000"/>
              <a:buFont typeface="Courier New" panose="02070309020205020404" pitchFamily="49" charset="0"/>
              <a:buChar char="o"/>
              <a:tabLst/>
              <a:defRPr/>
            </a:pPr>
            <a:r>
              <a:rPr kumimoji="0" lang="en-US" sz="1400" b="0" i="0" u="none" strike="noStrike" kern="1200" cap="none" spc="0" normalizeH="0" baseline="0" noProof="0" dirty="0">
                <a:ln>
                  <a:noFill/>
                </a:ln>
                <a:solidFill>
                  <a:srgbClr val="305BAB"/>
                </a:solidFill>
                <a:effectLst/>
                <a:uLnTx/>
                <a:uFillTx/>
                <a:latin typeface="Arial" panose="020B0604020202020204"/>
                <a:ea typeface="+mn-ea"/>
                <a:cs typeface="+mn-cs"/>
              </a:rPr>
              <a:t>Rotating staff and staff turnover ↓ (1) </a:t>
            </a:r>
            <a:r>
              <a:rPr kumimoji="0" lang="en-US" sz="1400" b="1" i="0" u="none" strike="noStrike" kern="1200" cap="none" spc="0" normalizeH="0" baseline="0" noProof="0" dirty="0">
                <a:ln>
                  <a:noFill/>
                </a:ln>
                <a:solidFill>
                  <a:srgbClr val="305BAB"/>
                </a:solidFill>
                <a:effectLst/>
                <a:highlight>
                  <a:srgbClr val="FFFF00"/>
                </a:highlight>
                <a:uLnTx/>
                <a:uFillTx/>
                <a:latin typeface="Arial" panose="020B0604020202020204"/>
                <a:ea typeface="+mn-ea"/>
                <a:cs typeface="+mn-cs"/>
              </a:rPr>
              <a:t>or is this out of influence and out of control?</a:t>
            </a:r>
            <a:endParaRPr kumimoji="0" lang="en-US" sz="1400" b="0" i="0" u="none" strike="noStrike" kern="1200" cap="none" spc="0" normalizeH="0" baseline="0" noProof="0" dirty="0">
              <a:ln>
                <a:noFill/>
              </a:ln>
              <a:solidFill>
                <a:srgbClr val="333333"/>
              </a:solidFill>
              <a:effectLst/>
              <a:highlight>
                <a:srgbClr val="FFFF00"/>
              </a:highlight>
              <a:uLnTx/>
              <a:uFillTx/>
              <a:latin typeface="Arial" panose="020B0604020202020204"/>
              <a:ea typeface="+mn-ea"/>
              <a:cs typeface="+mn-cs"/>
            </a:endParaRPr>
          </a:p>
        </p:txBody>
      </p:sp>
    </p:spTree>
    <p:extLst>
      <p:ext uri="{BB962C8B-B14F-4D97-AF65-F5344CB8AC3E}">
        <p14:creationId xmlns:p14="http://schemas.microsoft.com/office/powerpoint/2010/main" val="25393357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64AC2-1F79-7E5F-4FDF-377A75A1AB30}"/>
              </a:ext>
            </a:extLst>
          </p:cNvPr>
          <p:cNvSpPr>
            <a:spLocks noGrp="1"/>
          </p:cNvSpPr>
          <p:nvPr>
            <p:ph type="title"/>
          </p:nvPr>
        </p:nvSpPr>
        <p:spPr>
          <a:xfrm>
            <a:off x="838200" y="365126"/>
            <a:ext cx="10515600" cy="931240"/>
          </a:xfrm>
          <a:solidFill>
            <a:schemeClr val="accent1">
              <a:lumMod val="20000"/>
              <a:lumOff val="80000"/>
            </a:schemeClr>
          </a:solidFill>
        </p:spPr>
        <p:txBody>
          <a:bodyPr/>
          <a:lstStyle/>
          <a:p>
            <a:r>
              <a:rPr lang="en-US" dirty="0">
                <a:solidFill>
                  <a:schemeClr val="bg1"/>
                </a:solidFill>
              </a:rPr>
              <a:t>Tier 3: Implementation Factors Part 2</a:t>
            </a:r>
          </a:p>
        </p:txBody>
      </p:sp>
      <p:sp>
        <p:nvSpPr>
          <p:cNvPr id="3" name="Content Placeholder 2">
            <a:extLst>
              <a:ext uri="{FF2B5EF4-FFF2-40B4-BE49-F238E27FC236}">
                <a16:creationId xmlns:a16="http://schemas.microsoft.com/office/drawing/2014/main" id="{A04E180A-6C21-94AC-CDC7-E7BE1067F9EF}"/>
              </a:ext>
            </a:extLst>
          </p:cNvPr>
          <p:cNvSpPr>
            <a:spLocks noGrp="1"/>
          </p:cNvSpPr>
          <p:nvPr>
            <p:ph idx="1"/>
          </p:nvPr>
        </p:nvSpPr>
        <p:spPr>
          <a:xfrm>
            <a:off x="838201" y="1446836"/>
            <a:ext cx="5257800" cy="5411164"/>
          </a:xfrm>
        </p:spPr>
        <p:txBody>
          <a:bodyPr>
            <a:normAutofit fontScale="62500" lnSpcReduction="20000"/>
          </a:bodyPr>
          <a:lstStyle/>
          <a:p>
            <a:r>
              <a:rPr lang="en-US" b="1" dirty="0"/>
              <a:t>Quality Improvement</a:t>
            </a:r>
          </a:p>
          <a:p>
            <a:pPr lvl="1"/>
            <a:r>
              <a:rPr lang="en-US" dirty="0">
                <a:solidFill>
                  <a:srgbClr val="067429"/>
                </a:solidFill>
                <a:effectLst/>
              </a:rPr>
              <a:t>Inconsistent QI knowledge at national, regional, and facility levels ↓ (1,2,4,5)</a:t>
            </a:r>
            <a:endParaRPr lang="en-US" dirty="0"/>
          </a:p>
          <a:p>
            <a:pPr lvl="1"/>
            <a:r>
              <a:rPr lang="en-US" dirty="0">
                <a:solidFill>
                  <a:srgbClr val="067429"/>
                </a:solidFill>
                <a:effectLst/>
              </a:rPr>
              <a:t>Absent or inactive hospital and ward improvement teams ↓ (1,2,4,5,6)</a:t>
            </a:r>
          </a:p>
          <a:p>
            <a:pPr lvl="1"/>
            <a:r>
              <a:rPr lang="en-US" dirty="0">
                <a:solidFill>
                  <a:srgbClr val="067429"/>
                </a:solidFill>
                <a:effectLst/>
              </a:rPr>
              <a:t>Inconsistent QI training ↓ (1,4) </a:t>
            </a:r>
          </a:p>
          <a:p>
            <a:pPr lvl="1"/>
            <a:r>
              <a:rPr lang="en-US" dirty="0">
                <a:solidFill>
                  <a:srgbClr val="067429"/>
                </a:solidFill>
                <a:effectLst/>
              </a:rPr>
              <a:t>Inconsistent availability of QI documentation tools ↓ (1,2,3) </a:t>
            </a:r>
          </a:p>
          <a:p>
            <a:pPr lvl="1"/>
            <a:r>
              <a:rPr lang="en-US" dirty="0">
                <a:solidFill>
                  <a:srgbClr val="067429"/>
                </a:solidFill>
                <a:effectLst/>
              </a:rPr>
              <a:t>Gaps in documentation completeness ↓ (1, 2,3)</a:t>
            </a:r>
          </a:p>
          <a:p>
            <a:pPr lvl="1"/>
            <a:r>
              <a:rPr lang="en-US" dirty="0">
                <a:solidFill>
                  <a:srgbClr val="067429"/>
                </a:solidFill>
                <a:effectLst/>
              </a:rPr>
              <a:t>Absent or inconsistent auditing of care quality (ex. MPDSA) ↓ (2,3,4,5)</a:t>
            </a:r>
          </a:p>
          <a:p>
            <a:pPr lvl="1"/>
            <a:r>
              <a:rPr lang="en-US" dirty="0">
                <a:solidFill>
                  <a:srgbClr val="305BAB"/>
                </a:solidFill>
                <a:effectLst/>
              </a:rPr>
              <a:t>National and regional QI structures and resources showed variability in their inclusion of SSNC-focused guidance ↓ (1,3)</a:t>
            </a:r>
            <a:endParaRPr lang="en-US" dirty="0"/>
          </a:p>
          <a:p>
            <a:r>
              <a:rPr lang="en-US" b="1" dirty="0"/>
              <a:t>Equipment &amp; Commodities</a:t>
            </a:r>
          </a:p>
          <a:p>
            <a:pPr lvl="1"/>
            <a:r>
              <a:rPr lang="en-US" dirty="0">
                <a:solidFill>
                  <a:srgbClr val="067429"/>
                </a:solidFill>
                <a:effectLst/>
              </a:rPr>
              <a:t>Unavailability of functional equipment and supplies at facilities ↓ (5,8,9,10) </a:t>
            </a:r>
            <a:endParaRPr lang="en-US" dirty="0"/>
          </a:p>
          <a:p>
            <a:pPr lvl="1"/>
            <a:r>
              <a:rPr lang="en-US" dirty="0">
                <a:solidFill>
                  <a:srgbClr val="067429"/>
                </a:solidFill>
                <a:effectLst/>
              </a:rPr>
              <a:t>No strong procurement system ↓ (10) </a:t>
            </a:r>
          </a:p>
          <a:p>
            <a:pPr lvl="1"/>
            <a:r>
              <a:rPr lang="en-US" dirty="0">
                <a:solidFill>
                  <a:srgbClr val="067429"/>
                </a:solidFill>
                <a:effectLst/>
              </a:rPr>
              <a:t>Technology not fit for purpose ↓ (9) </a:t>
            </a:r>
            <a:endParaRPr lang="en-US" dirty="0"/>
          </a:p>
          <a:p>
            <a:pPr lvl="1"/>
            <a:r>
              <a:rPr lang="en-US" dirty="0">
                <a:solidFill>
                  <a:srgbClr val="067429"/>
                </a:solidFill>
                <a:effectLst/>
              </a:rPr>
              <a:t>Skill labs/skill stations unavailable or underused ↓ (5,6,7)</a:t>
            </a:r>
            <a:endParaRPr lang="en-US" dirty="0"/>
          </a:p>
          <a:p>
            <a:pPr lvl="1"/>
            <a:r>
              <a:rPr lang="en-US" dirty="0">
                <a:solidFill>
                  <a:srgbClr val="305BAB"/>
                </a:solidFill>
                <a:effectLst/>
              </a:rPr>
              <a:t>Expensive technology ↓ (8,10,12) </a:t>
            </a:r>
          </a:p>
          <a:p>
            <a:pPr lvl="1"/>
            <a:endParaRPr lang="en-US" dirty="0">
              <a:solidFill>
                <a:srgbClr val="305BAB"/>
              </a:solidFill>
            </a:endParaRPr>
          </a:p>
          <a:p>
            <a:pPr lvl="1"/>
            <a:endParaRPr lang="en-US" dirty="0"/>
          </a:p>
          <a:p>
            <a:endParaRPr lang="en-US" dirty="0"/>
          </a:p>
        </p:txBody>
      </p:sp>
      <p:sp>
        <p:nvSpPr>
          <p:cNvPr id="5" name="TextBox 4">
            <a:extLst>
              <a:ext uri="{FF2B5EF4-FFF2-40B4-BE49-F238E27FC236}">
                <a16:creationId xmlns:a16="http://schemas.microsoft.com/office/drawing/2014/main" id="{C89F0A94-0C4C-7C7D-85EA-D405BC315A32}"/>
              </a:ext>
            </a:extLst>
          </p:cNvPr>
          <p:cNvSpPr txBox="1"/>
          <p:nvPr/>
        </p:nvSpPr>
        <p:spPr>
          <a:xfrm>
            <a:off x="6097930" y="1446836"/>
            <a:ext cx="6094070" cy="447814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1A1A1A"/>
                </a:solidFill>
                <a:effectLst/>
                <a:uLnTx/>
                <a:uFillTx/>
                <a:latin typeface="Arial" panose="020B0604020202020204"/>
                <a:ea typeface="+mn-ea"/>
                <a:cs typeface="+mn-cs"/>
              </a:rPr>
              <a:t>Referral process</a:t>
            </a:r>
            <a:endParaRPr kumimoji="0" lang="en-US" sz="1600" b="1"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67429"/>
                </a:solidFill>
                <a:effectLst/>
                <a:uLnTx/>
                <a:uFillTx/>
                <a:latin typeface="Arial" panose="020B0604020202020204"/>
                <a:ea typeface="+mn-ea"/>
                <a:cs typeface="+mn-cs"/>
              </a:rPr>
              <a:t>Poor adherence to referral guidelines ↓ (5,6,2)</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305BAB"/>
                </a:solidFill>
                <a:effectLst/>
                <a:uLnTx/>
                <a:uFillTx/>
                <a:latin typeface="Arial" panose="020B0604020202020204"/>
                <a:ea typeface="+mn-ea"/>
                <a:cs typeface="+mn-cs"/>
              </a:rPr>
              <a:t>Poor pre and during referral communication and consultations ↓ (1,11)</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305BAB"/>
                </a:solidFill>
                <a:effectLst/>
                <a:uLnTx/>
                <a:uFillTx/>
                <a:latin typeface="Arial" panose="020B0604020202020204"/>
                <a:ea typeface="+mn-ea"/>
                <a:cs typeface="+mn-cs"/>
              </a:rPr>
              <a:t>Poor referral feedback mechanism ↓ (1,11)</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6631D7"/>
                </a:solidFill>
                <a:effectLst/>
                <a:uLnTx/>
                <a:uFillTx/>
                <a:latin typeface="Arial" panose="020B0604020202020204"/>
                <a:ea typeface="+mn-ea"/>
                <a:cs typeface="+mn-cs"/>
              </a:rPr>
              <a:t>Lack of appropriate transportation for referrals ↓ (1)</a:t>
            </a:r>
            <a:endPar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Arial" panose="020B0604020202020204"/>
                <a:ea typeface="+mn-ea"/>
                <a:cs typeface="+mn-cs"/>
              </a:rPr>
              <a:t>Linkage to Maternal Care</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305BAB"/>
                </a:solidFill>
                <a:effectLst/>
                <a:uLnTx/>
                <a:uFillTx/>
                <a:latin typeface="Arial" panose="020B0604020202020204"/>
                <a:ea typeface="+mn-ea"/>
                <a:cs typeface="+mn-cs"/>
              </a:rPr>
              <a:t>Policies that don’t facilitate/enable zero separate↓ (1,11)</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305BAB"/>
                </a:solidFill>
                <a:effectLst/>
                <a:uLnTx/>
                <a:uFillTx/>
                <a:latin typeface="Arial" panose="020B0604020202020204"/>
                <a:ea typeface="+mn-ea"/>
                <a:cs typeface="+mn-cs"/>
              </a:rPr>
              <a:t>Siloed antenatal, delivery, postnatal, and SSNC↓ (1,11)</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6631D7"/>
                </a:solidFill>
                <a:effectLst/>
                <a:uLnTx/>
                <a:uFillTx/>
                <a:latin typeface="Arial" panose="020B0604020202020204"/>
                <a:ea typeface="+mn-ea"/>
                <a:cs typeface="+mn-cs"/>
              </a:rPr>
              <a:t>Women leaving early due to competing demands at home ↓ (1,4,11)</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1A1A1A"/>
                </a:solidFill>
                <a:effectLst/>
                <a:uLnTx/>
                <a:uFillTx/>
                <a:latin typeface="Arial" panose="020B0604020202020204"/>
                <a:ea typeface="+mn-ea"/>
                <a:cs typeface="+mn-cs"/>
              </a:rPr>
              <a:t>Family centered care</a:t>
            </a:r>
            <a:endParaRPr kumimoji="0" lang="en-US" sz="1600" b="1"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67429"/>
                </a:solidFill>
                <a:effectLst/>
                <a:uLnTx/>
                <a:uFillTx/>
                <a:latin typeface="Arial" panose="020B0604020202020204"/>
                <a:ea typeface="+mn-ea"/>
                <a:cs typeface="+mn-cs"/>
              </a:rPr>
              <a:t>Lack of training and policies to support parental involvement ↓ (11)</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67429"/>
                </a:solidFill>
                <a:effectLst/>
                <a:uLnTx/>
                <a:uFillTx/>
                <a:latin typeface="Arial" panose="020B0604020202020204"/>
                <a:ea typeface="+mn-ea"/>
                <a:cs typeface="+mn-cs"/>
              </a:rPr>
              <a:t>Poor education/counseling for caregivers ↓ (4,6,11) </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067429"/>
                </a:solidFill>
                <a:effectLst/>
                <a:uLnTx/>
                <a:uFillTx/>
                <a:latin typeface="Arial" panose="020B0604020202020204"/>
                <a:ea typeface="+mn-ea"/>
                <a:cs typeface="+mn-cs"/>
              </a:rPr>
              <a:t>Family members lack awareness in handwashing and IPC ↓ (4,5,11)</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305BAB"/>
                </a:solidFill>
                <a:effectLst/>
                <a:uLnTx/>
                <a:uFillTx/>
                <a:latin typeface="Arial" panose="020B0604020202020204"/>
                <a:ea typeface="+mn-ea"/>
                <a:cs typeface="+mn-cs"/>
              </a:rPr>
              <a:t>Family interest in being involved in the care process ↑ / ↓ (4,11)</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305BAB"/>
                </a:solidFill>
                <a:effectLst/>
                <a:uLnTx/>
                <a:uFillTx/>
                <a:latin typeface="Arial" panose="020B0604020202020204"/>
                <a:ea typeface="+mn-ea"/>
                <a:cs typeface="+mn-cs"/>
              </a:rPr>
              <a:t>Lack of family involvement in decision making process ↓ (6,7,11)</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6631D7"/>
                </a:solidFill>
                <a:effectLst/>
                <a:uLnTx/>
                <a:uFillTx/>
                <a:latin typeface="Arial" panose="020B0604020202020204"/>
                <a:ea typeface="+mn-ea"/>
                <a:cs typeface="+mn-cs"/>
              </a:rPr>
              <a:t>Unavailability of bereavement care ↓ (1,4)</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Arial" panose="020B0604020202020204"/>
                <a:ea typeface="+mn-ea"/>
                <a:cs typeface="+mn-cs"/>
              </a:rPr>
              <a:t>Post-discharge follow up</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6631D7"/>
                </a:solidFill>
                <a:effectLst/>
                <a:uLnTx/>
                <a:uFillTx/>
                <a:latin typeface="Arial" panose="020B0604020202020204"/>
                <a:ea typeface="+mn-ea"/>
                <a:cs typeface="+mn-cs"/>
              </a:rPr>
              <a:t>No/poor discharge follow up and early child development ↓ (1)</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6631D7"/>
                </a:solidFill>
                <a:effectLst/>
                <a:uLnTx/>
                <a:uFillTx/>
                <a:latin typeface="Arial" panose="020B0604020202020204"/>
                <a:ea typeface="+mn-ea"/>
                <a:cs typeface="+mn-cs"/>
              </a:rPr>
              <a:t>No/poor follow up feedback mechanisms ↓ (1,3)</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6631D7"/>
                </a:solidFill>
                <a:effectLst/>
                <a:uLnTx/>
                <a:uFillTx/>
                <a:latin typeface="Arial" panose="020B0604020202020204"/>
                <a:ea typeface="+mn-ea"/>
                <a:cs typeface="+mn-cs"/>
              </a:rPr>
              <a:t>No/poor community health workers engagement ↓ (5,6,7)</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300" b="0" i="0" u="none" strike="noStrike" kern="1200" cap="none" spc="0" normalizeH="0" baseline="0" noProof="0" dirty="0">
                <a:ln>
                  <a:noFill/>
                </a:ln>
                <a:solidFill>
                  <a:srgbClr val="6631D7"/>
                </a:solidFill>
                <a:effectLst/>
                <a:uLnTx/>
                <a:uFillTx/>
                <a:latin typeface="Arial" panose="020B0604020202020204"/>
                <a:ea typeface="+mn-ea"/>
                <a:cs typeface="+mn-cs"/>
              </a:rPr>
              <a:t>Community based support and continuous care ↓ (1,4,11)</a:t>
            </a:r>
            <a:endParaRPr kumimoji="0" lang="en-US" sz="13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96944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03321-4A05-731C-30F4-C7F025A8D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571939-A5ED-71EB-A5A7-1D3BD32A8ECF}"/>
              </a:ext>
            </a:extLst>
          </p:cNvPr>
          <p:cNvSpPr>
            <a:spLocks noGrp="1"/>
          </p:cNvSpPr>
          <p:nvPr>
            <p:ph type="title"/>
          </p:nvPr>
        </p:nvSpPr>
        <p:spPr>
          <a:xfrm>
            <a:off x="838200" y="365126"/>
            <a:ext cx="10515600" cy="931240"/>
          </a:xfrm>
          <a:solidFill>
            <a:schemeClr val="accent1">
              <a:lumMod val="20000"/>
              <a:lumOff val="80000"/>
            </a:schemeClr>
          </a:solidFill>
        </p:spPr>
        <p:txBody>
          <a:bodyPr/>
          <a:lstStyle/>
          <a:p>
            <a:r>
              <a:rPr lang="en-US" dirty="0">
                <a:solidFill>
                  <a:schemeClr val="bg1"/>
                </a:solidFill>
              </a:rPr>
              <a:t>Tier 3: Implementation Factors Part 3</a:t>
            </a:r>
          </a:p>
        </p:txBody>
      </p:sp>
      <p:sp>
        <p:nvSpPr>
          <p:cNvPr id="3" name="Content Placeholder 2">
            <a:extLst>
              <a:ext uri="{FF2B5EF4-FFF2-40B4-BE49-F238E27FC236}">
                <a16:creationId xmlns:a16="http://schemas.microsoft.com/office/drawing/2014/main" id="{90C957C2-C588-93AE-E059-FBFAC0D99400}"/>
              </a:ext>
            </a:extLst>
          </p:cNvPr>
          <p:cNvSpPr>
            <a:spLocks noGrp="1"/>
          </p:cNvSpPr>
          <p:nvPr>
            <p:ph idx="1"/>
          </p:nvPr>
        </p:nvSpPr>
        <p:spPr>
          <a:xfrm>
            <a:off x="838201" y="1446836"/>
            <a:ext cx="11199470" cy="5411164"/>
          </a:xfrm>
        </p:spPr>
        <p:txBody>
          <a:bodyPr>
            <a:normAutofit fontScale="92500" lnSpcReduction="20000"/>
          </a:bodyPr>
          <a:lstStyle/>
          <a:p>
            <a:r>
              <a:rPr lang="en-US" sz="2400" b="1" dirty="0">
                <a:solidFill>
                  <a:srgbClr val="1A1A1A"/>
                </a:solidFill>
                <a:effectLst/>
              </a:rPr>
              <a:t>Infrastructure</a:t>
            </a:r>
          </a:p>
          <a:p>
            <a:pPr lvl="1"/>
            <a:r>
              <a:rPr lang="en-US" sz="2100" dirty="0">
                <a:solidFill>
                  <a:srgbClr val="067429"/>
                </a:solidFill>
                <a:effectLst/>
              </a:rPr>
              <a:t>No standard guide for space for Level 2 SSNC ↓ (1,4,13</a:t>
            </a:r>
            <a:r>
              <a:rPr lang="en-US" sz="2100" dirty="0">
                <a:solidFill>
                  <a:srgbClr val="067429"/>
                </a:solidFill>
                <a:effectLst/>
                <a:highlight>
                  <a:srgbClr val="FFFF00"/>
                </a:highlight>
              </a:rPr>
              <a:t>)</a:t>
            </a:r>
            <a:r>
              <a:rPr lang="en-US" sz="2100" b="1" dirty="0">
                <a:solidFill>
                  <a:srgbClr val="067429"/>
                </a:solidFill>
                <a:effectLst/>
                <a:highlight>
                  <a:srgbClr val="FFFF00"/>
                </a:highlight>
              </a:rPr>
              <a:t> </a:t>
            </a:r>
            <a:r>
              <a:rPr lang="en-US" sz="2100" b="1" dirty="0">
                <a:solidFill>
                  <a:srgbClr val="305BAB"/>
                </a:solidFill>
                <a:effectLst/>
                <a:highlight>
                  <a:srgbClr val="FFFF00"/>
                </a:highlight>
              </a:rPr>
              <a:t>or is this in influence and out control?</a:t>
            </a:r>
            <a:endParaRPr lang="en-US" sz="2100" b="1" dirty="0">
              <a:highlight>
                <a:srgbClr val="FFFF00"/>
              </a:highlight>
            </a:endParaRPr>
          </a:p>
          <a:p>
            <a:pPr lvl="1"/>
            <a:r>
              <a:rPr lang="en-US" sz="2100" dirty="0">
                <a:solidFill>
                  <a:srgbClr val="305BAB"/>
                </a:solidFill>
                <a:effectLst/>
              </a:rPr>
              <a:t>Inadequate space for SSNC including KMC/immediate KMC ↓ (1,3,12,13)</a:t>
            </a:r>
          </a:p>
          <a:p>
            <a:pPr lvl="1"/>
            <a:r>
              <a:rPr lang="en-US" sz="2100" dirty="0">
                <a:solidFill>
                  <a:srgbClr val="305BAB"/>
                </a:solidFill>
                <a:effectLst/>
              </a:rPr>
              <a:t>Poorly designed space - leads to poor flow and poor IPC practices ↓ (1,12,13)</a:t>
            </a:r>
          </a:p>
          <a:p>
            <a:pPr lvl="1"/>
            <a:r>
              <a:rPr lang="en-US" sz="2100" dirty="0">
                <a:solidFill>
                  <a:srgbClr val="305BAB"/>
                </a:solidFill>
                <a:effectLst/>
              </a:rPr>
              <a:t>Poor flow of care of newborns from labor ward to NBU ↓ (1,13)</a:t>
            </a:r>
            <a:endParaRPr lang="en-US" sz="2100" dirty="0"/>
          </a:p>
          <a:p>
            <a:pPr lvl="1"/>
            <a:r>
              <a:rPr lang="en-US" sz="2100" dirty="0">
                <a:solidFill>
                  <a:srgbClr val="305BAB"/>
                </a:solidFill>
                <a:effectLst/>
              </a:rPr>
              <a:t>Unreliable electric power and poor backup power sources ↓ (1,12,13)</a:t>
            </a:r>
            <a:endParaRPr lang="en-US" sz="2100" dirty="0"/>
          </a:p>
          <a:p>
            <a:pPr lvl="1"/>
            <a:r>
              <a:rPr lang="en-US" sz="2100" dirty="0">
                <a:solidFill>
                  <a:srgbClr val="305BAB"/>
                </a:solidFill>
                <a:effectLst/>
              </a:rPr>
              <a:t>Poor medical gas and vacuum systems ↓ (1,8,13)</a:t>
            </a:r>
          </a:p>
          <a:p>
            <a:pPr lvl="1"/>
            <a:r>
              <a:rPr lang="en-US" sz="2100" dirty="0">
                <a:solidFill>
                  <a:srgbClr val="305BAB"/>
                </a:solidFill>
                <a:effectLst/>
              </a:rPr>
              <a:t>Insufficient WASH facilities↓ (1,12,13)</a:t>
            </a:r>
          </a:p>
          <a:p>
            <a:pPr lvl="1"/>
            <a:r>
              <a:rPr lang="en-US" sz="2100" dirty="0">
                <a:solidFill>
                  <a:srgbClr val="305BAB"/>
                </a:solidFill>
                <a:effectLst/>
              </a:rPr>
              <a:t>Blood culture are unavailable ↓ (1,8,9,12)</a:t>
            </a:r>
            <a:endParaRPr lang="en-US" sz="2100" dirty="0"/>
          </a:p>
          <a:p>
            <a:r>
              <a:rPr lang="en-US" sz="2200" b="1" dirty="0"/>
              <a:t>Financing</a:t>
            </a:r>
          </a:p>
          <a:p>
            <a:pPr lvl="1"/>
            <a:r>
              <a:rPr lang="en-US" sz="2100" dirty="0">
                <a:solidFill>
                  <a:srgbClr val="067429"/>
                </a:solidFill>
                <a:effectLst/>
              </a:rPr>
              <a:t>Donor funding ↑ (6,12)</a:t>
            </a:r>
          </a:p>
          <a:p>
            <a:pPr lvl="1"/>
            <a:r>
              <a:rPr lang="en-US" sz="2100" dirty="0">
                <a:solidFill>
                  <a:srgbClr val="305BAB"/>
                </a:solidFill>
                <a:effectLst/>
              </a:rPr>
              <a:t>Government financing ↑ / ↓ (12)</a:t>
            </a:r>
          </a:p>
          <a:p>
            <a:pPr lvl="1"/>
            <a:r>
              <a:rPr lang="en-US" sz="2100" dirty="0">
                <a:solidFill>
                  <a:srgbClr val="305BAB"/>
                </a:solidFill>
                <a:effectLst/>
              </a:rPr>
              <a:t>Long-term funding ↑ / ↓ (6,12)</a:t>
            </a:r>
            <a:endParaRPr lang="en-US" sz="2100" dirty="0"/>
          </a:p>
          <a:p>
            <a:pPr lvl="1"/>
            <a:r>
              <a:rPr lang="en-US" sz="2100" dirty="0">
                <a:solidFill>
                  <a:srgbClr val="305BAB"/>
                </a:solidFill>
                <a:effectLst/>
              </a:rPr>
              <a:t>No budget allocation to SSNC in national and facility budgets ↓ (1,12)</a:t>
            </a:r>
            <a:endParaRPr lang="en-US" sz="2100" dirty="0"/>
          </a:p>
          <a:p>
            <a:pPr lvl="1"/>
            <a:r>
              <a:rPr lang="en-US" sz="2100" dirty="0">
                <a:solidFill>
                  <a:srgbClr val="6631D7"/>
                </a:solidFill>
                <a:effectLst/>
              </a:rPr>
              <a:t>Poverty ↓ (1)</a:t>
            </a:r>
            <a:endParaRPr lang="en-US" sz="2100" dirty="0"/>
          </a:p>
          <a:p>
            <a:pPr lvl="1"/>
            <a:r>
              <a:rPr lang="en-US" sz="2100" dirty="0">
                <a:solidFill>
                  <a:srgbClr val="6631D7"/>
                </a:solidFill>
                <a:effectLst/>
              </a:rPr>
              <a:t>Little insurance coverage ↓ (1)</a:t>
            </a:r>
            <a:endParaRPr lang="en-US" sz="2100" dirty="0"/>
          </a:p>
          <a:p>
            <a:pPr lvl="1"/>
            <a:r>
              <a:rPr lang="en-US" sz="2100" dirty="0">
                <a:solidFill>
                  <a:srgbClr val="6631D7"/>
                </a:solidFill>
                <a:effectLst/>
              </a:rPr>
              <a:t>Poor exempted service reimbursement system ↓ (1)</a:t>
            </a:r>
            <a:endParaRPr lang="en-US" dirty="0">
              <a:solidFill>
                <a:srgbClr val="305BAB"/>
              </a:solidFill>
            </a:endParaRPr>
          </a:p>
          <a:p>
            <a:pPr lvl="1"/>
            <a:endParaRPr lang="en-US" dirty="0"/>
          </a:p>
          <a:p>
            <a:endParaRPr lang="en-US" dirty="0"/>
          </a:p>
        </p:txBody>
      </p:sp>
    </p:spTree>
    <p:extLst>
      <p:ext uri="{BB962C8B-B14F-4D97-AF65-F5344CB8AC3E}">
        <p14:creationId xmlns:p14="http://schemas.microsoft.com/office/powerpoint/2010/main" val="41674690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D307-AE3C-AEAF-69E8-4E1A37638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0F045-1A15-D026-BC8A-58E10EAE2276}"/>
              </a:ext>
            </a:extLst>
          </p:cNvPr>
          <p:cNvSpPr>
            <a:spLocks noGrp="1"/>
          </p:cNvSpPr>
          <p:nvPr>
            <p:ph type="title"/>
          </p:nvPr>
        </p:nvSpPr>
        <p:spPr/>
        <p:txBody>
          <a:bodyPr/>
          <a:lstStyle/>
          <a:p>
            <a:r>
              <a:rPr lang="en-US" dirty="0"/>
              <a:t>Implementation factors requests </a:t>
            </a:r>
            <a:r>
              <a:rPr lang="en-US" sz="2800" i="1" dirty="0"/>
              <a:t>(See poster)</a:t>
            </a:r>
          </a:p>
        </p:txBody>
      </p:sp>
      <p:sp>
        <p:nvSpPr>
          <p:cNvPr id="3" name="Content Placeholder 2">
            <a:extLst>
              <a:ext uri="{FF2B5EF4-FFF2-40B4-BE49-F238E27FC236}">
                <a16:creationId xmlns:a16="http://schemas.microsoft.com/office/drawing/2014/main" id="{EF8BBCAB-F87E-B9AC-341A-C55619798AD2}"/>
              </a:ext>
            </a:extLst>
          </p:cNvPr>
          <p:cNvSpPr>
            <a:spLocks noGrp="1"/>
          </p:cNvSpPr>
          <p:nvPr>
            <p:ph idx="1"/>
          </p:nvPr>
        </p:nvSpPr>
        <p:spPr/>
        <p:txBody>
          <a:bodyPr>
            <a:normAutofit lnSpcReduction="10000"/>
          </a:bodyPr>
          <a:lstStyle/>
          <a:p>
            <a:r>
              <a:rPr lang="en-US" dirty="0"/>
              <a:t>Do we need to add any implementation factors? </a:t>
            </a:r>
          </a:p>
          <a:p>
            <a:endParaRPr lang="en-US" dirty="0"/>
          </a:p>
          <a:p>
            <a:r>
              <a:rPr lang="en-US" dirty="0"/>
              <a:t>Do we need to remove any implementation factors? </a:t>
            </a:r>
          </a:p>
          <a:p>
            <a:endParaRPr lang="en-US" dirty="0"/>
          </a:p>
          <a:p>
            <a:r>
              <a:rPr lang="en-US" dirty="0"/>
              <a:t>Do we need to modify any implementation factors? </a:t>
            </a:r>
          </a:p>
          <a:p>
            <a:endParaRPr lang="en-US" dirty="0"/>
          </a:p>
          <a:p>
            <a:r>
              <a:rPr lang="en-US" dirty="0"/>
              <a:t>Do you agree with the barrier &amp; facilitator labels for the implementation factors? </a:t>
            </a:r>
          </a:p>
          <a:p>
            <a:endParaRPr lang="en-US" dirty="0"/>
          </a:p>
          <a:p>
            <a:r>
              <a:rPr lang="en-US" dirty="0"/>
              <a:t>Do you agree with the implementation factor color coding? </a:t>
            </a:r>
          </a:p>
        </p:txBody>
      </p:sp>
      <p:sp>
        <p:nvSpPr>
          <p:cNvPr id="4" name="TextBox 3">
            <a:extLst>
              <a:ext uri="{FF2B5EF4-FFF2-40B4-BE49-F238E27FC236}">
                <a16:creationId xmlns:a16="http://schemas.microsoft.com/office/drawing/2014/main" id="{AB861A38-7DF2-B29B-5F4A-CA34D73959A4}"/>
              </a:ext>
            </a:extLst>
          </p:cNvPr>
          <p:cNvSpPr txBox="1"/>
          <p:nvPr/>
        </p:nvSpPr>
        <p:spPr>
          <a:xfrm>
            <a:off x="988672" y="6065678"/>
            <a:ext cx="10214656" cy="492443"/>
          </a:xfrm>
          <a:prstGeom prst="rect">
            <a:avLst/>
          </a:prstGeom>
          <a:solidFill>
            <a:schemeClr val="accent3">
              <a:lumMod val="40000"/>
              <a:lumOff val="60000"/>
            </a:schemeClr>
          </a:solidFill>
        </p:spPr>
        <p:txBody>
          <a:bodyPr wrap="none" rtlCol="0">
            <a:spAutoFit/>
          </a:bodyPr>
          <a:lstStyle/>
          <a:p>
            <a:pPr algn="l"/>
            <a:r>
              <a:rPr lang="en-US" sz="2600" b="1" i="1" dirty="0">
                <a:solidFill>
                  <a:srgbClr val="333333"/>
                </a:solidFill>
              </a:rPr>
              <a:t>Feel free to add a </a:t>
            </a:r>
            <a:r>
              <a:rPr lang="en-US" sz="2600" b="1" i="1" dirty="0" err="1">
                <a:solidFill>
                  <a:srgbClr val="333333"/>
                </a:solidFill>
              </a:rPr>
              <a:t>post-it</a:t>
            </a:r>
            <a:r>
              <a:rPr lang="en-US" sz="2600" b="1" i="1" dirty="0">
                <a:solidFill>
                  <a:srgbClr val="333333"/>
                </a:solidFill>
              </a:rPr>
              <a:t> note to the poster with your answer(s)</a:t>
            </a:r>
          </a:p>
        </p:txBody>
      </p:sp>
      <p:pic>
        <p:nvPicPr>
          <p:cNvPr id="5" name="Picture 4" descr="A qr code with black squares&#10;&#10;AI-generated content may be incorrect.">
            <a:extLst>
              <a:ext uri="{FF2B5EF4-FFF2-40B4-BE49-F238E27FC236}">
                <a16:creationId xmlns:a16="http://schemas.microsoft.com/office/drawing/2014/main" id="{FE11BCFC-94B1-497C-B6DF-279F01D3E9DC}"/>
              </a:ext>
            </a:extLst>
          </p:cNvPr>
          <p:cNvPicPr>
            <a:picLocks noChangeAspect="1"/>
          </p:cNvPicPr>
          <p:nvPr/>
        </p:nvPicPr>
        <p:blipFill>
          <a:blip r:embed="rId2"/>
          <a:stretch>
            <a:fillRect/>
          </a:stretch>
        </p:blipFill>
        <p:spPr>
          <a:xfrm>
            <a:off x="9592619" y="1690688"/>
            <a:ext cx="2272861" cy="2296786"/>
          </a:xfrm>
          <a:prstGeom prst="rect">
            <a:avLst/>
          </a:prstGeom>
        </p:spPr>
      </p:pic>
      <p:sp>
        <p:nvSpPr>
          <p:cNvPr id="6" name="TextBox 5">
            <a:extLst>
              <a:ext uri="{FF2B5EF4-FFF2-40B4-BE49-F238E27FC236}">
                <a16:creationId xmlns:a16="http://schemas.microsoft.com/office/drawing/2014/main" id="{5B882669-99C9-A66D-18BF-3891754CF8D8}"/>
              </a:ext>
            </a:extLst>
          </p:cNvPr>
          <p:cNvSpPr txBox="1"/>
          <p:nvPr/>
        </p:nvSpPr>
        <p:spPr>
          <a:xfrm>
            <a:off x="9592619" y="4005000"/>
            <a:ext cx="2396358" cy="1077218"/>
          </a:xfrm>
          <a:prstGeom prst="rect">
            <a:avLst/>
          </a:prstGeom>
          <a:noFill/>
        </p:spPr>
        <p:txBody>
          <a:bodyPr wrap="square" rtlCol="0">
            <a:spAutoFit/>
          </a:bodyPr>
          <a:lstStyle/>
          <a:p>
            <a:pPr algn="ctr"/>
            <a:r>
              <a:rPr lang="en-US" sz="1600" b="1" dirty="0">
                <a:solidFill>
                  <a:srgbClr val="333333"/>
                </a:solidFill>
              </a:rPr>
              <a:t>Provide your feedback on level of influence &amp; control with this google survey</a:t>
            </a:r>
          </a:p>
        </p:txBody>
      </p:sp>
    </p:spTree>
    <p:extLst>
      <p:ext uri="{BB962C8B-B14F-4D97-AF65-F5344CB8AC3E}">
        <p14:creationId xmlns:p14="http://schemas.microsoft.com/office/powerpoint/2010/main" val="40220984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B7A26-AC0F-943F-1E6F-C4319DA83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66B5E9-4B7D-50A9-F90C-A091C0ACD054}"/>
              </a:ext>
            </a:extLst>
          </p:cNvPr>
          <p:cNvSpPr>
            <a:spLocks noGrp="1"/>
          </p:cNvSpPr>
          <p:nvPr>
            <p:ph type="title"/>
          </p:nvPr>
        </p:nvSpPr>
        <p:spPr>
          <a:xfrm>
            <a:off x="838200" y="365126"/>
            <a:ext cx="10515600" cy="836348"/>
          </a:xfrm>
        </p:spPr>
        <p:txBody>
          <a:bodyPr/>
          <a:lstStyle/>
          <a:p>
            <a:r>
              <a:rPr lang="en-US" dirty="0"/>
              <a:t>Tier 3 strategies &amp; mechanisms</a:t>
            </a:r>
          </a:p>
        </p:txBody>
      </p:sp>
      <p:sp>
        <p:nvSpPr>
          <p:cNvPr id="4" name="Content Placeholder 3">
            <a:extLst>
              <a:ext uri="{FF2B5EF4-FFF2-40B4-BE49-F238E27FC236}">
                <a16:creationId xmlns:a16="http://schemas.microsoft.com/office/drawing/2014/main" id="{9505ADBA-376F-1890-BFE7-5466D270BECE}"/>
              </a:ext>
            </a:extLst>
          </p:cNvPr>
          <p:cNvSpPr>
            <a:spLocks noGrp="1"/>
          </p:cNvSpPr>
          <p:nvPr>
            <p:ph sz="half" idx="1"/>
          </p:nvPr>
        </p:nvSpPr>
        <p:spPr>
          <a:xfrm>
            <a:off x="838200" y="1690688"/>
            <a:ext cx="5181600" cy="5448924"/>
          </a:xfrm>
        </p:spPr>
        <p:txBody>
          <a:bodyPr>
            <a:normAutofit fontScale="62500" lnSpcReduction="20000"/>
          </a:bodyPr>
          <a:lstStyle/>
          <a:p>
            <a:pPr marL="514350" indent="-514350">
              <a:buFont typeface="+mj-lt"/>
              <a:buAutoNum type="arabicPeriod"/>
            </a:pPr>
            <a:r>
              <a:rPr lang="en-US" dirty="0"/>
              <a:t>Engage policy makers &amp; leadership</a:t>
            </a:r>
          </a:p>
          <a:p>
            <a:pPr marL="514350" indent="-514350">
              <a:buFont typeface="+mj-lt"/>
              <a:buAutoNum type="arabicPeriod"/>
            </a:pPr>
            <a:r>
              <a:rPr lang="en-US" dirty="0"/>
              <a:t>QI activities</a:t>
            </a:r>
          </a:p>
          <a:p>
            <a:pPr marL="514350" indent="-514350">
              <a:buFont typeface="+mj-lt"/>
              <a:buAutoNum type="arabicPeriod"/>
            </a:pPr>
            <a:r>
              <a:rPr lang="en-US" dirty="0"/>
              <a:t>Develop data systems to capture &amp; feedback data and support routine SSNC fata collection</a:t>
            </a:r>
          </a:p>
          <a:p>
            <a:pPr marL="514350" indent="-514350">
              <a:buFont typeface="+mj-lt"/>
              <a:buAutoNum type="arabicPeriod"/>
            </a:pPr>
            <a:r>
              <a:rPr lang="en-US" dirty="0"/>
              <a:t>Design &amp; distribute clinical&amp; biomedical educational materials</a:t>
            </a:r>
          </a:p>
          <a:p>
            <a:pPr marL="514350" indent="-514350">
              <a:buFont typeface="+mj-lt"/>
              <a:buAutoNum type="arabicPeriod"/>
            </a:pPr>
            <a:r>
              <a:rPr lang="en-US" dirty="0"/>
              <a:t>Training &amp; mentorship</a:t>
            </a:r>
          </a:p>
          <a:p>
            <a:pPr marL="514350" indent="-514350">
              <a:buFont typeface="+mj-lt"/>
              <a:buAutoNum type="arabicPeriod"/>
            </a:pPr>
            <a:r>
              <a:rPr lang="en-US" dirty="0"/>
              <a:t>Interprofessional collaboration &amp; teamwork</a:t>
            </a:r>
          </a:p>
          <a:p>
            <a:pPr marL="514350" indent="-514350">
              <a:buFont typeface="+mj-lt"/>
              <a:buAutoNum type="arabicPeriod"/>
            </a:pPr>
            <a:r>
              <a:rPr lang="en-US" dirty="0"/>
              <a:t>Motivate staff &amp; empower collaboration</a:t>
            </a:r>
          </a:p>
          <a:p>
            <a:pPr marL="514350" indent="-514350">
              <a:buFont typeface="+mj-lt"/>
              <a:buAutoNum type="arabicPeriod"/>
            </a:pPr>
            <a:r>
              <a:rPr lang="en-US" dirty="0"/>
              <a:t>Ensuring the availability of appropriate functional SSNC medical devices</a:t>
            </a:r>
          </a:p>
          <a:p>
            <a:pPr marL="514350" indent="-514350">
              <a:buFont typeface="+mj-lt"/>
              <a:buAutoNum type="arabicPeriod"/>
            </a:pPr>
            <a:r>
              <a:rPr lang="en-US" dirty="0"/>
              <a:t>Identify &amp; qualify appropriate technology </a:t>
            </a:r>
          </a:p>
          <a:p>
            <a:pPr marL="514350" indent="-514350">
              <a:buFont typeface="+mj-lt"/>
              <a:buAutoNum type="arabicPeriod"/>
            </a:pPr>
            <a:r>
              <a:rPr lang="en-US" dirty="0"/>
              <a:t>Hatch technologies</a:t>
            </a:r>
          </a:p>
          <a:p>
            <a:pPr marL="514350" indent="-514350">
              <a:buFont typeface="+mj-lt"/>
              <a:buAutoNum type="arabicPeriod"/>
            </a:pPr>
            <a:r>
              <a:rPr lang="en-US" dirty="0"/>
              <a:t>Engage family members in care process and follow up actions</a:t>
            </a:r>
          </a:p>
          <a:p>
            <a:pPr marL="514350" indent="-514350">
              <a:buFont typeface="+mj-lt"/>
              <a:buAutoNum type="arabicPeriod"/>
            </a:pPr>
            <a:r>
              <a:rPr lang="en-US" dirty="0"/>
              <a:t>Ensure adequate funding</a:t>
            </a:r>
          </a:p>
          <a:p>
            <a:pPr marL="514350" indent="-514350">
              <a:buFont typeface="+mj-lt"/>
              <a:buAutoNum type="arabicPeriod"/>
            </a:pPr>
            <a:r>
              <a:rPr lang="en-US" dirty="0"/>
              <a:t>Tailoring local infrastructure </a:t>
            </a:r>
          </a:p>
        </p:txBody>
      </p:sp>
      <p:sp>
        <p:nvSpPr>
          <p:cNvPr id="5" name="Content Placeholder 4">
            <a:extLst>
              <a:ext uri="{FF2B5EF4-FFF2-40B4-BE49-F238E27FC236}">
                <a16:creationId xmlns:a16="http://schemas.microsoft.com/office/drawing/2014/main" id="{C1A8B66E-F29B-6C00-F703-0ECF86DBF995}"/>
              </a:ext>
            </a:extLst>
          </p:cNvPr>
          <p:cNvSpPr>
            <a:spLocks noGrp="1"/>
          </p:cNvSpPr>
          <p:nvPr>
            <p:ph sz="half" idx="2"/>
          </p:nvPr>
        </p:nvSpPr>
        <p:spPr>
          <a:xfrm>
            <a:off x="6934422" y="1825625"/>
            <a:ext cx="5007180" cy="5032375"/>
          </a:xfrm>
        </p:spPr>
        <p:txBody>
          <a:bodyPr>
            <a:normAutofit fontScale="62500" lnSpcReduction="20000"/>
          </a:bodyPr>
          <a:lstStyle/>
          <a:p>
            <a:r>
              <a:rPr lang="en-US" sz="3800" dirty="0"/>
              <a:t>At the </a:t>
            </a:r>
            <a:r>
              <a:rPr lang="en-US" sz="3800" u="sng" dirty="0"/>
              <a:t>global/program level</a:t>
            </a:r>
            <a:r>
              <a:rPr lang="en-US" sz="3800" b="1" dirty="0"/>
              <a:t> [strategy] </a:t>
            </a:r>
            <a:r>
              <a:rPr lang="en-US" sz="3800" dirty="0"/>
              <a:t>entails XYZ, NEST performed these activities because XYZ can lead to 123.</a:t>
            </a:r>
          </a:p>
          <a:p>
            <a:endParaRPr lang="en-US" sz="3800" dirty="0"/>
          </a:p>
          <a:p>
            <a:r>
              <a:rPr lang="en-US" sz="3800" dirty="0"/>
              <a:t>At the </a:t>
            </a:r>
            <a:r>
              <a:rPr lang="en-US" sz="3800" u="sng" dirty="0"/>
              <a:t>country level</a:t>
            </a:r>
            <a:r>
              <a:rPr lang="en-US" sz="3800" b="1" dirty="0"/>
              <a:t> [strategy] </a:t>
            </a:r>
            <a:r>
              <a:rPr lang="en-US" sz="3800" dirty="0"/>
              <a:t>entails XYZ, NEST performed these activities because XYZ can lead to 123.</a:t>
            </a:r>
          </a:p>
          <a:p>
            <a:endParaRPr lang="en-US" sz="3800" dirty="0"/>
          </a:p>
          <a:p>
            <a:r>
              <a:rPr lang="en-US" sz="3800" dirty="0"/>
              <a:t>At the </a:t>
            </a:r>
            <a:r>
              <a:rPr lang="en-US" sz="3800" u="sng" dirty="0"/>
              <a:t>hospital level</a:t>
            </a:r>
            <a:r>
              <a:rPr lang="en-US" sz="3800" b="1" dirty="0"/>
              <a:t> [strategy] </a:t>
            </a:r>
            <a:r>
              <a:rPr lang="en-US" sz="3800" dirty="0"/>
              <a:t>entails XYZ, NEST performed these activities because XYZ can lead to 123.</a:t>
            </a:r>
          </a:p>
          <a:p>
            <a:endParaRPr lang="en-US" dirty="0"/>
          </a:p>
        </p:txBody>
      </p:sp>
      <p:sp>
        <p:nvSpPr>
          <p:cNvPr id="6" name="Subtitle 2">
            <a:extLst>
              <a:ext uri="{FF2B5EF4-FFF2-40B4-BE49-F238E27FC236}">
                <a16:creationId xmlns:a16="http://schemas.microsoft.com/office/drawing/2014/main" id="{84FA20F5-D427-0ADF-EE67-80BD44512679}"/>
              </a:ext>
            </a:extLst>
          </p:cNvPr>
          <p:cNvSpPr txBox="1">
            <a:spLocks/>
          </p:cNvSpPr>
          <p:nvPr/>
        </p:nvSpPr>
        <p:spPr>
          <a:xfrm>
            <a:off x="8329691" y="1236601"/>
            <a:ext cx="1739461" cy="354278"/>
          </a:xfrm>
          <a:prstGeom prst="rect">
            <a:avLst/>
          </a:prstGeom>
          <a:solidFill>
            <a:srgbClr val="00B0F0"/>
          </a:solidFill>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Mechanisms</a:t>
            </a:r>
          </a:p>
        </p:txBody>
      </p:sp>
      <p:sp>
        <p:nvSpPr>
          <p:cNvPr id="7" name="Subtitle 2">
            <a:extLst>
              <a:ext uri="{FF2B5EF4-FFF2-40B4-BE49-F238E27FC236}">
                <a16:creationId xmlns:a16="http://schemas.microsoft.com/office/drawing/2014/main" id="{9F772C65-5A83-E9CE-155C-447D21F204E4}"/>
              </a:ext>
            </a:extLst>
          </p:cNvPr>
          <p:cNvSpPr txBox="1">
            <a:spLocks/>
          </p:cNvSpPr>
          <p:nvPr/>
        </p:nvSpPr>
        <p:spPr>
          <a:xfrm>
            <a:off x="2559269" y="1236622"/>
            <a:ext cx="1739461" cy="354278"/>
          </a:xfrm>
          <a:prstGeom prst="rect">
            <a:avLst/>
          </a:prstGeom>
          <a:solidFill>
            <a:schemeClr val="accent3">
              <a:lumMod val="40000"/>
              <a:lumOff val="60000"/>
            </a:schemeClr>
          </a:solidFill>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Strategies</a:t>
            </a:r>
          </a:p>
        </p:txBody>
      </p:sp>
      <p:sp>
        <p:nvSpPr>
          <p:cNvPr id="9" name="Right Bracket 8">
            <a:extLst>
              <a:ext uri="{FF2B5EF4-FFF2-40B4-BE49-F238E27FC236}">
                <a16:creationId xmlns:a16="http://schemas.microsoft.com/office/drawing/2014/main" id="{933CBD86-B3A2-E0D4-85E7-B0BB52A43B00}"/>
              </a:ext>
            </a:extLst>
          </p:cNvPr>
          <p:cNvSpPr/>
          <p:nvPr/>
        </p:nvSpPr>
        <p:spPr>
          <a:xfrm>
            <a:off x="5380383" y="1513549"/>
            <a:ext cx="715617" cy="5134106"/>
          </a:xfrm>
          <a:prstGeom prst="rightBracket">
            <a:avLst/>
          </a:prstGeom>
          <a:ln w="635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11" name="Straight Arrow Connector 10">
            <a:extLst>
              <a:ext uri="{FF2B5EF4-FFF2-40B4-BE49-F238E27FC236}">
                <a16:creationId xmlns:a16="http://schemas.microsoft.com/office/drawing/2014/main" id="{0F1E3342-2875-DF65-8136-B770892C1EE9}"/>
              </a:ext>
            </a:extLst>
          </p:cNvPr>
          <p:cNvCxnSpPr>
            <a:cxnSpLocks/>
            <a:stCxn id="9" idx="2"/>
          </p:cNvCxnSpPr>
          <p:nvPr/>
        </p:nvCxnSpPr>
        <p:spPr>
          <a:xfrm>
            <a:off x="6096000" y="4080602"/>
            <a:ext cx="762222"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4374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E6F1D-6D52-A147-4E1A-4371F6276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F9770-B461-63CA-EB46-E3D00AF164D0}"/>
              </a:ext>
            </a:extLst>
          </p:cNvPr>
          <p:cNvSpPr>
            <a:spLocks noGrp="1"/>
          </p:cNvSpPr>
          <p:nvPr>
            <p:ph type="title"/>
          </p:nvPr>
        </p:nvSpPr>
        <p:spPr>
          <a:xfrm>
            <a:off x="838199" y="365125"/>
            <a:ext cx="10677525" cy="1325563"/>
          </a:xfrm>
        </p:spPr>
        <p:txBody>
          <a:bodyPr/>
          <a:lstStyle/>
          <a:p>
            <a:r>
              <a:rPr lang="en-US" dirty="0"/>
              <a:t>Strategy requests </a:t>
            </a:r>
            <a:r>
              <a:rPr lang="en-US" sz="2600" i="1" dirty="0"/>
              <a:t>(See poster)</a:t>
            </a:r>
            <a:endParaRPr lang="en-US" sz="2600" dirty="0"/>
          </a:p>
        </p:txBody>
      </p:sp>
      <p:sp>
        <p:nvSpPr>
          <p:cNvPr id="3" name="Content Placeholder 2">
            <a:extLst>
              <a:ext uri="{FF2B5EF4-FFF2-40B4-BE49-F238E27FC236}">
                <a16:creationId xmlns:a16="http://schemas.microsoft.com/office/drawing/2014/main" id="{037C3401-1A64-DC7F-E92D-8C0F3E320BC8}"/>
              </a:ext>
            </a:extLst>
          </p:cNvPr>
          <p:cNvSpPr>
            <a:spLocks noGrp="1"/>
          </p:cNvSpPr>
          <p:nvPr>
            <p:ph idx="1"/>
          </p:nvPr>
        </p:nvSpPr>
        <p:spPr>
          <a:xfrm>
            <a:off x="838201" y="1557610"/>
            <a:ext cx="10515600" cy="4667251"/>
          </a:xfrm>
        </p:spPr>
        <p:txBody>
          <a:bodyPr>
            <a:normAutofit/>
          </a:bodyPr>
          <a:lstStyle/>
          <a:p>
            <a:r>
              <a:rPr lang="en-US" dirty="0"/>
              <a:t>Do we need to add any new strategies? </a:t>
            </a:r>
          </a:p>
          <a:p>
            <a:endParaRPr lang="en-US" dirty="0"/>
          </a:p>
          <a:p>
            <a:r>
              <a:rPr lang="en-US" dirty="0"/>
              <a:t>Do we need to remove any strategies? </a:t>
            </a:r>
          </a:p>
          <a:p>
            <a:endParaRPr lang="en-US" dirty="0"/>
          </a:p>
          <a:p>
            <a:r>
              <a:rPr lang="en-US" dirty="0"/>
              <a:t>Do we need to modify any strategies? </a:t>
            </a:r>
          </a:p>
          <a:p>
            <a:endParaRPr lang="en-US" dirty="0"/>
          </a:p>
          <a:p>
            <a:r>
              <a:rPr lang="en-US" dirty="0"/>
              <a:t>What NEST resources should we link at this level? </a:t>
            </a:r>
          </a:p>
        </p:txBody>
      </p:sp>
      <p:sp>
        <p:nvSpPr>
          <p:cNvPr id="4" name="TextBox 3">
            <a:extLst>
              <a:ext uri="{FF2B5EF4-FFF2-40B4-BE49-F238E27FC236}">
                <a16:creationId xmlns:a16="http://schemas.microsoft.com/office/drawing/2014/main" id="{51179619-F2BD-4697-4ABD-AD9AB0706670}"/>
              </a:ext>
            </a:extLst>
          </p:cNvPr>
          <p:cNvSpPr txBox="1"/>
          <p:nvPr/>
        </p:nvSpPr>
        <p:spPr>
          <a:xfrm>
            <a:off x="988672" y="5714134"/>
            <a:ext cx="10214656" cy="492443"/>
          </a:xfrm>
          <a:prstGeom prst="rect">
            <a:avLst/>
          </a:prstGeom>
          <a:solidFill>
            <a:schemeClr val="accent3">
              <a:lumMod val="40000"/>
              <a:lumOff val="60000"/>
            </a:schemeClr>
          </a:solidFill>
        </p:spPr>
        <p:txBody>
          <a:bodyPr wrap="none" rtlCol="0">
            <a:spAutoFit/>
          </a:bodyPr>
          <a:lstStyle/>
          <a:p>
            <a:pPr algn="l"/>
            <a:r>
              <a:rPr lang="en-US" sz="2600" b="1" i="1" dirty="0">
                <a:solidFill>
                  <a:srgbClr val="333333"/>
                </a:solidFill>
              </a:rPr>
              <a:t>Feel free to add a </a:t>
            </a:r>
            <a:r>
              <a:rPr lang="en-US" sz="2600" b="1" i="1" dirty="0" err="1">
                <a:solidFill>
                  <a:srgbClr val="333333"/>
                </a:solidFill>
              </a:rPr>
              <a:t>post-it</a:t>
            </a:r>
            <a:r>
              <a:rPr lang="en-US" sz="2600" b="1" i="1" dirty="0">
                <a:solidFill>
                  <a:srgbClr val="333333"/>
                </a:solidFill>
              </a:rPr>
              <a:t> note to the poster with your answer(s)</a:t>
            </a:r>
          </a:p>
        </p:txBody>
      </p:sp>
    </p:spTree>
    <p:extLst>
      <p:ext uri="{BB962C8B-B14F-4D97-AF65-F5344CB8AC3E}">
        <p14:creationId xmlns:p14="http://schemas.microsoft.com/office/powerpoint/2010/main" val="1954817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733EE-7AD4-B63B-B887-250063CB22BD}"/>
              </a:ext>
            </a:extLst>
          </p:cNvPr>
          <p:cNvSpPr>
            <a:spLocks noGrp="1"/>
          </p:cNvSpPr>
          <p:nvPr>
            <p:ph type="title"/>
          </p:nvPr>
        </p:nvSpPr>
        <p:spPr>
          <a:solidFill>
            <a:schemeClr val="accent2">
              <a:lumMod val="75000"/>
            </a:schemeClr>
          </a:solidFill>
        </p:spPr>
        <p:txBody>
          <a:bodyPr/>
          <a:lstStyle/>
          <a:p>
            <a:r>
              <a:rPr lang="en-US" dirty="0">
                <a:solidFill>
                  <a:schemeClr val="bg1"/>
                </a:solidFill>
              </a:rPr>
              <a:t>Tier 3: Outcomes </a:t>
            </a:r>
          </a:p>
        </p:txBody>
      </p:sp>
      <p:sp>
        <p:nvSpPr>
          <p:cNvPr id="3" name="Content Placeholder 2">
            <a:extLst>
              <a:ext uri="{FF2B5EF4-FFF2-40B4-BE49-F238E27FC236}">
                <a16:creationId xmlns:a16="http://schemas.microsoft.com/office/drawing/2014/main" id="{43DB7AC0-45EB-2852-78C7-C8214F3A0C88}"/>
              </a:ext>
            </a:extLst>
          </p:cNvPr>
          <p:cNvSpPr>
            <a:spLocks noGrp="1"/>
          </p:cNvSpPr>
          <p:nvPr>
            <p:ph sz="half" idx="1"/>
          </p:nvPr>
        </p:nvSpPr>
        <p:spPr/>
        <p:txBody>
          <a:bodyPr>
            <a:normAutofit/>
          </a:bodyPr>
          <a:lstStyle/>
          <a:p>
            <a:r>
              <a:rPr lang="en-US" dirty="0"/>
              <a:t>Currently living in an excel sheet </a:t>
            </a:r>
          </a:p>
          <a:p>
            <a:r>
              <a:rPr lang="en-US" dirty="0"/>
              <a:t>Outcomes from FCC report and NEST-IT</a:t>
            </a:r>
          </a:p>
        </p:txBody>
      </p:sp>
      <p:sp>
        <p:nvSpPr>
          <p:cNvPr id="4" name="Content Placeholder 3">
            <a:extLst>
              <a:ext uri="{FF2B5EF4-FFF2-40B4-BE49-F238E27FC236}">
                <a16:creationId xmlns:a16="http://schemas.microsoft.com/office/drawing/2014/main" id="{C30229BB-79BD-C833-FF67-74DECA248B4C}"/>
              </a:ext>
            </a:extLst>
          </p:cNvPr>
          <p:cNvSpPr>
            <a:spLocks noGrp="1"/>
          </p:cNvSpPr>
          <p:nvPr>
            <p:ph sz="half" idx="2"/>
          </p:nvPr>
        </p:nvSpPr>
        <p:spPr/>
        <p:txBody>
          <a:bodyPr>
            <a:normAutofit/>
          </a:bodyPr>
          <a:lstStyle/>
          <a:p>
            <a:r>
              <a:rPr lang="en-US" dirty="0"/>
              <a:t>Information included </a:t>
            </a:r>
          </a:p>
          <a:p>
            <a:pPr lvl="1"/>
            <a:r>
              <a:rPr lang="en-US" dirty="0"/>
              <a:t>Domain</a:t>
            </a:r>
          </a:p>
          <a:p>
            <a:pPr lvl="1"/>
            <a:r>
              <a:rPr lang="en-US" dirty="0"/>
              <a:t>Outcome</a:t>
            </a:r>
          </a:p>
          <a:p>
            <a:pPr lvl="1"/>
            <a:r>
              <a:rPr lang="en-US" dirty="0"/>
              <a:t>Definition</a:t>
            </a:r>
          </a:p>
          <a:p>
            <a:pPr lvl="1"/>
            <a:r>
              <a:rPr lang="en-US" dirty="0"/>
              <a:t>Rationale</a:t>
            </a:r>
          </a:p>
          <a:p>
            <a:pPr lvl="1"/>
            <a:r>
              <a:rPr lang="en-US" dirty="0"/>
              <a:t>Frequency of measurement</a:t>
            </a:r>
          </a:p>
          <a:p>
            <a:pPr lvl="1"/>
            <a:r>
              <a:rPr lang="en-US" dirty="0"/>
              <a:t>Numerator &amp; denominator </a:t>
            </a:r>
          </a:p>
          <a:p>
            <a:pPr lvl="2"/>
            <a:r>
              <a:rPr lang="en-US" dirty="0"/>
              <a:t>Global level</a:t>
            </a:r>
          </a:p>
          <a:p>
            <a:pPr lvl="2"/>
            <a:r>
              <a:rPr lang="en-US" dirty="0"/>
              <a:t>Country level</a:t>
            </a:r>
          </a:p>
          <a:p>
            <a:pPr lvl="2"/>
            <a:r>
              <a:rPr lang="en-US" dirty="0"/>
              <a:t>Facility level</a:t>
            </a:r>
          </a:p>
          <a:p>
            <a:endParaRPr lang="en-US" dirty="0"/>
          </a:p>
        </p:txBody>
      </p:sp>
    </p:spTree>
    <p:extLst>
      <p:ext uri="{BB962C8B-B14F-4D97-AF65-F5344CB8AC3E}">
        <p14:creationId xmlns:p14="http://schemas.microsoft.com/office/powerpoint/2010/main" val="2021204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5F03E-74BD-BF2A-4C13-19C1FF8804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40559F-775C-5FD0-07ED-9F4C6C5E5FCD}"/>
              </a:ext>
            </a:extLst>
          </p:cNvPr>
          <p:cNvSpPr>
            <a:spLocks noGrp="1"/>
          </p:cNvSpPr>
          <p:nvPr>
            <p:ph type="title"/>
          </p:nvPr>
        </p:nvSpPr>
        <p:spPr>
          <a:xfrm>
            <a:off x="838200" y="57708"/>
            <a:ext cx="10515600" cy="1325563"/>
          </a:xfrm>
        </p:spPr>
        <p:txBody>
          <a:bodyPr/>
          <a:lstStyle/>
          <a:p>
            <a:r>
              <a:rPr lang="en-US" dirty="0"/>
              <a:t>Walk through example</a:t>
            </a:r>
          </a:p>
        </p:txBody>
      </p:sp>
      <p:sp>
        <p:nvSpPr>
          <p:cNvPr id="4" name="Rounded Rectangle 3">
            <a:extLst>
              <a:ext uri="{FF2B5EF4-FFF2-40B4-BE49-F238E27FC236}">
                <a16:creationId xmlns:a16="http://schemas.microsoft.com/office/drawing/2014/main" id="{7C649FC1-97F3-C3E1-AC62-8524DC222089}"/>
              </a:ext>
            </a:extLst>
          </p:cNvPr>
          <p:cNvSpPr/>
          <p:nvPr/>
        </p:nvSpPr>
        <p:spPr>
          <a:xfrm>
            <a:off x="258556" y="2250203"/>
            <a:ext cx="3611878" cy="269748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2300" dirty="0"/>
              <a:t>Gaps in documentation</a:t>
            </a:r>
          </a:p>
          <a:p>
            <a:pPr marL="285750" indent="-285750">
              <a:buFont typeface="Arial" panose="020B0604020202020204" pitchFamily="34" charset="0"/>
              <a:buChar char="•"/>
            </a:pPr>
            <a:r>
              <a:rPr lang="en-US" sz="2300" dirty="0"/>
              <a:t>Poor data quality</a:t>
            </a:r>
          </a:p>
          <a:p>
            <a:pPr marL="285750" indent="-285750">
              <a:buFont typeface="Arial" panose="020B0604020202020204" pitchFamily="34" charset="0"/>
              <a:buChar char="•"/>
            </a:pPr>
            <a:r>
              <a:rPr lang="en-US" sz="2300" dirty="0"/>
              <a:t>Poor data use</a:t>
            </a:r>
          </a:p>
          <a:p>
            <a:pPr marL="285750" indent="-285750">
              <a:buFont typeface="Arial" panose="020B0604020202020204" pitchFamily="34" charset="0"/>
              <a:buChar char="•"/>
            </a:pPr>
            <a:r>
              <a:rPr lang="en-US" sz="2300" dirty="0"/>
              <a:t>Lack of systems capturing SSNC relevant indicators</a:t>
            </a:r>
          </a:p>
        </p:txBody>
      </p:sp>
      <p:sp>
        <p:nvSpPr>
          <p:cNvPr id="5" name="Rounded Rectangle 4">
            <a:extLst>
              <a:ext uri="{FF2B5EF4-FFF2-40B4-BE49-F238E27FC236}">
                <a16:creationId xmlns:a16="http://schemas.microsoft.com/office/drawing/2014/main" id="{9278075C-0031-6CF2-654B-D5E2FD240BC3}"/>
              </a:ext>
            </a:extLst>
          </p:cNvPr>
          <p:cNvSpPr/>
          <p:nvPr/>
        </p:nvSpPr>
        <p:spPr>
          <a:xfrm>
            <a:off x="4480037" y="2250203"/>
            <a:ext cx="2468880" cy="269748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t>Develop data systems to capture and feedback data (e.g., NEST-IT, NID, Hadli)</a:t>
            </a:r>
          </a:p>
        </p:txBody>
      </p:sp>
      <p:sp>
        <p:nvSpPr>
          <p:cNvPr id="6" name="Rounded Rectangle 5">
            <a:extLst>
              <a:ext uri="{FF2B5EF4-FFF2-40B4-BE49-F238E27FC236}">
                <a16:creationId xmlns:a16="http://schemas.microsoft.com/office/drawing/2014/main" id="{C6822F40-7497-73F7-0B20-43918831237C}"/>
              </a:ext>
            </a:extLst>
          </p:cNvPr>
          <p:cNvSpPr/>
          <p:nvPr/>
        </p:nvSpPr>
        <p:spPr>
          <a:xfrm>
            <a:off x="7680432" y="1911933"/>
            <a:ext cx="4221480" cy="303575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300" dirty="0"/>
              <a:t>Developing and maintaining platforms to visualize relevant SSNC and facility data </a:t>
            </a:r>
            <a:r>
              <a:rPr lang="en-US" sz="2300" b="1" dirty="0"/>
              <a:t>enables routine data use </a:t>
            </a:r>
            <a:r>
              <a:rPr lang="en-US" sz="2300" dirty="0"/>
              <a:t>which enhances SSNC and QI </a:t>
            </a:r>
            <a:r>
              <a:rPr lang="en-US" sz="2300" b="1" dirty="0"/>
              <a:t>feasibility, quality, </a:t>
            </a:r>
            <a:r>
              <a:rPr lang="en-US" sz="2300" dirty="0"/>
              <a:t>and</a:t>
            </a:r>
            <a:r>
              <a:rPr lang="en-US" sz="2300" b="1" dirty="0"/>
              <a:t> sustainability</a:t>
            </a:r>
            <a:endParaRPr lang="en-US" sz="2300" dirty="0"/>
          </a:p>
        </p:txBody>
      </p:sp>
      <p:cxnSp>
        <p:nvCxnSpPr>
          <p:cNvPr id="9" name="Straight Arrow Connector 8">
            <a:extLst>
              <a:ext uri="{FF2B5EF4-FFF2-40B4-BE49-F238E27FC236}">
                <a16:creationId xmlns:a16="http://schemas.microsoft.com/office/drawing/2014/main" id="{5ADF112A-7125-0EF6-167F-7B0590712878}"/>
              </a:ext>
            </a:extLst>
          </p:cNvPr>
          <p:cNvCxnSpPr>
            <a:cxnSpLocks/>
            <a:stCxn id="4" idx="3"/>
            <a:endCxn id="5" idx="1"/>
          </p:cNvCxnSpPr>
          <p:nvPr/>
        </p:nvCxnSpPr>
        <p:spPr>
          <a:xfrm>
            <a:off x="3870434" y="3598943"/>
            <a:ext cx="609603"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D4D586E-67FE-2B84-55EC-725F96471F01}"/>
              </a:ext>
            </a:extLst>
          </p:cNvPr>
          <p:cNvCxnSpPr>
            <a:cxnSpLocks/>
            <a:stCxn id="5" idx="3"/>
          </p:cNvCxnSpPr>
          <p:nvPr/>
        </p:nvCxnSpPr>
        <p:spPr>
          <a:xfrm>
            <a:off x="6948917" y="3598943"/>
            <a:ext cx="76304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40A1F1B-7D87-9884-7E0D-4C96BEC23A8F}"/>
              </a:ext>
            </a:extLst>
          </p:cNvPr>
          <p:cNvSpPr txBox="1"/>
          <p:nvPr/>
        </p:nvSpPr>
        <p:spPr>
          <a:xfrm>
            <a:off x="258556" y="1195570"/>
            <a:ext cx="3474718" cy="646331"/>
          </a:xfrm>
          <a:prstGeom prst="rect">
            <a:avLst/>
          </a:prstGeom>
          <a:noFill/>
        </p:spPr>
        <p:txBody>
          <a:bodyPr wrap="square" rtlCol="0">
            <a:spAutoFit/>
          </a:bodyPr>
          <a:lstStyle/>
          <a:p>
            <a:pPr algn="ctr"/>
            <a:r>
              <a:rPr lang="en-US" b="1" dirty="0">
                <a:solidFill>
                  <a:srgbClr val="333333"/>
                </a:solidFill>
              </a:rPr>
              <a:t>Contextual factors before </a:t>
            </a:r>
          </a:p>
          <a:p>
            <a:pPr algn="ctr"/>
            <a:r>
              <a:rPr lang="en-US" b="1" dirty="0">
                <a:solidFill>
                  <a:srgbClr val="333333"/>
                </a:solidFill>
              </a:rPr>
              <a:t>NEST360</a:t>
            </a:r>
          </a:p>
        </p:txBody>
      </p:sp>
      <p:sp>
        <p:nvSpPr>
          <p:cNvPr id="13" name="TextBox 12">
            <a:extLst>
              <a:ext uri="{FF2B5EF4-FFF2-40B4-BE49-F238E27FC236}">
                <a16:creationId xmlns:a16="http://schemas.microsoft.com/office/drawing/2014/main" id="{44FEC925-CD87-92C7-2829-46BB3846E0EE}"/>
              </a:ext>
            </a:extLst>
          </p:cNvPr>
          <p:cNvSpPr txBox="1"/>
          <p:nvPr/>
        </p:nvSpPr>
        <p:spPr>
          <a:xfrm>
            <a:off x="3977118" y="1334070"/>
            <a:ext cx="3474718" cy="369332"/>
          </a:xfrm>
          <a:prstGeom prst="rect">
            <a:avLst/>
          </a:prstGeom>
          <a:noFill/>
        </p:spPr>
        <p:txBody>
          <a:bodyPr wrap="square" rtlCol="0">
            <a:spAutoFit/>
          </a:bodyPr>
          <a:lstStyle/>
          <a:p>
            <a:pPr algn="ctr"/>
            <a:r>
              <a:rPr lang="en-US" b="1" dirty="0">
                <a:solidFill>
                  <a:srgbClr val="333333"/>
                </a:solidFill>
              </a:rPr>
              <a:t>Strategy</a:t>
            </a:r>
          </a:p>
        </p:txBody>
      </p:sp>
      <p:sp>
        <p:nvSpPr>
          <p:cNvPr id="14" name="TextBox 13">
            <a:extLst>
              <a:ext uri="{FF2B5EF4-FFF2-40B4-BE49-F238E27FC236}">
                <a16:creationId xmlns:a16="http://schemas.microsoft.com/office/drawing/2014/main" id="{BF6A3E05-CB06-E225-AC5D-A27905509C60}"/>
              </a:ext>
            </a:extLst>
          </p:cNvPr>
          <p:cNvSpPr txBox="1"/>
          <p:nvPr/>
        </p:nvSpPr>
        <p:spPr>
          <a:xfrm>
            <a:off x="8053813" y="1217872"/>
            <a:ext cx="3474718" cy="646331"/>
          </a:xfrm>
          <a:prstGeom prst="rect">
            <a:avLst/>
          </a:prstGeom>
          <a:noFill/>
        </p:spPr>
        <p:txBody>
          <a:bodyPr wrap="square" rtlCol="0">
            <a:spAutoFit/>
          </a:bodyPr>
          <a:lstStyle/>
          <a:p>
            <a:pPr algn="ctr"/>
            <a:r>
              <a:rPr lang="en-US" b="1" dirty="0">
                <a:solidFill>
                  <a:srgbClr val="333333"/>
                </a:solidFill>
              </a:rPr>
              <a:t>Mechanism of action &amp; outcomes</a:t>
            </a:r>
          </a:p>
        </p:txBody>
      </p:sp>
      <p:sp>
        <p:nvSpPr>
          <p:cNvPr id="3" name="Right Arrow 2">
            <a:extLst>
              <a:ext uri="{FF2B5EF4-FFF2-40B4-BE49-F238E27FC236}">
                <a16:creationId xmlns:a16="http://schemas.microsoft.com/office/drawing/2014/main" id="{97097AB1-00C2-C8D9-CD91-2C08C2CC4D44}"/>
              </a:ext>
            </a:extLst>
          </p:cNvPr>
          <p:cNvSpPr/>
          <p:nvPr/>
        </p:nvSpPr>
        <p:spPr>
          <a:xfrm rot="5400000">
            <a:off x="1570246" y="5036364"/>
            <a:ext cx="851338" cy="6739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a:extLst>
              <a:ext uri="{FF2B5EF4-FFF2-40B4-BE49-F238E27FC236}">
                <a16:creationId xmlns:a16="http://schemas.microsoft.com/office/drawing/2014/main" id="{7639C307-7D52-7778-2EB8-32B957EBE6A1}"/>
              </a:ext>
            </a:extLst>
          </p:cNvPr>
          <p:cNvSpPr/>
          <p:nvPr/>
        </p:nvSpPr>
        <p:spPr>
          <a:xfrm rot="5400000">
            <a:off x="5288808" y="5036364"/>
            <a:ext cx="851338" cy="6739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A86FEEB6-5AA3-24C7-5D7F-32DA7A7A4F61}"/>
              </a:ext>
            </a:extLst>
          </p:cNvPr>
          <p:cNvSpPr/>
          <p:nvPr/>
        </p:nvSpPr>
        <p:spPr>
          <a:xfrm rot="5400000">
            <a:off x="9365502" y="5036364"/>
            <a:ext cx="851338" cy="6739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939F7EB0-5436-BB56-F047-B4C2BA71BD12}"/>
              </a:ext>
            </a:extLst>
          </p:cNvPr>
          <p:cNvSpPr/>
          <p:nvPr/>
        </p:nvSpPr>
        <p:spPr>
          <a:xfrm>
            <a:off x="258556" y="5814615"/>
            <a:ext cx="3413234" cy="699037"/>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Links to SSNC Toolkit</a:t>
            </a:r>
          </a:p>
        </p:txBody>
      </p:sp>
      <p:sp>
        <p:nvSpPr>
          <p:cNvPr id="17" name="Rounded Rectangle 16">
            <a:extLst>
              <a:ext uri="{FF2B5EF4-FFF2-40B4-BE49-F238E27FC236}">
                <a16:creationId xmlns:a16="http://schemas.microsoft.com/office/drawing/2014/main" id="{4CFFF0C1-B7A2-3F1E-AFF1-811A9C75B5EB}"/>
              </a:ext>
            </a:extLst>
          </p:cNvPr>
          <p:cNvSpPr/>
          <p:nvPr/>
        </p:nvSpPr>
        <p:spPr>
          <a:xfrm>
            <a:off x="4007860" y="5814615"/>
            <a:ext cx="3413234" cy="699037"/>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Link to NEST resources, country testimonies</a:t>
            </a:r>
          </a:p>
        </p:txBody>
      </p:sp>
      <p:sp>
        <p:nvSpPr>
          <p:cNvPr id="18" name="Rounded Rectangle 17">
            <a:extLst>
              <a:ext uri="{FF2B5EF4-FFF2-40B4-BE49-F238E27FC236}">
                <a16:creationId xmlns:a16="http://schemas.microsoft.com/office/drawing/2014/main" id="{7AD3DBA7-3666-83F9-66EA-17C138F30C1B}"/>
              </a:ext>
            </a:extLst>
          </p:cNvPr>
          <p:cNvSpPr/>
          <p:nvPr/>
        </p:nvSpPr>
        <p:spPr>
          <a:xfrm>
            <a:off x="7882492" y="5814615"/>
            <a:ext cx="3817357" cy="699037"/>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Link to outcomes guide</a:t>
            </a:r>
          </a:p>
        </p:txBody>
      </p:sp>
    </p:spTree>
    <p:extLst>
      <p:ext uri="{BB962C8B-B14F-4D97-AF65-F5344CB8AC3E}">
        <p14:creationId xmlns:p14="http://schemas.microsoft.com/office/powerpoint/2010/main" val="1942201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16" grpId="0" animBg="1"/>
      <p:bldP spid="17" grpId="0" animBg="1"/>
      <p:bldP spid="1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BDC6F-DFCF-97EC-3EC0-634FB8FDB3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F5E50-FBAA-E1C8-B4BC-62FF18E44021}"/>
              </a:ext>
            </a:extLst>
          </p:cNvPr>
          <p:cNvSpPr>
            <a:spLocks noGrp="1"/>
          </p:cNvSpPr>
          <p:nvPr>
            <p:ph type="title"/>
          </p:nvPr>
        </p:nvSpPr>
        <p:spPr/>
        <p:txBody>
          <a:bodyPr/>
          <a:lstStyle/>
          <a:p>
            <a:r>
              <a:rPr lang="en-US" dirty="0"/>
              <a:t>Walk through example</a:t>
            </a:r>
          </a:p>
        </p:txBody>
      </p:sp>
      <p:sp>
        <p:nvSpPr>
          <p:cNvPr id="4" name="Rounded Rectangle 3">
            <a:extLst>
              <a:ext uri="{FF2B5EF4-FFF2-40B4-BE49-F238E27FC236}">
                <a16:creationId xmlns:a16="http://schemas.microsoft.com/office/drawing/2014/main" id="{8DF353E1-1399-0800-A8BB-F8CAAAC993D6}"/>
              </a:ext>
            </a:extLst>
          </p:cNvPr>
          <p:cNvSpPr/>
          <p:nvPr/>
        </p:nvSpPr>
        <p:spPr>
          <a:xfrm>
            <a:off x="274322" y="2446020"/>
            <a:ext cx="3474718" cy="269748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2000" dirty="0"/>
              <a:t>Health workers unavailable</a:t>
            </a:r>
          </a:p>
          <a:p>
            <a:pPr marL="285750" indent="-285750">
              <a:buFont typeface="Arial" panose="020B0604020202020204" pitchFamily="34" charset="0"/>
              <a:buChar char="•"/>
            </a:pPr>
            <a:r>
              <a:rPr lang="en-US" sz="2000" dirty="0"/>
              <a:t>BMETs unavailable</a:t>
            </a:r>
          </a:p>
          <a:p>
            <a:pPr marL="285750" indent="-285750">
              <a:buFont typeface="Arial" panose="020B0604020202020204" pitchFamily="34" charset="0"/>
              <a:buChar char="•"/>
            </a:pPr>
            <a:r>
              <a:rPr lang="en-US" sz="2000" dirty="0"/>
              <a:t>Inconsistent training of health workers and BMETs</a:t>
            </a:r>
          </a:p>
          <a:p>
            <a:pPr marL="285750" indent="-285750">
              <a:buFont typeface="Arial" panose="020B0604020202020204" pitchFamily="34" charset="0"/>
              <a:buChar char="•"/>
            </a:pPr>
            <a:r>
              <a:rPr lang="en-US" sz="2000" dirty="0"/>
              <a:t>Poor data use and quality</a:t>
            </a:r>
          </a:p>
        </p:txBody>
      </p:sp>
      <p:sp>
        <p:nvSpPr>
          <p:cNvPr id="5" name="Rounded Rectangle 4">
            <a:extLst>
              <a:ext uri="{FF2B5EF4-FFF2-40B4-BE49-F238E27FC236}">
                <a16:creationId xmlns:a16="http://schemas.microsoft.com/office/drawing/2014/main" id="{23A7A0D7-2DE9-08E6-CFBE-D1097C30FF00}"/>
              </a:ext>
            </a:extLst>
          </p:cNvPr>
          <p:cNvSpPr/>
          <p:nvPr/>
        </p:nvSpPr>
        <p:spPr>
          <a:xfrm>
            <a:off x="4488179" y="2446020"/>
            <a:ext cx="2468880" cy="269747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Training &amp; mentorship, development &amp; distribution of educational materials</a:t>
            </a:r>
          </a:p>
        </p:txBody>
      </p:sp>
      <p:sp>
        <p:nvSpPr>
          <p:cNvPr id="6" name="Rounded Rectangle 5">
            <a:extLst>
              <a:ext uri="{FF2B5EF4-FFF2-40B4-BE49-F238E27FC236}">
                <a16:creationId xmlns:a16="http://schemas.microsoft.com/office/drawing/2014/main" id="{B97A629E-4820-1F26-4BB2-3B62166B113C}"/>
              </a:ext>
            </a:extLst>
          </p:cNvPr>
          <p:cNvSpPr/>
          <p:nvPr/>
        </p:nvSpPr>
        <p:spPr>
          <a:xfrm>
            <a:off x="7696198" y="2399506"/>
            <a:ext cx="4221480" cy="2743993"/>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Ongoing training, supervision, and access to standardized materials, build provider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competence, confidence, </a:t>
            </a:r>
            <a:r>
              <a:rPr kumimoji="0" lang="en-US" sz="2000" i="0" u="none" strike="noStrike" kern="1200" cap="none" spc="0" normalizeH="0" baseline="0" noProof="0" dirty="0">
                <a:ln>
                  <a:noFill/>
                </a:ln>
                <a:solidFill>
                  <a:prstClr val="black"/>
                </a:solidFill>
                <a:effectLst/>
                <a:uLnTx/>
                <a:uFillTx/>
                <a:latin typeface="Calibri" panose="020F0502020204030204"/>
                <a:ea typeface="+mn-ea"/>
                <a:cs typeface="+mn-cs"/>
              </a:rPr>
              <a:t>and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accountability, </a:t>
            </a:r>
            <a:r>
              <a:rPr lang="en-US" sz="2000" b="1" dirty="0">
                <a:solidFill>
                  <a:prstClr val="black"/>
                </a:solidFill>
                <a:latin typeface="Calibri" panose="020F0502020204030204"/>
              </a:rPr>
              <a:t>improving fidelity, adoption, </a:t>
            </a:r>
            <a:r>
              <a:rPr lang="en-US" sz="2000" dirty="0">
                <a:solidFill>
                  <a:prstClr val="black"/>
                </a:solidFill>
                <a:latin typeface="Calibri" panose="020F0502020204030204"/>
              </a:rPr>
              <a:t>and </a:t>
            </a:r>
            <a:r>
              <a:rPr lang="en-US" sz="2000" b="1" dirty="0">
                <a:solidFill>
                  <a:prstClr val="black"/>
                </a:solidFill>
                <a:latin typeface="Calibri" panose="020F0502020204030204"/>
              </a:rPr>
              <a:t>sustainability </a:t>
            </a:r>
            <a:r>
              <a:rPr lang="en-US" sz="2000" dirty="0">
                <a:solidFill>
                  <a:prstClr val="black"/>
                </a:solidFill>
                <a:latin typeface="Calibri" panose="020F0502020204030204"/>
              </a:rPr>
              <a:t>of SSNC delivery</a:t>
            </a:r>
            <a:endParaRPr lang="en-US" sz="2000" dirty="0"/>
          </a:p>
        </p:txBody>
      </p:sp>
      <p:cxnSp>
        <p:nvCxnSpPr>
          <p:cNvPr id="9" name="Straight Arrow Connector 8">
            <a:extLst>
              <a:ext uri="{FF2B5EF4-FFF2-40B4-BE49-F238E27FC236}">
                <a16:creationId xmlns:a16="http://schemas.microsoft.com/office/drawing/2014/main" id="{0BB52074-2355-0D3E-0177-3EA194F11F04}"/>
              </a:ext>
            </a:extLst>
          </p:cNvPr>
          <p:cNvCxnSpPr>
            <a:cxnSpLocks/>
            <a:stCxn id="4" idx="3"/>
            <a:endCxn id="5" idx="1"/>
          </p:cNvCxnSpPr>
          <p:nvPr/>
        </p:nvCxnSpPr>
        <p:spPr>
          <a:xfrm>
            <a:off x="3749040" y="3794760"/>
            <a:ext cx="739139"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B5578F-B19C-DB70-4E97-608C051C3A27}"/>
              </a:ext>
            </a:extLst>
          </p:cNvPr>
          <p:cNvCxnSpPr>
            <a:cxnSpLocks/>
            <a:stCxn id="5" idx="3"/>
            <a:endCxn id="6" idx="1"/>
          </p:cNvCxnSpPr>
          <p:nvPr/>
        </p:nvCxnSpPr>
        <p:spPr>
          <a:xfrm flipV="1">
            <a:off x="6957059" y="3771503"/>
            <a:ext cx="739139" cy="23257"/>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96BC211-82F1-599A-53EA-8DA0249168E6}"/>
              </a:ext>
            </a:extLst>
          </p:cNvPr>
          <p:cNvSpPr txBox="1"/>
          <p:nvPr/>
        </p:nvSpPr>
        <p:spPr>
          <a:xfrm>
            <a:off x="274322" y="1690688"/>
            <a:ext cx="3474718" cy="646331"/>
          </a:xfrm>
          <a:prstGeom prst="rect">
            <a:avLst/>
          </a:prstGeom>
          <a:noFill/>
        </p:spPr>
        <p:txBody>
          <a:bodyPr wrap="square" rtlCol="0">
            <a:spAutoFit/>
          </a:bodyPr>
          <a:lstStyle/>
          <a:p>
            <a:pPr algn="ctr"/>
            <a:r>
              <a:rPr lang="en-US" b="1" dirty="0">
                <a:solidFill>
                  <a:srgbClr val="333333"/>
                </a:solidFill>
              </a:rPr>
              <a:t>Contextual factors before </a:t>
            </a:r>
          </a:p>
          <a:p>
            <a:pPr algn="ctr"/>
            <a:r>
              <a:rPr lang="en-US" b="1" dirty="0">
                <a:solidFill>
                  <a:srgbClr val="333333"/>
                </a:solidFill>
              </a:rPr>
              <a:t>NEST360</a:t>
            </a:r>
          </a:p>
        </p:txBody>
      </p:sp>
      <p:sp>
        <p:nvSpPr>
          <p:cNvPr id="13" name="TextBox 12">
            <a:extLst>
              <a:ext uri="{FF2B5EF4-FFF2-40B4-BE49-F238E27FC236}">
                <a16:creationId xmlns:a16="http://schemas.microsoft.com/office/drawing/2014/main" id="{C11988C8-5A3A-59BE-3CF2-4C9093426A50}"/>
              </a:ext>
            </a:extLst>
          </p:cNvPr>
          <p:cNvSpPr txBox="1"/>
          <p:nvPr/>
        </p:nvSpPr>
        <p:spPr>
          <a:xfrm>
            <a:off x="3985260" y="1690688"/>
            <a:ext cx="3474718" cy="369332"/>
          </a:xfrm>
          <a:prstGeom prst="rect">
            <a:avLst/>
          </a:prstGeom>
          <a:noFill/>
        </p:spPr>
        <p:txBody>
          <a:bodyPr wrap="square" rtlCol="0">
            <a:spAutoFit/>
          </a:bodyPr>
          <a:lstStyle/>
          <a:p>
            <a:pPr algn="ctr"/>
            <a:r>
              <a:rPr lang="en-US" b="1" dirty="0">
                <a:solidFill>
                  <a:srgbClr val="333333"/>
                </a:solidFill>
              </a:rPr>
              <a:t>Strategy</a:t>
            </a:r>
          </a:p>
        </p:txBody>
      </p:sp>
      <p:sp>
        <p:nvSpPr>
          <p:cNvPr id="14" name="TextBox 13">
            <a:extLst>
              <a:ext uri="{FF2B5EF4-FFF2-40B4-BE49-F238E27FC236}">
                <a16:creationId xmlns:a16="http://schemas.microsoft.com/office/drawing/2014/main" id="{AE76443C-5F8A-6DC5-BA8B-135450A6BC3B}"/>
              </a:ext>
            </a:extLst>
          </p:cNvPr>
          <p:cNvSpPr txBox="1"/>
          <p:nvPr/>
        </p:nvSpPr>
        <p:spPr>
          <a:xfrm>
            <a:off x="8069579" y="1556208"/>
            <a:ext cx="3474718" cy="646331"/>
          </a:xfrm>
          <a:prstGeom prst="rect">
            <a:avLst/>
          </a:prstGeom>
          <a:noFill/>
        </p:spPr>
        <p:txBody>
          <a:bodyPr wrap="square" rtlCol="0">
            <a:spAutoFit/>
          </a:bodyPr>
          <a:lstStyle/>
          <a:p>
            <a:pPr algn="ctr"/>
            <a:r>
              <a:rPr lang="en-US" b="1" dirty="0">
                <a:solidFill>
                  <a:srgbClr val="333333"/>
                </a:solidFill>
              </a:rPr>
              <a:t>Mechanism of action &amp; implementation outcomes</a:t>
            </a:r>
          </a:p>
        </p:txBody>
      </p:sp>
      <p:sp>
        <p:nvSpPr>
          <p:cNvPr id="3" name="Right Arrow 2">
            <a:extLst>
              <a:ext uri="{FF2B5EF4-FFF2-40B4-BE49-F238E27FC236}">
                <a16:creationId xmlns:a16="http://schemas.microsoft.com/office/drawing/2014/main" id="{13D24993-5EB7-66FD-FD55-6621F3D3FEAA}"/>
              </a:ext>
            </a:extLst>
          </p:cNvPr>
          <p:cNvSpPr/>
          <p:nvPr/>
        </p:nvSpPr>
        <p:spPr>
          <a:xfrm rot="5400000">
            <a:off x="1586012" y="5223103"/>
            <a:ext cx="851338" cy="6739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a:extLst>
              <a:ext uri="{FF2B5EF4-FFF2-40B4-BE49-F238E27FC236}">
                <a16:creationId xmlns:a16="http://schemas.microsoft.com/office/drawing/2014/main" id="{9EB97576-18A7-A2DC-4AEC-97A02A355076}"/>
              </a:ext>
            </a:extLst>
          </p:cNvPr>
          <p:cNvSpPr/>
          <p:nvPr/>
        </p:nvSpPr>
        <p:spPr>
          <a:xfrm rot="5400000">
            <a:off x="5304574" y="5223103"/>
            <a:ext cx="851338" cy="6739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95B96E47-D5F4-BE79-CBC8-30B8D225DEA4}"/>
              </a:ext>
            </a:extLst>
          </p:cNvPr>
          <p:cNvSpPr/>
          <p:nvPr/>
        </p:nvSpPr>
        <p:spPr>
          <a:xfrm rot="5400000">
            <a:off x="9381268" y="5223103"/>
            <a:ext cx="851338" cy="6739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2165D3F9-1C35-D952-37D6-108CA334F3C6}"/>
              </a:ext>
            </a:extLst>
          </p:cNvPr>
          <p:cNvSpPr/>
          <p:nvPr/>
        </p:nvSpPr>
        <p:spPr>
          <a:xfrm>
            <a:off x="274322" y="6001354"/>
            <a:ext cx="3413234" cy="699037"/>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Links to SSNC Toolkit</a:t>
            </a:r>
          </a:p>
        </p:txBody>
      </p:sp>
      <p:sp>
        <p:nvSpPr>
          <p:cNvPr id="15" name="Rounded Rectangle 14">
            <a:extLst>
              <a:ext uri="{FF2B5EF4-FFF2-40B4-BE49-F238E27FC236}">
                <a16:creationId xmlns:a16="http://schemas.microsoft.com/office/drawing/2014/main" id="{CA240771-53C0-A714-B290-018DAF52E30B}"/>
              </a:ext>
            </a:extLst>
          </p:cNvPr>
          <p:cNvSpPr/>
          <p:nvPr/>
        </p:nvSpPr>
        <p:spPr>
          <a:xfrm>
            <a:off x="4023626" y="6001354"/>
            <a:ext cx="3413234" cy="699037"/>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Link to NEST resources, country testimonies</a:t>
            </a:r>
          </a:p>
        </p:txBody>
      </p:sp>
      <p:sp>
        <p:nvSpPr>
          <p:cNvPr id="16" name="Rounded Rectangle 15">
            <a:extLst>
              <a:ext uri="{FF2B5EF4-FFF2-40B4-BE49-F238E27FC236}">
                <a16:creationId xmlns:a16="http://schemas.microsoft.com/office/drawing/2014/main" id="{3100C859-BFBF-334B-9342-8519B1269E1D}"/>
              </a:ext>
            </a:extLst>
          </p:cNvPr>
          <p:cNvSpPr/>
          <p:nvPr/>
        </p:nvSpPr>
        <p:spPr>
          <a:xfrm>
            <a:off x="7898258" y="6001354"/>
            <a:ext cx="3817357" cy="699037"/>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Presents numerators, denominators, frequency, rationale</a:t>
            </a:r>
          </a:p>
        </p:txBody>
      </p:sp>
    </p:spTree>
    <p:extLst>
      <p:ext uri="{BB962C8B-B14F-4D97-AF65-F5344CB8AC3E}">
        <p14:creationId xmlns:p14="http://schemas.microsoft.com/office/powerpoint/2010/main" val="4206576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10" grpId="0" animBg="1"/>
      <p:bldP spid="15" grpId="0" animBg="1"/>
      <p:bldP spid="1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44537-BBC5-564E-868A-34DFE790A9C7}"/>
              </a:ext>
            </a:extLst>
          </p:cNvPr>
          <p:cNvSpPr>
            <a:spLocks noGrp="1"/>
          </p:cNvSpPr>
          <p:nvPr>
            <p:ph type="ctrTitle"/>
          </p:nvPr>
        </p:nvSpPr>
        <p:spPr/>
        <p:txBody>
          <a:bodyPr/>
          <a:lstStyle/>
          <a:p>
            <a:r>
              <a:rPr lang="en-US" dirty="0"/>
              <a:t>Questions?</a:t>
            </a:r>
          </a:p>
        </p:txBody>
      </p:sp>
      <p:sp>
        <p:nvSpPr>
          <p:cNvPr id="3" name="Subtitle 2">
            <a:extLst>
              <a:ext uri="{FF2B5EF4-FFF2-40B4-BE49-F238E27FC236}">
                <a16:creationId xmlns:a16="http://schemas.microsoft.com/office/drawing/2014/main" id="{4562D22B-095D-E5CE-1712-B1ABCA415AA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11218908"/>
      </p:ext>
    </p:extLst>
  </p:cSld>
  <p:clrMapOvr>
    <a:masterClrMapping/>
  </p:clrMapOvr>
</p:sld>
</file>

<file path=ppt/theme/theme1.xml><?xml version="1.0" encoding="utf-8"?>
<a:theme xmlns:a="http://schemas.openxmlformats.org/drawingml/2006/main" name="2_Office Theme">
  <a:themeElements>
    <a:clrScheme name="NEST360 branded theme">
      <a:dk1>
        <a:srgbClr val="FFFFFF"/>
      </a:dk1>
      <a:lt1>
        <a:srgbClr val="000000"/>
      </a:lt1>
      <a:dk2>
        <a:srgbClr val="BACFE1"/>
      </a:dk2>
      <a:lt2>
        <a:srgbClr val="004167"/>
      </a:lt2>
      <a:accent1>
        <a:srgbClr val="014168"/>
      </a:accent1>
      <a:accent2>
        <a:srgbClr val="6CCAD0"/>
      </a:accent2>
      <a:accent3>
        <a:srgbClr val="82CDBF"/>
      </a:accent3>
      <a:accent4>
        <a:srgbClr val="BFA1CC"/>
      </a:accent4>
      <a:accent5>
        <a:srgbClr val="FDDB00"/>
      </a:accent5>
      <a:accent6>
        <a:srgbClr val="F58966"/>
      </a:accent6>
      <a:hlink>
        <a:srgbClr val="BACFE1"/>
      </a:hlink>
      <a:folHlink>
        <a:srgbClr val="BACFE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err="1" smtClean="0">
            <a:solidFill>
              <a:srgbClr val="333333"/>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773</TotalTime>
  <Words>3688</Words>
  <Application>Microsoft Macintosh PowerPoint</Application>
  <PresentationFormat>Widescreen</PresentationFormat>
  <Paragraphs>556</Paragraphs>
  <Slides>35</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Aptos</vt:lpstr>
      <vt:lpstr>Arial</vt:lpstr>
      <vt:lpstr>Calibri</vt:lpstr>
      <vt:lpstr>Courier New</vt:lpstr>
      <vt:lpstr>Encode Sans Semi Condensed</vt:lpstr>
      <vt:lpstr>Wingdings</vt:lpstr>
      <vt:lpstr>2_Office Theme</vt:lpstr>
      <vt:lpstr>NEST360 Implementation Model </vt:lpstr>
      <vt:lpstr>Why are we doing this?</vt:lpstr>
      <vt:lpstr>What is an implementation model?</vt:lpstr>
      <vt:lpstr>What are the components of the model?</vt:lpstr>
      <vt:lpstr>How is a NEST360 implementation model useful?</vt:lpstr>
      <vt:lpstr>Data sources to develop the NEST360 implementation model </vt:lpstr>
      <vt:lpstr>The NEST360 implementation model is a multi-tiered guide that…</vt:lpstr>
      <vt:lpstr>Tiers within the model </vt:lpstr>
      <vt:lpstr>PowerPoint Presentation</vt:lpstr>
      <vt:lpstr>Tier 2</vt:lpstr>
      <vt:lpstr>Tier 2</vt:lpstr>
      <vt:lpstr>Tier 2</vt:lpstr>
      <vt:lpstr>Tier 2</vt:lpstr>
      <vt:lpstr>Tier 2: Implementation Factors Part 1</vt:lpstr>
      <vt:lpstr>Tier 2: Implementation Factors Part 2</vt:lpstr>
      <vt:lpstr>Tier 2 strategies</vt:lpstr>
      <vt:lpstr>Tier 2: Strategies &amp; Mechanisms Part 1</vt:lpstr>
      <vt:lpstr>Tier 2: Strategies &amp; Mechanisms Part 2</vt:lpstr>
      <vt:lpstr>Tier 2: Strategies and Mechanisms Part 3</vt:lpstr>
      <vt:lpstr>Tier 2: Strategies and Mechanisms Part 4</vt:lpstr>
      <vt:lpstr>Tier 2: Outcomes</vt:lpstr>
      <vt:lpstr>Tier 3</vt:lpstr>
      <vt:lpstr>Tier 3</vt:lpstr>
      <vt:lpstr>Tier 3</vt:lpstr>
      <vt:lpstr>TIER 3 GRAPHIC</vt:lpstr>
      <vt:lpstr>Tier 3: Implementation Factors Part 1</vt:lpstr>
      <vt:lpstr>Tier 3: Implementation Factors Part 2</vt:lpstr>
      <vt:lpstr>Tier 3: Implementation Factors Part 3</vt:lpstr>
      <vt:lpstr>Implementation factors requests (See poster)</vt:lpstr>
      <vt:lpstr>Tier 3 strategies &amp; mechanisms</vt:lpstr>
      <vt:lpstr>Strategy requests (See poster)</vt:lpstr>
      <vt:lpstr>Tier 3: Outcomes </vt:lpstr>
      <vt:lpstr>Walk through example</vt:lpstr>
      <vt:lpstr>Walk through example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Kylie Kelleher Dougherty</dc:creator>
  <cp:lastModifiedBy>Kylie Kelleher Dougherty</cp:lastModifiedBy>
  <cp:revision>2</cp:revision>
  <dcterms:created xsi:type="dcterms:W3CDTF">2025-10-29T17:44:22Z</dcterms:created>
  <dcterms:modified xsi:type="dcterms:W3CDTF">2025-11-13T09:23:45Z</dcterms:modified>
</cp:coreProperties>
</file>