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147470315" r:id="rId2"/>
    <p:sldId id="2147470314" r:id="rId3"/>
    <p:sldId id="2147470313" r:id="rId4"/>
    <p:sldId id="2147470316" r:id="rId5"/>
    <p:sldId id="2147470317" r:id="rId6"/>
    <p:sldId id="2147470318" r:id="rId7"/>
    <p:sldId id="2147470319" r:id="rId8"/>
    <p:sldId id="2147470320" r:id="rId9"/>
    <p:sldId id="2147470321" r:id="rId10"/>
    <p:sldId id="2147470322" r:id="rId11"/>
    <p:sldId id="2147470323" r:id="rId12"/>
    <p:sldId id="2147470324" r:id="rId13"/>
    <p:sldId id="2147470325" r:id="rId14"/>
    <p:sldId id="2147470263" r:id="rId15"/>
    <p:sldId id="2147470262" r:id="rId16"/>
    <p:sldId id="2147470265" r:id="rId17"/>
    <p:sldId id="2147470264" r:id="rId18"/>
    <p:sldId id="2147470266" r:id="rId19"/>
    <p:sldId id="214747032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4" autoAdjust="0"/>
    <p:restoredTop sz="94660"/>
  </p:normalViewPr>
  <p:slideViewPr>
    <p:cSldViewPr snapToGrid="0">
      <p:cViewPr varScale="1">
        <p:scale>
          <a:sx n="49" d="100"/>
          <a:sy n="49" d="100"/>
        </p:scale>
        <p:origin x="6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63FB63-F35B-4805-9AE8-54F1ED09102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F1A1B0-A4FA-41B8-8258-0EB58ECB0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1BB09-34C3-574A-8AF7-6B25CDD9C8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03807" y="2498010"/>
            <a:ext cx="8737279" cy="2408128"/>
          </a:xfrm>
          <a:prstGeom prst="rect">
            <a:avLst/>
          </a:prstGeom>
        </p:spPr>
        <p:txBody>
          <a:bodyPr anchor="b"/>
          <a:lstStyle>
            <a:lvl1pPr algn="l">
              <a:defRPr sz="6000" baseline="0">
                <a:solidFill>
                  <a:schemeClr val="accent1"/>
                </a:solidFill>
              </a:defRPr>
            </a:lvl1pPr>
          </a:lstStyle>
          <a:p>
            <a:r>
              <a:rPr lang="en" sz="6000" dirty="0"/>
              <a:t>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F8828-07F9-D84F-9C2F-4900C783AB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103806" y="4885610"/>
            <a:ext cx="8737279" cy="1669998"/>
          </a:xfrm>
        </p:spPr>
        <p:txBody>
          <a:bodyPr>
            <a:normAutofit/>
          </a:bodyPr>
          <a:lstStyle>
            <a:lvl1pPr marL="0" indent="0" algn="l">
              <a:buNone/>
              <a:defRPr sz="32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z="2400" b="1" dirty="0"/>
              <a:t>Subtitle</a:t>
            </a:r>
            <a:endParaRPr lang="en-US" sz="2400" dirty="0"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5D5AD3-610C-8248-9BE2-0DE654B2E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27778" y="223235"/>
            <a:ext cx="7989962" cy="826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081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FF163-EC8A-EA4A-A31F-4424527F1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F9BBF-C708-8043-9F90-C2001E9D5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ct val="125000"/>
              <a:buFont typeface="Arial" panose="020B0604020202020204" pitchFamily="34" charset="0"/>
              <a:buChar char="•"/>
              <a:defRPr sz="2600"/>
            </a:lvl1pPr>
            <a:lvl2pPr marL="685800" indent="-2286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ct val="100000"/>
              <a:buFont typeface="Courier New" panose="02070309020205020404" pitchFamily="49" charset="0"/>
              <a:buChar char="o"/>
              <a:defRPr/>
            </a:lvl2pPr>
            <a:lvl3pPr marL="1143000" indent="-2286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  <a:defRPr/>
            </a:lvl3pPr>
            <a:lvl4pPr marL="1600200" indent="-2286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ct val="115000"/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943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FF163-EC8A-EA4A-A31F-4424527F1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185099-765F-6742-B506-054DBFE79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228600" indent="-2286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ct val="125000"/>
              <a:buFont typeface="Arial" panose="020B0604020202020204" pitchFamily="34" charset="0"/>
              <a:buChar char="•"/>
              <a:defRPr sz="2600"/>
            </a:lvl1pPr>
            <a:lvl2pPr marL="685800" indent="-2286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ct val="100000"/>
              <a:buFont typeface="Courier New" panose="02070309020205020404" pitchFamily="49" charset="0"/>
              <a:buChar char="o"/>
              <a:defRPr/>
            </a:lvl2pPr>
            <a:lvl3pPr marL="1143000" indent="-2286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  <a:defRPr/>
            </a:lvl3pPr>
            <a:lvl4pPr marL="1600200" indent="-2286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ct val="115000"/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849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008B1-1B0B-5646-8E61-E0A2DE7B7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89425-E6A6-124F-BD20-12FFD0D21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1990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AAFD5EB-3117-014C-A7A8-C96AA248C4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87939" y="-639708"/>
            <a:ext cx="8216122" cy="8502730"/>
          </a:xfrm>
          <a:prstGeom prst="rect">
            <a:avLst/>
          </a:prstGeom>
        </p:spPr>
      </p:pic>
      <p:sp>
        <p:nvSpPr>
          <p:cNvPr id="8" name="Google Shape;23;p4">
            <a:extLst>
              <a:ext uri="{FF2B5EF4-FFF2-40B4-BE49-F238E27FC236}">
                <a16:creationId xmlns:a16="http://schemas.microsoft.com/office/drawing/2014/main" id="{257BE721-CCED-344E-BB2C-B6A00598C667}"/>
              </a:ext>
            </a:extLst>
          </p:cNvPr>
          <p:cNvSpPr/>
          <p:nvPr userDrawn="1"/>
        </p:nvSpPr>
        <p:spPr>
          <a:xfrm>
            <a:off x="5886140" y="1780512"/>
            <a:ext cx="418075" cy="342950"/>
          </a:xfrm>
          <a:prstGeom prst="rect">
            <a:avLst/>
          </a:prstGeom>
          <a:ln>
            <a:noFill/>
          </a:ln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 w="9525" cap="flat" cmpd="sng">
                  <a:solidFill>
                    <a:schemeClr val="tx1">
                      <a:lumMod val="8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Encode Sans Semi Condensed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1CFB91-66EE-F249-AC0B-9C1EF4E319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46324" y="2268638"/>
            <a:ext cx="8699353" cy="199080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3200" b="0" i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Quotation</a:t>
            </a:r>
          </a:p>
        </p:txBody>
      </p:sp>
    </p:spTree>
    <p:extLst>
      <p:ext uri="{BB962C8B-B14F-4D97-AF65-F5344CB8AC3E}">
        <p14:creationId xmlns:p14="http://schemas.microsoft.com/office/powerpoint/2010/main" val="1765079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CE843-D865-1B4F-A03F-22F3B5A6A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D6FDB-9C89-F64D-9E60-E437DE05B6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 marL="228600" indent="-228600">
              <a:buSzPct val="125000"/>
              <a:buFont typeface="Wingdings" pitchFamily="2" charset="2"/>
              <a:buChar char="§"/>
              <a:defRPr>
                <a:solidFill>
                  <a:srgbClr val="333333"/>
                </a:solidFill>
              </a:defRPr>
            </a:lvl1pPr>
            <a:lvl2pPr marL="685800" indent="-228600">
              <a:buSzPct val="125000"/>
              <a:buFont typeface="Arial" panose="020B0604020202020204" pitchFamily="34" charset="0"/>
              <a:buChar char="•"/>
              <a:defRPr>
                <a:solidFill>
                  <a:srgbClr val="333333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333333"/>
                </a:solidFill>
              </a:defRPr>
            </a:lvl3pPr>
            <a:lvl4pPr marL="1600200" indent="-228600">
              <a:buFont typeface="Wingdings" pitchFamily="2" charset="2"/>
              <a:buChar char="§"/>
              <a:defRPr>
                <a:solidFill>
                  <a:srgbClr val="333333"/>
                </a:solidFill>
              </a:defRPr>
            </a:lvl4pPr>
            <a:lvl5pPr>
              <a:defRPr>
                <a:solidFill>
                  <a:srgbClr val="33333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88EE1-2BAA-A447-8678-B0EFC6170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228600" indent="-228600">
              <a:buSzPct val="125000"/>
              <a:buFont typeface="Wingdings" pitchFamily="2" charset="2"/>
              <a:buChar char="§"/>
              <a:defRPr lang="en-US" sz="2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buSzPct val="125000"/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>
              <a:buFont typeface="Courier New" panose="02070309020205020404" pitchFamily="49" charset="0"/>
              <a:buChar char="o"/>
              <a:defRPr lang="en-US" sz="20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>
              <a:buFont typeface="Wingdings" pitchFamily="2" charset="2"/>
              <a:buChar char="§"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3921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A224D-7BF6-2B48-BB9A-F91B621FC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9516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7146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28A2C-D91E-3144-887F-BD9B5FF8F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A1F2E-DE22-434F-9FAA-44516FDA3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E0F55-9274-6042-ACA3-E5476FA14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9711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9776C-9116-F84E-BF92-8EAEBAF54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F108F0-4CCB-8E44-94FF-792C4730F9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A4761-8CCE-8E48-ADBC-4EF455328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7713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7F50E-78D0-1F47-8AE9-07D7A4A2B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F2870-F0A6-4E49-8A46-94F5BD315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76523-4BF9-C649-A718-103714AC5F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A6933-065C-484A-81ED-18DA6777E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587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2D1007-C72D-2C43-9098-76720DE52D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22EE89-4DBE-134E-81CF-683049FFC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4F62D-AA46-B648-BFAE-A566AFCA2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4B6F0-593E-2C43-988F-A7D9ACE7F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208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CC9E031-8767-DB47-8684-887218F11872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baseline="0">
                <a:solidFill>
                  <a:srgbClr val="6CCAD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C9A2C49-BF8F-F44A-BB86-BA9F175AE7D9}"/>
              </a:ext>
            </a:extLst>
          </p:cNvPr>
          <p:cNvSpPr txBox="1">
            <a:spLocks/>
          </p:cNvSpPr>
          <p:nvPr userDrawn="1"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4501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AAFD5EB-3117-014C-A7A8-C96AA248C4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87939" y="-639708"/>
            <a:ext cx="8216122" cy="8502730"/>
          </a:xfrm>
          <a:prstGeom prst="rect">
            <a:avLst/>
          </a:prstGeom>
        </p:spPr>
      </p:pic>
      <p:sp>
        <p:nvSpPr>
          <p:cNvPr id="8" name="Google Shape;23;p4">
            <a:extLst>
              <a:ext uri="{FF2B5EF4-FFF2-40B4-BE49-F238E27FC236}">
                <a16:creationId xmlns:a16="http://schemas.microsoft.com/office/drawing/2014/main" id="{257BE721-CCED-344E-BB2C-B6A00598C667}"/>
              </a:ext>
            </a:extLst>
          </p:cNvPr>
          <p:cNvSpPr/>
          <p:nvPr userDrawn="1"/>
        </p:nvSpPr>
        <p:spPr>
          <a:xfrm>
            <a:off x="5886140" y="1780512"/>
            <a:ext cx="418075" cy="342950"/>
          </a:xfrm>
          <a:prstGeom prst="rect">
            <a:avLst/>
          </a:prstGeom>
          <a:ln>
            <a:noFill/>
          </a:ln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 w="9525" cap="flat" cmpd="sng">
                  <a:solidFill>
                    <a:schemeClr val="tx1">
                      <a:lumMod val="8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Encode Sans Semi Condensed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1CFB91-66EE-F249-AC0B-9C1EF4E319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2323" y="2933884"/>
            <a:ext cx="8467355" cy="1325563"/>
          </a:xfrm>
        </p:spPr>
        <p:txBody>
          <a:bodyPr/>
          <a:lstStyle>
            <a:lvl1pPr algn="ctr">
              <a:lnSpc>
                <a:spcPct val="100000"/>
              </a:lnSpc>
              <a:defRPr i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Quotation</a:t>
            </a:r>
          </a:p>
        </p:txBody>
      </p:sp>
    </p:spTree>
    <p:extLst>
      <p:ext uri="{BB962C8B-B14F-4D97-AF65-F5344CB8AC3E}">
        <p14:creationId xmlns:p14="http://schemas.microsoft.com/office/powerpoint/2010/main" val="28626648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41763-D62E-5263-4DB0-BBF547DFE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AA1AE-5D25-318B-4B87-6260AAC8D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AF39D2-7B9A-54AB-6987-6033416B2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B0C299-47F2-73C0-9608-ADE52E441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9DB459-AA3E-A25C-224E-E50834EC23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9893B0-8FAF-3791-E013-0C33078E1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098B31-193D-4D7F-9D05-A5C197A0FA6F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7/24/2026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7AA448-2999-473C-4DC9-4C9C96D61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FBE1A-4E08-EE18-EC06-440002745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7BEDAC-7C5C-4083-9629-14E5A3E2B7E2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8009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444D6-131E-4348-AF74-150AC5D9E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8BFF20D8-2555-BA40-99D4-3B89F613B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83467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3333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3333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BF7EB-1C50-9EBF-3968-54A308940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Are we missing any discrete strategies within the groups that you believe supported NEST360 change and success?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E17C53-4BBB-44D9-609B-F30DA47B9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highlight>
                  <a:srgbClr val="FFFF00"/>
                </a:highlight>
              </a:rPr>
              <a:t>Question to answer: </a:t>
            </a:r>
          </a:p>
        </p:txBody>
      </p:sp>
    </p:spTree>
    <p:extLst>
      <p:ext uri="{BB962C8B-B14F-4D97-AF65-F5344CB8AC3E}">
        <p14:creationId xmlns:p14="http://schemas.microsoft.com/office/powerpoint/2010/main" val="1523103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E04ED-48CB-0909-AC30-13924A268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Engage policy makers &amp; leadership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2A9F1-D311-1ACF-2090-C4EE9F9B0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0238"/>
            <a:ext cx="10515600" cy="543776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Obtaining buy-in for improving SSNC </a:t>
            </a:r>
          </a:p>
          <a:p>
            <a:r>
              <a:rPr lang="en-US" dirty="0"/>
              <a:t>Advocate for funding and additional investment as needed </a:t>
            </a:r>
          </a:p>
          <a:p>
            <a:r>
              <a:rPr lang="en-US" dirty="0"/>
              <a:t>Advocate for additional staff support and end mandatory staff rotations </a:t>
            </a:r>
          </a:p>
          <a:p>
            <a:r>
              <a:rPr lang="en-US" dirty="0"/>
              <a:t>Advocating for official recognition of neonatal nursing as a specialized training </a:t>
            </a:r>
          </a:p>
          <a:p>
            <a:r>
              <a:rPr lang="en-US" dirty="0"/>
              <a:t>Advocate for strengthened workshops for BMETs</a:t>
            </a:r>
          </a:p>
          <a:p>
            <a:r>
              <a:rPr lang="en-US" dirty="0"/>
              <a:t>Development of standard, costed, neonatal unit floor plans </a:t>
            </a:r>
          </a:p>
          <a:p>
            <a:r>
              <a:rPr lang="en-US" dirty="0"/>
              <a:t>Advocate for the hiring of a dedicated neonatal data clerk </a:t>
            </a:r>
          </a:p>
          <a:p>
            <a:r>
              <a:rPr lang="en-US" dirty="0"/>
              <a:t>National TV, newspaper articles, announcements surrounding NEST and NEST personnel (communication strategies for reaching the wider public) </a:t>
            </a:r>
          </a:p>
          <a:p>
            <a:r>
              <a:rPr lang="en-US" dirty="0"/>
              <a:t>Policy briefs </a:t>
            </a:r>
          </a:p>
          <a:p>
            <a:r>
              <a:rPr lang="en-US" dirty="0"/>
              <a:t>Strengthen as needed” SSNC policies and guidelines, national SSNC targets (SDG and ENGAP targets and national commitments) </a:t>
            </a:r>
          </a:p>
          <a:p>
            <a:r>
              <a:rPr lang="en-US" dirty="0"/>
              <a:t>Identify and engage local supply chains and engage medical supplies division of MOH</a:t>
            </a:r>
          </a:p>
          <a:p>
            <a:r>
              <a:rPr lang="en-US" dirty="0"/>
              <a:t>Inclusion of ACS in national supply catalogues </a:t>
            </a:r>
          </a:p>
          <a:p>
            <a:r>
              <a:rPr lang="en-US" dirty="0"/>
              <a:t>Engage with other key players in global SSNC (Beginnings Fund, </a:t>
            </a:r>
            <a:r>
              <a:rPr lang="en-US" dirty="0" err="1"/>
              <a:t>mMamas</a:t>
            </a:r>
            <a:r>
              <a:rPr lang="en-US" dirty="0"/>
              <a:t>, UNICEF, WHO, VAN) </a:t>
            </a:r>
          </a:p>
          <a:p>
            <a:r>
              <a:rPr lang="en-US" dirty="0"/>
              <a:t>Collaboration with regulatory agencies?  </a:t>
            </a:r>
          </a:p>
        </p:txBody>
      </p:sp>
    </p:spTree>
    <p:extLst>
      <p:ext uri="{BB962C8B-B14F-4D97-AF65-F5344CB8AC3E}">
        <p14:creationId xmlns:p14="http://schemas.microsoft.com/office/powerpoint/2010/main" val="532289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C89E4-4627-0AF6-FFF2-4DBB9930C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QI activities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1808A95-8404-BBEC-E622-AF4109F4283D}"/>
              </a:ext>
            </a:extLst>
          </p:cNvPr>
          <p:cNvSpPr txBox="1">
            <a:spLocks/>
          </p:cNvSpPr>
          <p:nvPr/>
        </p:nvSpPr>
        <p:spPr>
          <a:xfrm>
            <a:off x="838200" y="1400782"/>
            <a:ext cx="10918371" cy="562258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ct val="125000"/>
              <a:buFont typeface="Arial" panose="020B0604020202020204" pitchFamily="34" charset="0"/>
              <a:buChar char="•"/>
              <a:defRPr sz="26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ct val="100000"/>
              <a:buFont typeface="Courier New" panose="02070309020205020404" pitchFamily="49" charset="0"/>
              <a:buChar char="o"/>
              <a:defRPr sz="24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  <a:defRPr sz="20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ct val="115000"/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o"/>
              <a:defRPr sz="1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Coordinate national and regional leadership to incorporate SSNC into existing QI structures (MOH quality directorates and policy frameworks)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Developed training materials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Integration of clinical and QI mentorship and training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Development of standardized QI documentation and tools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Development and dissemination of change package etc.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Performed QI training</a:t>
            </a:r>
          </a:p>
          <a:p>
            <a:pPr lvl="1">
              <a:buSzPct val="125000"/>
              <a:buFont typeface="Arial" panose="020B0604020202020204" pitchFamily="34" charset="0"/>
              <a:buChar char="•"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When absent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developed a guide for how to set up QIST and WITs</a:t>
            </a:r>
          </a:p>
          <a:p>
            <a:pPr lvl="1">
              <a:buSzPct val="125000"/>
              <a:buFont typeface="Arial" panose="020B0604020202020204" pitchFamily="34" charset="0"/>
              <a:buChar char="•"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When inactive and routinely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QI coaching visits (in person and virtual zoom meeting)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Development of communities of learning via WhatsApp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QoC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tools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Recognition of positive staff performance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Supporting the development of standardized clinical audit processes at the facility level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Cross-country QI meetings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Program and national QI capacity building within program leadership (Nebiyou to QI country leads)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Foster QI projects occurring with active feedback and engagement from program team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Incorporating IR tools and methods to accelerate the spread of change and develop generalizable learnings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Communities of practice</a:t>
            </a:r>
          </a:p>
        </p:txBody>
      </p:sp>
    </p:spTree>
    <p:extLst>
      <p:ext uri="{BB962C8B-B14F-4D97-AF65-F5344CB8AC3E}">
        <p14:creationId xmlns:p14="http://schemas.microsoft.com/office/powerpoint/2010/main" val="1395098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68681-DD55-7229-282B-93FFC5F8C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0FC32-4ED9-5092-9CAF-D89CAA0B0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data systems to capture &amp; feedback data and support routine SSNC 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A3FF3-1983-53A2-3B01-8C3EA530B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599" cy="5167311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Service readiness checklist</a:t>
            </a:r>
          </a:p>
          <a:p>
            <a:pPr lvl="0"/>
            <a:r>
              <a:rPr lang="en-US" dirty="0"/>
              <a:t>Health facility assessment</a:t>
            </a:r>
          </a:p>
          <a:p>
            <a:pPr lvl="0"/>
            <a:r>
              <a:rPr lang="en-US" dirty="0"/>
              <a:t>NID</a:t>
            </a:r>
          </a:p>
          <a:p>
            <a:pPr lvl="0"/>
            <a:r>
              <a:rPr lang="en-US" dirty="0"/>
              <a:t>Context tracker</a:t>
            </a:r>
          </a:p>
          <a:p>
            <a:pPr lvl="0"/>
            <a:r>
              <a:rPr lang="en-US" dirty="0"/>
              <a:t>Hadli</a:t>
            </a:r>
          </a:p>
          <a:p>
            <a:pPr lvl="0"/>
            <a:r>
              <a:rPr lang="en-US" dirty="0"/>
              <a:t>NEST-IT</a:t>
            </a:r>
          </a:p>
          <a:p>
            <a:pPr lvl="0"/>
            <a:r>
              <a:rPr lang="en-US" dirty="0"/>
              <a:t>Patient capture tools (Admission forms, registers etc.)</a:t>
            </a:r>
          </a:p>
          <a:p>
            <a:pPr lvl="0"/>
            <a:r>
              <a:rPr lang="en-US" dirty="0"/>
              <a:t>Developed guidelines for the use of data within NEST360</a:t>
            </a:r>
          </a:p>
          <a:p>
            <a:pPr lvl="0"/>
            <a:r>
              <a:rPr lang="en-US" dirty="0"/>
              <a:t>Support integration of standard neonatal variables into national HMIS</a:t>
            </a:r>
          </a:p>
          <a:p>
            <a:pPr lvl="0"/>
            <a:r>
              <a:rPr lang="en-US" dirty="0"/>
              <a:t>Utilize data clerks </a:t>
            </a:r>
          </a:p>
          <a:p>
            <a:pPr lvl="0"/>
            <a:r>
              <a:rPr lang="en-US" dirty="0"/>
              <a:t>Identify and use SSNC relevant indicators (facility, regional, national, program)</a:t>
            </a:r>
          </a:p>
          <a:p>
            <a:pPr lvl="0"/>
            <a:r>
              <a:rPr lang="en-US" dirty="0"/>
              <a:t>M&amp;E reviews to inform programmatic decisions </a:t>
            </a:r>
          </a:p>
        </p:txBody>
      </p:sp>
    </p:spTree>
    <p:extLst>
      <p:ext uri="{BB962C8B-B14F-4D97-AF65-F5344CB8AC3E}">
        <p14:creationId xmlns:p14="http://schemas.microsoft.com/office/powerpoint/2010/main" val="1056143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BFD8B-EE26-3267-245B-2397A9180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&amp; distribute clinical and biomedical educational resources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443EC-CF1D-538F-AEB6-E72D8B9CA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Job aides</a:t>
            </a:r>
          </a:p>
          <a:p>
            <a:r>
              <a:rPr lang="en-US" dirty="0"/>
              <a:t>Training manuals</a:t>
            </a:r>
          </a:p>
          <a:p>
            <a:r>
              <a:rPr lang="en-US" dirty="0"/>
              <a:t>Guidelines (Decommission, workshop, SSNC, referral management, follow-up, installation trainings)</a:t>
            </a:r>
          </a:p>
          <a:p>
            <a:r>
              <a:rPr lang="en-US" dirty="0"/>
              <a:t>Training videos </a:t>
            </a:r>
          </a:p>
          <a:p>
            <a:r>
              <a:rPr lang="en-US" dirty="0"/>
              <a:t>GIC</a:t>
            </a:r>
          </a:p>
          <a:p>
            <a:r>
              <a:rPr lang="en-US" dirty="0"/>
              <a:t>Case scenarios </a:t>
            </a:r>
          </a:p>
          <a:p>
            <a:r>
              <a:rPr lang="en-US" dirty="0"/>
              <a:t>WASH, HH, IPC educational resources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600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78E30-4D66-81B1-579A-9DE98ECC0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and mentorship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A88C1-B0AC-AFA3-2791-4DAA5E7BF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8604"/>
            <a:ext cx="10515600" cy="537939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Virtual data review meetings</a:t>
            </a:r>
          </a:p>
          <a:p>
            <a:r>
              <a:rPr lang="en-US" dirty="0"/>
              <a:t>Program wide data review meetings (ex. KIT)</a:t>
            </a:r>
          </a:p>
          <a:p>
            <a:r>
              <a:rPr lang="en-US" dirty="0"/>
              <a:t>Data driven country implementation review meetings</a:t>
            </a:r>
          </a:p>
          <a:p>
            <a:r>
              <a:rPr lang="en-US" dirty="0"/>
              <a:t>QI and data interpretation trainings</a:t>
            </a:r>
          </a:p>
          <a:p>
            <a:r>
              <a:rPr lang="en-US" dirty="0"/>
              <a:t>Clinical care training (nationally approved in-depth SSNC courses for clinicians)</a:t>
            </a:r>
          </a:p>
          <a:p>
            <a:r>
              <a:rPr lang="en-US" dirty="0"/>
              <a:t>BMET training (nationally approved in-depth courses)</a:t>
            </a:r>
          </a:p>
          <a:p>
            <a:r>
              <a:rPr lang="en-US" dirty="0"/>
              <a:t>Facility-level mentorship (clinical coaching)</a:t>
            </a:r>
          </a:p>
          <a:p>
            <a:r>
              <a:rPr lang="en-US" dirty="0"/>
              <a:t>Virtual/webinar CM/Nes</a:t>
            </a:r>
          </a:p>
          <a:p>
            <a:r>
              <a:rPr lang="en-US" dirty="0"/>
              <a:t>Pre-service training (Integrated SSNC content in the clinical and BMET curricula, and ensure skills labs are set up for hands-on instruction)</a:t>
            </a:r>
          </a:p>
          <a:p>
            <a:r>
              <a:rPr lang="en-US" dirty="0"/>
              <a:t>Inservice training (for BMETs and clinicians)</a:t>
            </a:r>
          </a:p>
          <a:p>
            <a:r>
              <a:rPr lang="en-US" dirty="0"/>
              <a:t>Off site</a:t>
            </a:r>
          </a:p>
          <a:p>
            <a:pPr lvl="1"/>
            <a:r>
              <a:rPr lang="en-US" sz="2600" dirty="0"/>
              <a:t>Pre installation </a:t>
            </a:r>
          </a:p>
          <a:p>
            <a:pPr lvl="1"/>
            <a:r>
              <a:rPr lang="en-US" sz="2600" dirty="0"/>
              <a:t>On site low dose high frequency</a:t>
            </a:r>
          </a:p>
          <a:p>
            <a:pPr lvl="1"/>
            <a:r>
              <a:rPr lang="en-US" sz="2600" dirty="0"/>
              <a:t>Onsite induction course for new staff </a:t>
            </a:r>
          </a:p>
          <a:p>
            <a:pPr lvl="1"/>
            <a:r>
              <a:rPr lang="en-US" sz="2600" dirty="0"/>
              <a:t>Virtual training</a:t>
            </a:r>
          </a:p>
          <a:p>
            <a:pPr lvl="0"/>
            <a:r>
              <a:rPr lang="en-US" dirty="0"/>
              <a:t>Developed and launched the process for peer-to-peer mentorship </a:t>
            </a:r>
          </a:p>
          <a:p>
            <a:pPr lvl="0"/>
            <a:r>
              <a:rPr lang="en-US" dirty="0"/>
              <a:t>Developed and use communities of learning via WhatsApp </a:t>
            </a:r>
          </a:p>
          <a:p>
            <a:pPr lvl="0"/>
            <a:r>
              <a:rPr lang="en-US" dirty="0"/>
              <a:t>PM and RM guidelines, decommissioning guidelines</a:t>
            </a:r>
          </a:p>
        </p:txBody>
      </p:sp>
    </p:spTree>
    <p:extLst>
      <p:ext uri="{BB962C8B-B14F-4D97-AF65-F5344CB8AC3E}">
        <p14:creationId xmlns:p14="http://schemas.microsoft.com/office/powerpoint/2010/main" val="4271163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7BE0A-D165-5A97-E31F-E0E2C8F72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Interprofessional collaboration &amp; teamwork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1ACF0-F1E0-F221-80EE-CAE23BA74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8060"/>
            <a:ext cx="10515600" cy="5359939"/>
          </a:xfrm>
        </p:spPr>
        <p:txBody>
          <a:bodyPr>
            <a:normAutofit/>
          </a:bodyPr>
          <a:lstStyle/>
          <a:p>
            <a:r>
              <a:rPr lang="en-US" dirty="0"/>
              <a:t>Fostering collaboration between clinicians, </a:t>
            </a:r>
            <a:r>
              <a:rPr lang="en-US" dirty="0" err="1"/>
              <a:t>biomeds</a:t>
            </a:r>
            <a:r>
              <a:rPr lang="en-US" dirty="0"/>
              <a:t>, data officers, and hospital leadership at the facility level</a:t>
            </a:r>
          </a:p>
          <a:p>
            <a:r>
              <a:rPr lang="en-US" dirty="0"/>
              <a:t>Cross-team meetings at the program level (ex. KMC working groups, KITS and former Pause, Reflect, Act meetings)</a:t>
            </a:r>
          </a:p>
          <a:p>
            <a:r>
              <a:rPr lang="en-US" dirty="0"/>
              <a:t>Collaboration with technical working groups (QI, BMET, newborn) within MOH at the country and regional/sub-regional levels </a:t>
            </a:r>
          </a:p>
          <a:p>
            <a:r>
              <a:rPr lang="en-US" dirty="0"/>
              <a:t>Engagement of BMETs and labor unit in QI at the facility level </a:t>
            </a:r>
          </a:p>
          <a:p>
            <a:r>
              <a:rPr lang="en-US" dirty="0"/>
              <a:t>Multidisciplinary training across cadres (doctors, </a:t>
            </a:r>
            <a:r>
              <a:rPr lang="en-US" dirty="0" err="1"/>
              <a:t>biomeds</a:t>
            </a:r>
            <a:r>
              <a:rPr lang="en-US" dirty="0"/>
              <a:t>, nurses) at the facility level </a:t>
            </a:r>
          </a:p>
          <a:p>
            <a:r>
              <a:rPr lang="en-US" dirty="0"/>
              <a:t>SSNC Learning toolkit at the global level</a:t>
            </a:r>
          </a:p>
          <a:p>
            <a:r>
              <a:rPr lang="en-US" dirty="0"/>
              <a:t>National pediatric associations at the country level </a:t>
            </a:r>
          </a:p>
          <a:p>
            <a:r>
              <a:rPr lang="en-US" dirty="0"/>
              <a:t>Inclusion of BMETs in communities of practice at the program level </a:t>
            </a:r>
          </a:p>
        </p:txBody>
      </p:sp>
    </p:spTree>
    <p:extLst>
      <p:ext uri="{BB962C8B-B14F-4D97-AF65-F5344CB8AC3E}">
        <p14:creationId xmlns:p14="http://schemas.microsoft.com/office/powerpoint/2010/main" val="2290528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44A4E-1954-A43A-E095-05C1ED8D7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Motivate and empower staff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41220-D38B-3E86-A69E-2E8FB9C47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Identifying and training SSNC champions</a:t>
            </a:r>
          </a:p>
          <a:p>
            <a:r>
              <a:rPr lang="en-US" dirty="0"/>
              <a:t>Fostering collaborating between BMETs, clinicians (labor and newborn, leadership)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534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00FDD-E986-71A5-BCE9-2BA458CAD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Ensure the availability of appropriate functional SSNC medical devices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2DA72-531C-D5FD-E271-C64AD35EB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Providing devices to support hospital</a:t>
            </a:r>
          </a:p>
          <a:p>
            <a:r>
              <a:rPr lang="en-US" dirty="0"/>
              <a:t>Providing consumables and spare parts to support hospitals</a:t>
            </a:r>
          </a:p>
          <a:p>
            <a:r>
              <a:rPr lang="en-US" dirty="0"/>
              <a:t>Providing tool kits for </a:t>
            </a:r>
            <a:r>
              <a:rPr lang="en-US" dirty="0" err="1"/>
              <a:t>biomeds</a:t>
            </a:r>
            <a:endParaRPr lang="en-US" dirty="0"/>
          </a:p>
          <a:p>
            <a:r>
              <a:rPr lang="en-US" dirty="0"/>
              <a:t>Development of a consumables forecasting tool for the facility level</a:t>
            </a:r>
          </a:p>
          <a:p>
            <a:r>
              <a:rPr lang="en-US" dirty="0"/>
              <a:t>Development of novel SSNC devices (Celsi warmer, monitor, </a:t>
            </a:r>
            <a:r>
              <a:rPr lang="en-US" dirty="0" err="1"/>
              <a:t>biliDx</a:t>
            </a:r>
            <a:r>
              <a:rPr lang="en-US" dirty="0"/>
              <a:t>, </a:t>
            </a:r>
            <a:r>
              <a:rPr lang="en-US" dirty="0" err="1"/>
              <a:t>Pumani</a:t>
            </a:r>
            <a:r>
              <a:rPr lang="en-US" dirty="0"/>
              <a:t>)</a:t>
            </a:r>
          </a:p>
          <a:p>
            <a:r>
              <a:rPr lang="en-US" dirty="0"/>
              <a:t>Development of costing tool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1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9DFF9-8624-EB15-91F9-A372D1B8E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&amp; qualify appropriate technology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CCB68-8757-8611-DC5B-00AB3B9A1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Development and continued refinement of TPPs</a:t>
            </a:r>
          </a:p>
          <a:p>
            <a:r>
              <a:rPr lang="en-US" dirty="0"/>
              <a:t>Development and continued refinement of the innovations landscape and the newborn and maternal technology landscape</a:t>
            </a:r>
          </a:p>
          <a:p>
            <a:r>
              <a:rPr lang="en-US" dirty="0"/>
              <a:t>NEST360 (PO4/5) engagement and collaboration with UNICEF/WHO engagement and collab (ask Becca) </a:t>
            </a:r>
          </a:p>
          <a:p>
            <a:r>
              <a:rPr lang="en-US" dirty="0"/>
              <a:t>Development of the qualification and usability testing process </a:t>
            </a:r>
          </a:p>
          <a:p>
            <a:r>
              <a:rPr lang="en-US" dirty="0"/>
              <a:t>Formation of NEST360 qualified technologies for SSNC</a:t>
            </a:r>
          </a:p>
          <a:p>
            <a:r>
              <a:rPr lang="en-US" dirty="0"/>
              <a:t>Establishing budgets for tech management </a:t>
            </a:r>
          </a:p>
        </p:txBody>
      </p:sp>
    </p:spTree>
    <p:extLst>
      <p:ext uri="{BB962C8B-B14F-4D97-AF65-F5344CB8AC3E}">
        <p14:creationId xmlns:p14="http://schemas.microsoft.com/office/powerpoint/2010/main" val="748795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7E4B4-92EE-A907-80D4-80EE744C4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Hatch Technologies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E9134-1600-9229-E9CB-780498D62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Ensure consistent supply</a:t>
            </a:r>
          </a:p>
          <a:p>
            <a:r>
              <a:rPr lang="en-US" dirty="0"/>
              <a:t>Financing mechanism</a:t>
            </a:r>
          </a:p>
          <a:p>
            <a:r>
              <a:rPr lang="en-US" dirty="0"/>
              <a:t>Support for maintenance training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351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D746D-0DA9-7E34-CFB3-6DECFF66C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Engage family members in care process and follow up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3EF14-EE73-A016-6AE2-8CA61A19C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Training on providing parents with counseling </a:t>
            </a:r>
          </a:p>
          <a:p>
            <a:r>
              <a:rPr lang="en-US" dirty="0"/>
              <a:t>Facilitating an enabling environment (culture, space, equipment etc.) </a:t>
            </a:r>
          </a:p>
          <a:p>
            <a:r>
              <a:rPr lang="en-US" dirty="0"/>
              <a:t>Developed educational resources for parents (orientation to new families introduction to the NICU video, IPC, KMC, discharge, breast feeding education etc.)</a:t>
            </a:r>
          </a:p>
          <a:p>
            <a:r>
              <a:rPr lang="en-US" dirty="0"/>
              <a:t>Encourage zero separation between the mother and newborn</a:t>
            </a:r>
          </a:p>
        </p:txBody>
      </p:sp>
    </p:spTree>
    <p:extLst>
      <p:ext uri="{BB962C8B-B14F-4D97-AF65-F5344CB8AC3E}">
        <p14:creationId xmlns:p14="http://schemas.microsoft.com/office/powerpoint/2010/main" val="1124675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6BA9A-D196-9204-3D23-1FA72DA9C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Ensure adequate funding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9C38B-3617-583C-D6A3-1221B12C6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Supporting country teams in funding grants</a:t>
            </a:r>
          </a:p>
          <a:p>
            <a:r>
              <a:rPr lang="en-US" dirty="0"/>
              <a:t>Identifying additional funding mechanisms globally and nationally</a:t>
            </a:r>
          </a:p>
          <a:p>
            <a:r>
              <a:rPr lang="en-US" dirty="0"/>
              <a:t>Country-level costing and investment cases</a:t>
            </a:r>
          </a:p>
          <a:p>
            <a:r>
              <a:rPr lang="en-US" dirty="0"/>
              <a:t>Encouraging facilities and MOHs to include budget lines on SSNC and BMETs (i.e., including infrastructure costs, human resources, running costs, and health insurance)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533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23E4F-2185-C634-52D6-84738A59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highlight>
                  <a:srgbClr val="FFFF00"/>
                </a:highlight>
              </a:rPr>
              <a:t>Question to answer: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09D7B-DB5A-9149-D150-DA67E1537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Do you agree with our rationale for how these strategy groupings support change?</a:t>
            </a:r>
          </a:p>
          <a:p>
            <a:endParaRPr lang="en-US" sz="1200" dirty="0"/>
          </a:p>
          <a:p>
            <a:pPr lvl="2"/>
            <a:r>
              <a:rPr lang="en-US" sz="3000" dirty="0"/>
              <a:t>If no, how do you believe the strategies influenced change?</a:t>
            </a:r>
          </a:p>
        </p:txBody>
      </p:sp>
    </p:spTree>
    <p:extLst>
      <p:ext uri="{BB962C8B-B14F-4D97-AF65-F5344CB8AC3E}">
        <p14:creationId xmlns:p14="http://schemas.microsoft.com/office/powerpoint/2010/main" val="1558427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4C77A-C585-A588-6F9F-92E510324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656"/>
            <a:ext cx="10515600" cy="1325563"/>
          </a:xfrm>
        </p:spPr>
        <p:txBody>
          <a:bodyPr/>
          <a:lstStyle/>
          <a:p>
            <a:r>
              <a:rPr lang="en-US" dirty="0"/>
              <a:t>Mapping mechanisms to strategy groups 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F4220F5-01DC-7E9A-FCD8-1F9595A71256}"/>
              </a:ext>
            </a:extLst>
          </p:cNvPr>
          <p:cNvSpPr/>
          <p:nvPr/>
        </p:nvSpPr>
        <p:spPr>
          <a:xfrm>
            <a:off x="717628" y="1810718"/>
            <a:ext cx="4201609" cy="7631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1. Engage policy makers &amp; leadership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9D169AC-C905-7C7C-DCF9-EF7EDDAF36D2}"/>
              </a:ext>
            </a:extLst>
          </p:cNvPr>
          <p:cNvSpPr/>
          <p:nvPr/>
        </p:nvSpPr>
        <p:spPr>
          <a:xfrm>
            <a:off x="717629" y="5203158"/>
            <a:ext cx="4201611" cy="114821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3. Develop data systems to capture &amp; feedback data and support routine SSNC data collection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66DC43B-D213-B4E9-A243-DBDE9109F9EE}"/>
              </a:ext>
            </a:extLst>
          </p:cNvPr>
          <p:cNvSpPr/>
          <p:nvPr/>
        </p:nvSpPr>
        <p:spPr>
          <a:xfrm>
            <a:off x="717628" y="3648131"/>
            <a:ext cx="4201610" cy="7631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2. Quality improvement (QI) activities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7106F38-8FAA-7E0A-C167-411091BC42F1}"/>
              </a:ext>
            </a:extLst>
          </p:cNvPr>
          <p:cNvSpPr/>
          <p:nvPr/>
        </p:nvSpPr>
        <p:spPr>
          <a:xfrm>
            <a:off x="6096000" y="1384377"/>
            <a:ext cx="5815312" cy="1615825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1.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Policy-maker and leadership engagement fosters alignment of SSNC with national health priorities,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promotes long-term commitment,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and ensures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integration of SSNC into broader health system goals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6DFA4EC-FF4A-5F7B-D7A4-429E98A23FC0}"/>
              </a:ext>
            </a:extLst>
          </p:cNvPr>
          <p:cNvSpPr/>
          <p:nvPr/>
        </p:nvSpPr>
        <p:spPr>
          <a:xfrm>
            <a:off x="6096000" y="3309745"/>
            <a:ext cx="5815312" cy="1439915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2.Routine data-driven QI cycles build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culture of learning and accountability,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enabling timely identification of gaps and driving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sustainable improvements in SSNC coverage and quality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DEA03FE-67A5-6933-008E-051BA9A217D8}"/>
              </a:ext>
            </a:extLst>
          </p:cNvPr>
          <p:cNvSpPr/>
          <p:nvPr/>
        </p:nvSpPr>
        <p:spPr>
          <a:xfrm>
            <a:off x="6096000" y="5057307"/>
            <a:ext cx="5815312" cy="1439915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3.Robust, context-appropriate data systems enable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real-time monitoring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feedback, and course correction,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supporting transparency,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improving responsiveness to local needs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BE79E5-B111-1D87-72BE-33CAEF5EA305}"/>
              </a:ext>
            </a:extLst>
          </p:cNvPr>
          <p:cNvCxnSpPr>
            <a:stCxn id="6" idx="3"/>
            <a:endCxn id="14" idx="1"/>
          </p:cNvCxnSpPr>
          <p:nvPr/>
        </p:nvCxnSpPr>
        <p:spPr>
          <a:xfrm flipV="1">
            <a:off x="4919237" y="2192290"/>
            <a:ext cx="1176763" cy="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EC721EA-625D-C18E-46C2-125BDABCBAF3}"/>
              </a:ext>
            </a:extLst>
          </p:cNvPr>
          <p:cNvCxnSpPr>
            <a:stCxn id="11" idx="3"/>
            <a:endCxn id="15" idx="1"/>
          </p:cNvCxnSpPr>
          <p:nvPr/>
        </p:nvCxnSpPr>
        <p:spPr>
          <a:xfrm flipV="1">
            <a:off x="4919238" y="4029703"/>
            <a:ext cx="1176762" cy="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E54E197-73B2-C79E-2FDE-AF301920A529}"/>
              </a:ext>
            </a:extLst>
          </p:cNvPr>
          <p:cNvCxnSpPr>
            <a:stCxn id="10" idx="3"/>
            <a:endCxn id="16" idx="1"/>
          </p:cNvCxnSpPr>
          <p:nvPr/>
        </p:nvCxnSpPr>
        <p:spPr>
          <a:xfrm>
            <a:off x="4919240" y="5777265"/>
            <a:ext cx="117676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32ECAE3A-30CC-95B5-0E2D-6234EA30A6A7}"/>
              </a:ext>
            </a:extLst>
          </p:cNvPr>
          <p:cNvSpPr txBox="1">
            <a:spLocks/>
          </p:cNvSpPr>
          <p:nvPr/>
        </p:nvSpPr>
        <p:spPr>
          <a:xfrm>
            <a:off x="998658" y="1344110"/>
            <a:ext cx="3639547" cy="44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Strategies used by NEST360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DF9CCA6-D68C-BB89-3742-567149B235B2}"/>
              </a:ext>
            </a:extLst>
          </p:cNvPr>
          <p:cNvSpPr txBox="1">
            <a:spLocks/>
          </p:cNvSpPr>
          <p:nvPr/>
        </p:nvSpPr>
        <p:spPr>
          <a:xfrm>
            <a:off x="8000219" y="972613"/>
            <a:ext cx="2006874" cy="4406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Mechanism</a:t>
            </a:r>
          </a:p>
        </p:txBody>
      </p:sp>
    </p:spTree>
    <p:extLst>
      <p:ext uri="{BB962C8B-B14F-4D97-AF65-F5344CB8AC3E}">
        <p14:creationId xmlns:p14="http://schemas.microsoft.com/office/powerpoint/2010/main" val="3867823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8E892-E08B-01F9-F84D-CD4A08995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59C6F-2857-0125-8BA5-21722C1ED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-26146"/>
            <a:ext cx="10515600" cy="1022596"/>
          </a:xfrm>
        </p:spPr>
        <p:txBody>
          <a:bodyPr/>
          <a:lstStyle/>
          <a:p>
            <a:r>
              <a:rPr lang="en-US" dirty="0"/>
              <a:t>Detailed Strategies &amp; Mechanisms: Continued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3BA2443-81CF-C40D-24FD-10B5DD1FD96A}"/>
              </a:ext>
            </a:extLst>
          </p:cNvPr>
          <p:cNvSpPr/>
          <p:nvPr/>
        </p:nvSpPr>
        <p:spPr>
          <a:xfrm>
            <a:off x="717629" y="5479977"/>
            <a:ext cx="4201606" cy="7631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6. Interprofessional collaboration &amp; teamwork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6CBCF85-D3AA-F774-81ED-855117C4F4AC}"/>
              </a:ext>
            </a:extLst>
          </p:cNvPr>
          <p:cNvSpPr/>
          <p:nvPr/>
        </p:nvSpPr>
        <p:spPr>
          <a:xfrm>
            <a:off x="717629" y="3688331"/>
            <a:ext cx="4201607" cy="7631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5. Training &amp; mentorship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8A55D7B-3E95-0BEA-F8E8-A9797FCC6578}"/>
              </a:ext>
            </a:extLst>
          </p:cNvPr>
          <p:cNvSpPr/>
          <p:nvPr/>
        </p:nvSpPr>
        <p:spPr>
          <a:xfrm>
            <a:off x="599475" y="1921142"/>
            <a:ext cx="4201608" cy="7631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4. Design &amp; distribute clinical and biomedical educational materials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AD90C30-6CC2-F9A6-F60B-C6220509E6EC}"/>
              </a:ext>
            </a:extLst>
          </p:cNvPr>
          <p:cNvSpPr/>
          <p:nvPr/>
        </p:nvSpPr>
        <p:spPr>
          <a:xfrm>
            <a:off x="6095998" y="1490203"/>
            <a:ext cx="5859439" cy="1625024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4.Providing standardized, accessible educational resources ensures consistent messaging, improves provider knowledge, which can increase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adoption and fidelity to EBIs,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and supports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long-term adherence to clinical guidelines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04F449A-2869-D125-1036-4E54FC6A2AE6}"/>
              </a:ext>
            </a:extLst>
          </p:cNvPr>
          <p:cNvSpPr/>
          <p:nvPr/>
        </p:nvSpPr>
        <p:spPr>
          <a:xfrm>
            <a:off x="6095998" y="3257390"/>
            <a:ext cx="5859439" cy="1625025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5.Training and ongoing mentorship builds provider competence, confidence, and accountability,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improving fidelity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to protocols, retention of knowledge, and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increased adoption of EBIs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sustainability of SSNC practices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77F8258-FE75-00A9-0D36-A590074E0AAF}"/>
              </a:ext>
            </a:extLst>
          </p:cNvPr>
          <p:cNvSpPr/>
          <p:nvPr/>
        </p:nvSpPr>
        <p:spPr>
          <a:xfrm>
            <a:off x="6095998" y="5024578"/>
            <a:ext cx="5859439" cy="1673945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6.Strengthening collaboration across cadres enhances communication, shared ownership, and problem solving, promoting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fidelity to standards of care, increasing adoption of EBIs across cadres,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improving continuity of SSNC delivery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44974A4-FB49-EAC1-60FA-3472FC1E4B09}"/>
              </a:ext>
            </a:extLst>
          </p:cNvPr>
          <p:cNvCxnSpPr>
            <a:stCxn id="9" idx="3"/>
            <a:endCxn id="14" idx="1"/>
          </p:cNvCxnSpPr>
          <p:nvPr/>
        </p:nvCxnSpPr>
        <p:spPr>
          <a:xfrm>
            <a:off x="4801083" y="2302715"/>
            <a:ext cx="1294915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28A8151-1FDD-E101-F13D-7A2BB3D4AD3C}"/>
              </a:ext>
            </a:extLst>
          </p:cNvPr>
          <p:cNvCxnSpPr>
            <a:stCxn id="8" idx="3"/>
            <a:endCxn id="15" idx="1"/>
          </p:cNvCxnSpPr>
          <p:nvPr/>
        </p:nvCxnSpPr>
        <p:spPr>
          <a:xfrm flipV="1">
            <a:off x="4919236" y="4069903"/>
            <a:ext cx="1176762" cy="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2C32DD9-AEA6-823E-0387-491E89708B14}"/>
              </a:ext>
            </a:extLst>
          </p:cNvPr>
          <p:cNvCxnSpPr>
            <a:stCxn id="7" idx="3"/>
            <a:endCxn id="16" idx="1"/>
          </p:cNvCxnSpPr>
          <p:nvPr/>
        </p:nvCxnSpPr>
        <p:spPr>
          <a:xfrm>
            <a:off x="4919235" y="5861550"/>
            <a:ext cx="1176763" cy="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9839D60A-EABD-8108-645E-226DB534EE08}"/>
              </a:ext>
            </a:extLst>
          </p:cNvPr>
          <p:cNvSpPr txBox="1">
            <a:spLocks/>
          </p:cNvSpPr>
          <p:nvPr/>
        </p:nvSpPr>
        <p:spPr>
          <a:xfrm>
            <a:off x="8022280" y="1047200"/>
            <a:ext cx="2006874" cy="4406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Mechanism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C64ABCA-74FA-FCE1-2AB7-58DB01956BAD}"/>
              </a:ext>
            </a:extLst>
          </p:cNvPr>
          <p:cNvSpPr txBox="1">
            <a:spLocks/>
          </p:cNvSpPr>
          <p:nvPr/>
        </p:nvSpPr>
        <p:spPr>
          <a:xfrm>
            <a:off x="998658" y="1344110"/>
            <a:ext cx="3639547" cy="44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Strategies used by NEST360</a:t>
            </a:r>
          </a:p>
        </p:txBody>
      </p:sp>
    </p:spTree>
    <p:extLst>
      <p:ext uri="{BB962C8B-B14F-4D97-AF65-F5344CB8AC3E}">
        <p14:creationId xmlns:p14="http://schemas.microsoft.com/office/powerpoint/2010/main" val="1827299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1EF642A-A981-ABE7-7E7B-BA16F2593397}"/>
              </a:ext>
            </a:extLst>
          </p:cNvPr>
          <p:cNvSpPr/>
          <p:nvPr/>
        </p:nvSpPr>
        <p:spPr>
          <a:xfrm>
            <a:off x="483730" y="5471748"/>
            <a:ext cx="4201606" cy="7631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9. Identify &amp; qualify appropriate technology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745B906-EF9C-C766-E0A0-AFE00F72F8CA}"/>
              </a:ext>
            </a:extLst>
          </p:cNvPr>
          <p:cNvSpPr/>
          <p:nvPr/>
        </p:nvSpPr>
        <p:spPr>
          <a:xfrm>
            <a:off x="483730" y="3546166"/>
            <a:ext cx="4201606" cy="7631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8. Ensuring the availability of appropriate functional SSNC medical devices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5D1ACCA-DB23-9284-D678-35825C412268}"/>
              </a:ext>
            </a:extLst>
          </p:cNvPr>
          <p:cNvSpPr/>
          <p:nvPr/>
        </p:nvSpPr>
        <p:spPr>
          <a:xfrm>
            <a:off x="483730" y="1620584"/>
            <a:ext cx="4201606" cy="7631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7. Motivate staff and empower collaboration 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FF99268-5590-1231-4920-186A627EC03D}"/>
              </a:ext>
            </a:extLst>
          </p:cNvPr>
          <p:cNvSpPr/>
          <p:nvPr/>
        </p:nvSpPr>
        <p:spPr>
          <a:xfrm>
            <a:off x="5494361" y="1355044"/>
            <a:ext cx="6338248" cy="1325563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7.Recognition, supportive supervision, and empowerment of staff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increases acceptability, motivation, and engagement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leading to greater accountability, reduced burnout, and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higher quality care delivery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4C0EE37-D025-A876-505D-079FD86E15B2}"/>
              </a:ext>
            </a:extLst>
          </p:cNvPr>
          <p:cNvSpPr/>
          <p:nvPr/>
        </p:nvSpPr>
        <p:spPr>
          <a:xfrm>
            <a:off x="5494361" y="3115227"/>
            <a:ext cx="6338248" cy="1625024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8.Ensuring appropriate, functional technology is available at the right level of care enables providers to delivery life-saving interventions safely and effectively, promoting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feasibility and adoption of EBIs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reducing gaps in SSNC delivery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9D2C093-747B-F544-35B6-392704515160}"/>
              </a:ext>
            </a:extLst>
          </p:cNvPr>
          <p:cNvSpPr/>
          <p:nvPr/>
        </p:nvSpPr>
        <p:spPr>
          <a:xfrm>
            <a:off x="5494361" y="5040809"/>
            <a:ext cx="6338248" cy="1625024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9.Identifying, testing, and sharing results of devices that can function in rugged settings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increases the feasibility of their use to provide SSNC preventing device graveyards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increasing the adoption of SSNC EBIs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because devices remain functional and available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FE439BC-8E72-C326-E554-F32629213DD3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4685336" y="2002157"/>
            <a:ext cx="809025" cy="15669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527F15F-7EB1-5E8C-844F-5772BD2FA974}"/>
              </a:ext>
            </a:extLst>
          </p:cNvPr>
          <p:cNvCxnSpPr>
            <a:stCxn id="9" idx="3"/>
            <a:endCxn id="16" idx="1"/>
          </p:cNvCxnSpPr>
          <p:nvPr/>
        </p:nvCxnSpPr>
        <p:spPr>
          <a:xfrm>
            <a:off x="4685336" y="3927739"/>
            <a:ext cx="809025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C1F1BB8-1613-43FA-58EE-AF68408FA72D}"/>
              </a:ext>
            </a:extLst>
          </p:cNvPr>
          <p:cNvCxnSpPr>
            <a:stCxn id="8" idx="3"/>
            <a:endCxn id="17" idx="1"/>
          </p:cNvCxnSpPr>
          <p:nvPr/>
        </p:nvCxnSpPr>
        <p:spPr>
          <a:xfrm>
            <a:off x="4685336" y="5853321"/>
            <a:ext cx="809025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8F653AA3-BD3E-3446-AAF8-A5DDFFDEB7D3}"/>
              </a:ext>
            </a:extLst>
          </p:cNvPr>
          <p:cNvSpPr txBox="1">
            <a:spLocks/>
          </p:cNvSpPr>
          <p:nvPr/>
        </p:nvSpPr>
        <p:spPr>
          <a:xfrm>
            <a:off x="7660048" y="917431"/>
            <a:ext cx="2006874" cy="4406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Mechanism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1DF60A6-2121-D50E-7EC2-6E59FC978012}"/>
              </a:ext>
            </a:extLst>
          </p:cNvPr>
          <p:cNvSpPr txBox="1">
            <a:spLocks/>
          </p:cNvSpPr>
          <p:nvPr/>
        </p:nvSpPr>
        <p:spPr>
          <a:xfrm>
            <a:off x="771970" y="1117235"/>
            <a:ext cx="3639547" cy="44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Strategies used by NEST360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681D6C6-7F68-3633-73DF-C247CE1951D9}"/>
              </a:ext>
            </a:extLst>
          </p:cNvPr>
          <p:cNvSpPr txBox="1">
            <a:spLocks/>
          </p:cNvSpPr>
          <p:nvPr/>
        </p:nvSpPr>
        <p:spPr>
          <a:xfrm>
            <a:off x="838198" y="-26146"/>
            <a:ext cx="10515600" cy="1022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014168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Detailed Strategies &amp; Mechanisms: Continued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014168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4395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B4C73-D79F-F759-5D85-D7A7F652D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6C6A18C-53F0-8B79-E6C5-EFD7D6F6F3B7}"/>
              </a:ext>
            </a:extLst>
          </p:cNvPr>
          <p:cNvSpPr/>
          <p:nvPr/>
        </p:nvSpPr>
        <p:spPr>
          <a:xfrm>
            <a:off x="483730" y="5850323"/>
            <a:ext cx="4201606" cy="7631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13. Tailoring local infrastructure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78BB58D-B78F-0AF9-0251-9946CC99D441}"/>
              </a:ext>
            </a:extLst>
          </p:cNvPr>
          <p:cNvSpPr/>
          <p:nvPr/>
        </p:nvSpPr>
        <p:spPr>
          <a:xfrm>
            <a:off x="483730" y="4505275"/>
            <a:ext cx="4201606" cy="7631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12. Ensure adequate funding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01FD253-AD4F-FAC6-92F7-783E896DA751}"/>
              </a:ext>
            </a:extLst>
          </p:cNvPr>
          <p:cNvSpPr/>
          <p:nvPr/>
        </p:nvSpPr>
        <p:spPr>
          <a:xfrm>
            <a:off x="483730" y="3065731"/>
            <a:ext cx="4201606" cy="7631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11. Engage family members in a care process and follow up actions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BBF1D2B-BA01-BAC6-BEC3-5DF6035E5FAE}"/>
              </a:ext>
            </a:extLst>
          </p:cNvPr>
          <p:cNvSpPr/>
          <p:nvPr/>
        </p:nvSpPr>
        <p:spPr>
          <a:xfrm>
            <a:off x="483730" y="1566263"/>
            <a:ext cx="4201606" cy="7631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10. Hatch Technologies (Africa-based technology distribution)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71BD265-F635-80B1-8563-0F3863EEDA2D}"/>
              </a:ext>
            </a:extLst>
          </p:cNvPr>
          <p:cNvSpPr/>
          <p:nvPr/>
        </p:nvSpPr>
        <p:spPr>
          <a:xfrm>
            <a:off x="5063320" y="1257610"/>
            <a:ext cx="6960358" cy="138045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10.Reliable, context-appropriate technology distribution channels improve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equitable access to devices, reduce downtime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from broken or missing equipment, and promotes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sustainability of SSNC infrastructure in low-resource settings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9E311E0-8F77-FF30-C7C4-ED3D4F03264C}"/>
              </a:ext>
            </a:extLst>
          </p:cNvPr>
          <p:cNvSpPr/>
          <p:nvPr/>
        </p:nvSpPr>
        <p:spPr>
          <a:xfrm>
            <a:off x="5063320" y="2856585"/>
            <a:ext cx="6960358" cy="1207827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11.Actively involving families in care builds trust,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increases caregiver competence and adherence to recommended practices,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promotes continuity of care after discharge,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improving neonatal survival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B4939DC-EC1A-E26F-B291-AE3F2AF73435}"/>
              </a:ext>
            </a:extLst>
          </p:cNvPr>
          <p:cNvSpPr/>
          <p:nvPr/>
        </p:nvSpPr>
        <p:spPr>
          <a:xfrm>
            <a:off x="5063320" y="4282935"/>
            <a:ext cx="6960357" cy="1207827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12.Securing and sustaining funding streams enables consistent procurement of supplies,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maintenance of infrastructure,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retention of staff capacity,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ensuring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sustainability of SSNC services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7F7834F-3C47-A00C-701A-45105CF5BA75}"/>
              </a:ext>
            </a:extLst>
          </p:cNvPr>
          <p:cNvSpPr/>
          <p:nvPr/>
        </p:nvSpPr>
        <p:spPr>
          <a:xfrm>
            <a:off x="5063320" y="5699604"/>
            <a:ext cx="6960357" cy="1064584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13.Tailoring local infrastructure creates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safer, more efficient care environments, improving feasibility, quality,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sustainability of SSNC services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1522788-4D38-938D-A409-86ACB82D4719}"/>
              </a:ext>
            </a:extLst>
          </p:cNvPr>
          <p:cNvCxnSpPr>
            <a:stCxn id="4" idx="3"/>
            <a:endCxn id="15" idx="1"/>
          </p:cNvCxnSpPr>
          <p:nvPr/>
        </p:nvCxnSpPr>
        <p:spPr>
          <a:xfrm>
            <a:off x="4685336" y="6231896"/>
            <a:ext cx="377984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BAFB4CC-53F5-DA69-3C1E-1C2D595161E4}"/>
              </a:ext>
            </a:extLst>
          </p:cNvPr>
          <p:cNvCxnSpPr>
            <a:stCxn id="5" idx="3"/>
            <a:endCxn id="14" idx="1"/>
          </p:cNvCxnSpPr>
          <p:nvPr/>
        </p:nvCxnSpPr>
        <p:spPr>
          <a:xfrm>
            <a:off x="4685336" y="4886848"/>
            <a:ext cx="377984" cy="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26CEA90-2E27-BDD8-D297-19DA0A9C43A2}"/>
              </a:ext>
            </a:extLst>
          </p:cNvPr>
          <p:cNvCxnSpPr>
            <a:stCxn id="6" idx="3"/>
            <a:endCxn id="13" idx="1"/>
          </p:cNvCxnSpPr>
          <p:nvPr/>
        </p:nvCxnSpPr>
        <p:spPr>
          <a:xfrm>
            <a:off x="4685336" y="3447304"/>
            <a:ext cx="377984" cy="1319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04011BB-80F4-193A-26F6-9DB0EFA237D7}"/>
              </a:ext>
            </a:extLst>
          </p:cNvPr>
          <p:cNvCxnSpPr>
            <a:stCxn id="7" idx="3"/>
            <a:endCxn id="3" idx="1"/>
          </p:cNvCxnSpPr>
          <p:nvPr/>
        </p:nvCxnSpPr>
        <p:spPr>
          <a:xfrm>
            <a:off x="4685336" y="1947836"/>
            <a:ext cx="377984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itle 2">
            <a:extLst>
              <a:ext uri="{FF2B5EF4-FFF2-40B4-BE49-F238E27FC236}">
                <a16:creationId xmlns:a16="http://schemas.microsoft.com/office/drawing/2014/main" id="{CBA14B8B-87D4-9B32-2686-8D82EEDE9F34}"/>
              </a:ext>
            </a:extLst>
          </p:cNvPr>
          <p:cNvSpPr txBox="1">
            <a:spLocks/>
          </p:cNvSpPr>
          <p:nvPr/>
        </p:nvSpPr>
        <p:spPr>
          <a:xfrm>
            <a:off x="7540061" y="875709"/>
            <a:ext cx="2006874" cy="4406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Mechanism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1347574-6391-3E75-C86A-8BE88CCD0720}"/>
              </a:ext>
            </a:extLst>
          </p:cNvPr>
          <p:cNvSpPr txBox="1">
            <a:spLocks/>
          </p:cNvSpPr>
          <p:nvPr/>
        </p:nvSpPr>
        <p:spPr>
          <a:xfrm>
            <a:off x="764759" y="1125401"/>
            <a:ext cx="3639547" cy="44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Strategies used by NEST360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B47B1C6-FA8E-8DDD-E36D-EABB60066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-26146"/>
            <a:ext cx="10515600" cy="1022596"/>
          </a:xfrm>
        </p:spPr>
        <p:txBody>
          <a:bodyPr/>
          <a:lstStyle/>
          <a:p>
            <a:r>
              <a:rPr lang="en-US" dirty="0"/>
              <a:t>Detailed Strategies &amp; Mechanisms: Continued</a:t>
            </a:r>
          </a:p>
        </p:txBody>
      </p:sp>
    </p:spTree>
    <p:extLst>
      <p:ext uri="{BB962C8B-B14F-4D97-AF65-F5344CB8AC3E}">
        <p14:creationId xmlns:p14="http://schemas.microsoft.com/office/powerpoint/2010/main" val="2286325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61FB8-443D-5B49-DCE2-90E357471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Tailoring local infrastructure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1EADF-9D0A-8FE7-0022-FD76CDC9B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Developing floor plans</a:t>
            </a:r>
          </a:p>
          <a:p>
            <a:r>
              <a:rPr lang="en-US" dirty="0"/>
              <a:t>Provided small start-up grants to redesign flow or floor space or small updates </a:t>
            </a:r>
          </a:p>
          <a:p>
            <a:r>
              <a:rPr lang="en-US" dirty="0"/>
              <a:t>Infrastructure fund (ex. Enabling back up power supply, and running water)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894920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NEST360 branded theme">
      <a:dk1>
        <a:srgbClr val="FFFFFF"/>
      </a:dk1>
      <a:lt1>
        <a:srgbClr val="000000"/>
      </a:lt1>
      <a:dk2>
        <a:srgbClr val="BACFE1"/>
      </a:dk2>
      <a:lt2>
        <a:srgbClr val="004167"/>
      </a:lt2>
      <a:accent1>
        <a:srgbClr val="014168"/>
      </a:accent1>
      <a:accent2>
        <a:srgbClr val="6CCAD0"/>
      </a:accent2>
      <a:accent3>
        <a:srgbClr val="82CDBF"/>
      </a:accent3>
      <a:accent4>
        <a:srgbClr val="BFA1CC"/>
      </a:accent4>
      <a:accent5>
        <a:srgbClr val="FDDB00"/>
      </a:accent5>
      <a:accent6>
        <a:srgbClr val="F58966"/>
      </a:accent6>
      <a:hlink>
        <a:srgbClr val="BACFE1"/>
      </a:hlink>
      <a:folHlink>
        <a:srgbClr val="BACFE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err="1" smtClean="0">
            <a:solidFill>
              <a:srgbClr val="333333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f7d57a9-4988-4be2-b64f-97e297adcfee}" enabled="0" method="" siteId="{8f7d57a9-4988-4be2-b64f-97e297adcfe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1593</Words>
  <Application>Microsoft Office PowerPoint</Application>
  <PresentationFormat>Widescreen</PresentationFormat>
  <Paragraphs>161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Courier New</vt:lpstr>
      <vt:lpstr>Encode Sans Semi Condensed</vt:lpstr>
      <vt:lpstr>Wingdings</vt:lpstr>
      <vt:lpstr>2_Office Theme</vt:lpstr>
      <vt:lpstr>Question to answer: </vt:lpstr>
      <vt:lpstr>Engage policy makers &amp; leadership</vt:lpstr>
      <vt:lpstr>QI activities </vt:lpstr>
      <vt:lpstr>Developing data systems to capture &amp; feedback data and support routine SSNC data collection</vt:lpstr>
      <vt:lpstr>Design &amp; distribute clinical and biomedical educational resources </vt:lpstr>
      <vt:lpstr>Training and mentorship</vt:lpstr>
      <vt:lpstr>Interprofessional collaboration &amp; teamwork </vt:lpstr>
      <vt:lpstr>Motivate and empower staff </vt:lpstr>
      <vt:lpstr>Ensure the availability of appropriate functional SSNC medical devices </vt:lpstr>
      <vt:lpstr>Identify &amp; qualify appropriate technology </vt:lpstr>
      <vt:lpstr>Hatch Technologies </vt:lpstr>
      <vt:lpstr>Engage family members in care process and follow up actions</vt:lpstr>
      <vt:lpstr>Ensure adequate funding</vt:lpstr>
      <vt:lpstr>Question to answer: </vt:lpstr>
      <vt:lpstr>Mapping mechanisms to strategy groups </vt:lpstr>
      <vt:lpstr>Detailed Strategies &amp; Mechanisms: Continued</vt:lpstr>
      <vt:lpstr>PowerPoint Presentation</vt:lpstr>
      <vt:lpstr>Detailed Strategies &amp; Mechanisms: Continued</vt:lpstr>
      <vt:lpstr>Tailoring local infrastructure  </vt:lpstr>
    </vt:vector>
  </TitlesOfParts>
  <Company>Nationwide Children's Hospital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Dougherty, Kylie</dc:creator>
  <cp:lastModifiedBy>Dougherty, Kylie</cp:lastModifiedBy>
  <cp:revision>2</cp:revision>
  <dcterms:created xsi:type="dcterms:W3CDTF">2026-07-23T18:09:21Z</dcterms:created>
  <dcterms:modified xsi:type="dcterms:W3CDTF">2026-07-24T18:33:59Z</dcterms:modified>
</cp:coreProperties>
</file>